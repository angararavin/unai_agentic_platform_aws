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Partner development</c:v>
                </c:pt>
              </c:strCache>
            </c:strRef>
          </c:tx>
          <c:spPr>
            <a:solidFill>
              <a:srgbClr val="18C5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12</c:v>
                </c:pt>
                <c:pt idx="2">
                  <c:v>35</c:v>
                </c:pt>
                <c:pt idx="3">
                  <c:v>90</c:v>
                </c:pt>
                <c:pt idx="4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&amp; AI vertical</c:v>
                </c:pt>
              </c:strCache>
            </c:strRef>
          </c:tx>
          <c:spPr>
            <a:solidFill>
              <a:srgbClr val="4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16</c:v>
                </c:pt>
                <c:pt idx="2">
                  <c:v>50</c:v>
                </c:pt>
                <c:pt idx="3">
                  <c:v>120</c:v>
                </c:pt>
                <c:pt idx="4">
                  <c:v>220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Greenfield</c:v>
                </c:pt>
              </c:strCache>
            </c:strRef>
          </c:tx>
          <c:spPr>
            <a:solidFill>
              <a:srgbClr val="22D3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14</c:v>
                </c:pt>
                <c:pt idx="2">
                  <c:v>45</c:v>
                </c:pt>
                <c:pt idx="3">
                  <c:v>110</c:v>
                </c:pt>
                <c:pt idx="4">
                  <c:v>200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Brownfield</c:v>
                </c:pt>
              </c:strCache>
            </c:strRef>
          </c:tx>
          <c:spPr>
            <a:solidFill>
              <a:srgbClr val="9B7B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</c:v>
                </c:pt>
                <c:pt idx="1">
                  <c:v>10</c:v>
                </c:pt>
                <c:pt idx="2">
                  <c:v>30</c:v>
                </c:pt>
                <c:pt idx="3">
                  <c:v>80</c:v>
                </c:pt>
                <c:pt idx="4">
                  <c:v>150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Internal portfolio</c:v>
                </c:pt>
              </c:strCache>
            </c:strRef>
          </c:tx>
          <c:spPr>
            <a:solidFill>
              <a:srgbClr val="E9C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</c:v>
                </c:pt>
                <c:pt idx="1">
                  <c:v>9</c:v>
                </c:pt>
                <c:pt idx="2">
                  <c:v>28</c:v>
                </c:pt>
                <c:pt idx="3">
                  <c:v>65</c:v>
                </c:pt>
                <c:pt idx="4">
                  <c:v>120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Patents / IP</c:v>
                </c:pt>
              </c:strCache>
            </c:strRef>
          </c:tx>
          <c:spPr>
            <a:solidFill>
              <a:srgbClr val="F2A36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10</c:v>
                </c:pt>
                <c:pt idx="3">
                  <c:v>22</c:v>
                </c:pt>
                <c:pt idx="4">
                  <c:v>40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New products</c:v>
                </c:pt>
              </c:strCache>
            </c:strRef>
          </c:tx>
          <c:spPr>
            <a:solidFill>
              <a:srgbClr val="E27C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1</c:v>
                </c:pt>
                <c:pt idx="1">
                  <c:v>6</c:v>
                </c:pt>
                <c:pt idx="2">
                  <c:v>20</c:v>
                </c:pt>
                <c:pt idx="3">
                  <c:v>48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2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"/>
          <c:min val="0"/>
        </c:scaling>
        <c:delete val="0"/>
        <c:axPos val="l"/>
        <c:majorGridlines>
          <c:spPr>
            <a:ln w="12700" cap="flat">
              <a:solidFill>
                <a:srgbClr val="2C437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FB2D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9FB2D0"/>
                    </a:solidFill>
                    <a:latin typeface="Arial"/>
                  </a:rPr>
                  <a:t>Annual revenue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2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FB2D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2030 base ($M)</c:v>
                </c:pt>
              </c:strCache>
            </c:strRef>
          </c:tx>
          <c:spPr>
            <a:solidFill>
              <a:srgbClr val="18C5B4"/>
            </a:solidFill>
            <a:effectLst/>
          </c:spPr>
          <c:invertIfNegative val="0"/>
          <c:dLbls>
            <c:numFmt formatCode="&quot;$&quot;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Partner development</c:v>
                  </c:pt>
                  <c:pt idx="1">
                    <c:v>Data &amp; AI vertical</c:v>
                  </c:pt>
                  <c:pt idx="2">
                    <c:v>Greenfield</c:v>
                  </c:pt>
                  <c:pt idx="3">
                    <c:v>Brownfield</c:v>
                  </c:pt>
                  <c:pt idx="4">
                    <c:v>Internal portfolio</c:v>
                  </c:pt>
                  <c:pt idx="5">
                    <c:v>Patents / IP</c:v>
                  </c:pt>
                  <c:pt idx="6">
                    <c:v>New products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180</c:v>
                </c:pt>
                <c:pt idx="1">
                  <c:v>220</c:v>
                </c:pt>
                <c:pt idx="2">
                  <c:v>200</c:v>
                </c:pt>
                <c:pt idx="3">
                  <c:v>150</c:v>
                </c:pt>
                <c:pt idx="4">
                  <c:v>120</c:v>
                </c:pt>
                <c:pt idx="5">
                  <c:v>40</c:v>
                </c:pt>
                <c:pt idx="6">
                  <c:v>90</c:v>
                </c:pt>
              </c:numCache>
            </c:numRef>
          </c:val>
        </c:ser>
        <c:dLbls>
          <c:numFmt formatCode="&quot;$&quot;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EAF0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AF0F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2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Agents</c:v>
                </c:pt>
              </c:strCache>
            </c:strRef>
          </c:tx>
          <c:spPr>
            <a:solidFill>
              <a:srgbClr val="E9C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AF0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S4H Functional</c:v>
                  </c:pt>
                  <c:pt idx="1">
                    <c:v>Planning</c:v>
                  </c:pt>
                  <c:pt idx="2">
                    <c:v>Procurement</c:v>
                  </c:pt>
                  <c:pt idx="3">
                    <c:v>Modernization</c:v>
                  </c:pt>
                  <c:pt idx="4">
                    <c:v>ET-Analytics</c:v>
                  </c:pt>
                  <c:pt idx="5">
                    <c:v>SAP PM</c:v>
                  </c:pt>
                  <c:pt idx="6">
                    <c:v>ET-BTP</c:v>
                  </c:pt>
                  <c:pt idx="7">
                    <c:v>S4H Technical</c:v>
                  </c:pt>
                  <c:pt idx="8">
                    <c:v>Kinaxis</c:v>
                  </c:pt>
                  <c:pt idx="9">
                    <c:v>Other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</c:v>
                </c:pt>
                <c:pt idx="1">
                  <c:v>21</c:v>
                </c:pt>
                <c:pt idx="2">
                  <c:v>19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12</c:v>
                </c:pt>
                <c:pt idx="7">
                  <c:v>11</c:v>
                </c:pt>
                <c:pt idx="8">
                  <c:v>8</c:v>
                </c:pt>
                <c:pt idx="9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AF0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AF0F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Destination slide: $1B is the base case annual revenue in 2030, built bottom-up from 7 streams. Stretch ~2x. Cumulative bookings ~$1.84B. Lead with the fact that 175 agents already exist — this is a scale-up of proven assets, not a greenfield bet.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slide: read the 2030 base by stream. Data &amp; AI vertical ($220M) and Partner ($180M) lead; Patents smallest in direct $ but protects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5544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 · UNIVERSAL AGENTIC RUNTIME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to $1B by 2030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66928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architecture, seven revenue engines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431596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77240" y="49560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target by 2030 (base) · stretch ~$2B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4114800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431596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49560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already built across 20 domains — proof we execute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4114800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58200" y="431596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58200" y="49560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revenue streams from a single platform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(a Mahindra Group company)  ·  Confidential — for leadership review  ·  FY26–FY30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UNAI is a platform, not a project — one architecture earns seven 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cognition once; monetize it across the whole value chain — from cloud-partner co-sell to net-new products and patents.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22311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231136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development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2761488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with Databricks, Snowflake, Google &amp; SAP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52544" y="201168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53712" y="22311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53712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9784" y="2231136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vertical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761488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agentic supply-chain architecture — not one agent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6448" y="201168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357616" y="22311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57616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33688" y="2231136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75904" y="2761488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agentic AI implementations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39312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3858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B7BE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85876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8096" y="438912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&amp; enhance existing agents → UNAI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52544" y="3639312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53712" y="3858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53712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29784" y="385876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portfolio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0" y="438912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 Bristlecone's 175 live agents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56448" y="3639312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357616" y="3858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365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357616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33688" y="385876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/ IP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75904" y="438912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the architecture flow — a defensible moat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266944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49808" y="5486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27C9A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49808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25880" y="548640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68096" y="601675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for a net-new product portfolio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$1B annual revenue by 2030 — base case; stretch to ~$2B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69680" y="1554480"/>
            <a:ext cx="2788920" cy="1051560"/>
          </a:xfrm>
          <a:prstGeom prst="roundRect">
            <a:avLst>
              <a:gd name="adj" fmla="val 782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070848" y="168249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070848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annual revenue — base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869680" y="2743200"/>
            <a:ext cx="2788920" cy="1051560"/>
          </a:xfrm>
          <a:prstGeom prst="roundRect">
            <a:avLst>
              <a:gd name="adj" fmla="val 782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070848" y="28712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~$2.0B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070848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— stretch upside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69680" y="3931920"/>
            <a:ext cx="2788920" cy="1051560"/>
          </a:xfrm>
          <a:prstGeom prst="roundRect">
            <a:avLst>
              <a:gd name="adj" fmla="val 782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070848" y="405993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~$1.84B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070848" y="4572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bookings 2026–2030 (base)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69680" y="5120640"/>
            <a:ext cx="2788920" cy="1051560"/>
          </a:xfrm>
          <a:prstGeom prst="roundRect">
            <a:avLst>
              <a:gd name="adj" fmla="val 782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70848" y="52486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C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 → live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70848" y="5760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already-built agents seed the ramp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1554480"/>
          <a:ext cx="8046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14447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by stream ($M) — base case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455664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benchmark-anchored (Gartner agent adoption, ICONIQ/AI-product economics, supply-chain ROI studies, 2026). Directional — validate against Bristlecone actuals before external use.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$1B comes from — 2030 annual revenue by stream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040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749040" cy="4526280"/>
          </a:xfrm>
          <a:prstGeom prst="roundRect">
            <a:avLst>
              <a:gd name="adj" fmla="val 2195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09244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annual — base vs stretch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924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829800" y="21945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652760" y="21945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92440" y="2450592"/>
            <a:ext cx="3291840" cy="0"/>
          </a:xfrm>
          <a:prstGeom prst="line">
            <a:avLst/>
          </a:prstGeom>
          <a:noFill/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092440" y="25237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development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829800" y="25237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652760" y="252374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$360M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92440" y="2980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vertical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829800" y="29809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652760" y="298094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$440M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92440" y="34381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829800" y="34381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652760" y="343814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92440" y="38953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829800" y="38953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652760" y="389534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$300M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92440" y="4352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portfolio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829800" y="43525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652760" y="435254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092440" y="48097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/ IP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829800" y="48097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652760" y="480974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92440" y="5266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829800" y="52669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652760" y="526694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92440" y="57241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29800" y="57241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$1,000M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652760" y="572414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~$2,000M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6455664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≈ 2× base per stream. Figures illustrative; each stream's drivers are on the following slides.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 1 / 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03504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03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603504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development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0" y="566928"/>
            <a:ext cx="2496312" cy="1097280"/>
          </a:xfrm>
          <a:prstGeom prst="roundRect">
            <a:avLst>
              <a:gd name="adj" fmla="val 75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326880" y="6766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8C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$180M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326880" y="12070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base · stretch $360M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2984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Snowflake · Google · SAP — co-sell the runtime on the platforms customers already own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 is model-, warehouse- and cloud-neutral and reads the governed lakehouse in-tenant — the exact profile the hyperscaler and SAP ecosystems want to co-sell.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623560" cy="3246120"/>
          </a:xfrm>
          <a:prstGeom prst="roundRect">
            <a:avLst>
              <a:gd name="adj" fmla="val 2535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6700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channels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5166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Partner-sourced &amp; influenced platform + services deals (co-sell)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Marketplace listings on Databricks / Snowflake / Google + revenue share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Joint solution accelerators (canonical ontology pre-wired per platform)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SAP-compliant lakehouse pattern → SAP ecosystem co-innovation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2514600"/>
            <a:ext cx="5285232" cy="3246120"/>
          </a:xfrm>
          <a:prstGeom prst="roundRect">
            <a:avLst>
              <a:gd name="adj" fmla="val 2535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0" y="2670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gets to $180M (2030)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3063240"/>
            <a:ext cx="4846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~120 partner-sourced deals/yr × ~$1.5M ≈ $120M influenced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Marketplace transactions &amp; rev-share ≈ $40M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Joint accelerators / co-funded pilots ≈ $20M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4 anchor partnerships (DBX·SNOW·GCP·SAP), each a co-sell motion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54406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on the ontologies already configured for Databricks, Snowflake &amp; Google.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unit economics — validate against Bristlecone pipeline and partner programs before commit.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 2 / 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03504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4F8CF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03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603504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AI vertical architecture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0" y="566928"/>
            <a:ext cx="2496312" cy="1097280"/>
          </a:xfrm>
          <a:prstGeom prst="roundRect">
            <a:avLst>
              <a:gd name="adj" fmla="val 75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326880" y="6766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F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$220M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326880" y="12070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base · stretch $440M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2984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agent — a complete agentic supply-chain vertical on top of the customer's data estate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the whole vertical: shared cognitive runtime + canonical ontology + 32 IBP-grounded use-case packs, governed end-to-end — a category above point agents.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623560" cy="3246120"/>
          </a:xfrm>
          <a:prstGeom prst="roundRect">
            <a:avLst>
              <a:gd name="adj" fmla="val 2535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6700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channels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5166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Platform subscription (shared runtime + ontology, tiered)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Vertical solution license — the 32-use-case supply-chain suite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Managed run (usage + governance) on the customer's lakehouse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Expansion: new domains added as configuration, not new projects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2514600"/>
            <a:ext cx="5285232" cy="3246120"/>
          </a:xfrm>
          <a:prstGeom prst="roundRect">
            <a:avLst>
              <a:gd name="adj" fmla="val 2535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0" y="2670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gets to $220M (2030)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3063240"/>
            <a:ext cx="4846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~90 enterprise supply-chain accounts × ~$2.4M ACV ≈ $216M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Land one use case → expand to the full vertical (net-revenue retention)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Data &amp; AI 'full-stack' positioning commands suite pricing, not per-agent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Highest-margin stream — build cognition once, resell many times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54406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'Data &amp; AI story': one vertical architecture for any SC use case.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unit economics — validate against Bristlecone pipeline and partner programs before commit.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 3 / 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03504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03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603504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Greenfield implementation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0" y="566928"/>
            <a:ext cx="2496312" cy="1097280"/>
          </a:xfrm>
          <a:prstGeom prst="roundRect">
            <a:avLst>
              <a:gd name="adj" fmla="val 75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326880" y="6766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326880" y="12070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base · stretch $400M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2984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agentic AI architecture for customers starting their agentic journey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governed on-ramp for enterprises with no agents yet — one runtime and a few high-value agents instead of a per-agent rebuild.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623560" cy="3246120"/>
          </a:xfrm>
          <a:prstGeom prst="roundRect">
            <a:avLst>
              <a:gd name="adj" fmla="val 2535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6700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channels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5166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Implementation services (design → onboard → run)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Platform license attached to every greenfield build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Onboarding fee (canonical ontology mapped in days, not months)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Land-and-expand into the full vertical (feeds Stream 2)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2514600"/>
            <a:ext cx="5285232" cy="3246120"/>
          </a:xfrm>
          <a:prstGeom prst="roundRect">
            <a:avLst>
              <a:gd name="adj" fmla="val 2535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0" y="2670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gets to $200M (2030)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3063240"/>
            <a:ext cx="4846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~50 greenfield programs/yr × ~$4M ≈ $200M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Each program: platform + services + first 3–5 agents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Gartner: 40% of enterprise apps agentic by end-2026 — large TAM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Design-partner motion now → repeatable playbook by 2028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unit economics — validate against Bristlecone pipeline and partner programs before commit.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 4 / 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03504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9B7BE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03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603504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Brownfield — convert &amp; enhance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0" y="566928"/>
            <a:ext cx="2496312" cy="1097280"/>
          </a:xfrm>
          <a:prstGeom prst="roundRect">
            <a:avLst>
              <a:gd name="adj" fmla="val 75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326880" y="6766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B7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326880" y="12070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base · stretch $300M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2984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B7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existing / matured agents to UNAI and enhance what customers already run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already have agent sprawl. Convert those agents onto the shared runtime, cut the AI bill, and enhance them under one governance surface — savings we can measure.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623560" cy="3246120"/>
          </a:xfrm>
          <a:prstGeom prst="roundRect">
            <a:avLst>
              <a:gd name="adj" fmla="val 2535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6700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channels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5166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Conversion services (LangGraph / CrewAI / Assistants → UNAI)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Platform uplift license on the consolidated estate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Share of proven token/cost savings (measured, not asserted)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Enhancement retainers on matured use cases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2514600"/>
            <a:ext cx="5285232" cy="3246120"/>
          </a:xfrm>
          <a:prstGeom prst="roundRect">
            <a:avLst>
              <a:gd name="adj" fmla="val 2535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0" y="2670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gets to $150M (2030)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3063240"/>
            <a:ext cx="4846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~75 conversion engagements/yr × ~$2M ≈ $150M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Consolidation cuts inference spend ~50–60% (measured head-to-head)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Savings-share aligns our revenue with customer value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Every converted agent deepens the switching moat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54406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proven by UNAI's live token benchmark &amp; 'Your App vs UNAI'.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unit economics — validate against Bristlecone pipeline and partner programs before commit.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 5 / 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03504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9C46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03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603504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agentic portfolio — 175 agents, live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0" y="566928"/>
            <a:ext cx="2496312" cy="1097280"/>
          </a:xfrm>
          <a:prstGeom prst="roundRect">
            <a:avLst>
              <a:gd name="adj" fmla="val 75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326880" y="6766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$120M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326880" y="12070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base · stretch $240M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run our own medicine — 175 agents across 20 domains, built for real customers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 the existing internal library into sellable accelerators, and reinvest the delivery-margin uplift (30–40% less effort) into capacity — the strongest proof that UNAI executes at scale.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2514600"/>
          <a:ext cx="5943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2395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agents by domain (Bristlecone QBR, Jul 2026)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75120" y="2514600"/>
            <a:ext cx="4965192" cy="3291840"/>
          </a:xfrm>
          <a:prstGeom prst="roundRect">
            <a:avLst>
              <a:gd name="adj" fmla="val 2500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903720" y="2670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gets to $120M (2030)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49440" y="3063240"/>
            <a:ext cx="4526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Externalize the 175-agent library as priced accelerators across 20 domains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Delivery-margin uplift (services GM ~45→55%) reinvested into more capacity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Real customers already live (DTNA, SDGE, Monster Energy, and more)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Fastest-to-revenue stream — the assets already exist, not a roadmap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55664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counts are real (Bristlecone QBR workbook, Jul 2026). Revenue is illustrative — validate against internal actuals.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 6 / 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03504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2A36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03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603504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Patents &amp; IP moat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0" y="566928"/>
            <a:ext cx="2496312" cy="1097280"/>
          </a:xfrm>
          <a:prstGeom prst="roundRect">
            <a:avLst>
              <a:gd name="adj" fmla="val 75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326880" y="6766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A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326880" y="12070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base · stretch $80M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2984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2A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the architecture flow — the shared cognitive runtime, canonical resolver and consolidation method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itself is novel and defensible: build cognition once, resolve any system's fields to canonical concepts at run time, and run many thin executors. Patents turn that into a licensable, protectable asset.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623560" cy="3246120"/>
          </a:xfrm>
          <a:prstGeom prst="roundRect">
            <a:avLst>
              <a:gd name="adj" fmla="val 2535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6700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channels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5166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IP licensing of the runtime / ontology-resolver patents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Royalty on marketplace &amp; partner-embedded UNAI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Defensive moat — raises switching cost &amp; valuation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Cross-licensing leverage with platform partners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2514600"/>
            <a:ext cx="5285232" cy="3246120"/>
          </a:xfrm>
          <a:prstGeom prst="roundRect">
            <a:avLst>
              <a:gd name="adj" fmla="val 2535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0" y="2670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gets to $40M (2030)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3063240"/>
            <a:ext cx="4846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Patent family on runtime + resolver + consolidation method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Licensing &amp; royalty ≈ $40M/yr by 2030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Primary value is strategic: protects Streams 1–4 &amp; 7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Files now → granted claims underpin the product moat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54406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direct revenue; outsized effect on defensibility &amp; valuation.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unit economics — validate against Bristlecone pipeline and partner programs before commit.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 7 / 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03504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27C9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03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603504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product portfolio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0" y="566928"/>
            <a:ext cx="2496312" cy="1097280"/>
          </a:xfrm>
          <a:prstGeom prst="roundRect">
            <a:avLst>
              <a:gd name="adj" fmla="val 75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326880" y="6766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27C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326880" y="12070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base · stretch $180M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2984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2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 as the catalyst for a net-new Bristlecone product 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spins out productizable SaaS: cognition-as-a-service, agent-FinOps (token/cost governance), and a governed agent marketplace — recurring product revenue beyond services.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623560" cy="3246120"/>
          </a:xfrm>
          <a:prstGeom prst="roundRect">
            <a:avLst>
              <a:gd name="adj" fmla="val 2535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6700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channels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5166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Cognition-as-a-Service (shared runtime API, metered)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Agent-FinOps product (token/cost governance &amp; savings proof)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Governed agent marketplace (packs + revenue share)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Vertical SKUs beyond supply chain (adjacent domains)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2514600"/>
            <a:ext cx="5285232" cy="3246120"/>
          </a:xfrm>
          <a:prstGeom prst="roundRect">
            <a:avLst>
              <a:gd name="adj" fmla="val 2535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0" y="2670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gets to $90M (2030)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3063240"/>
            <a:ext cx="4846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Net-new product ARR ≈ $90M/yr by 2030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Higher multiple than services — recurring, scalable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Seeded by the platform already built for Streams 2–4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Establishes Bristlecone as an AI product company, not services-only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unit economics — validate against Bristlecone pipeline and partner programs before commit.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streams to $1B — annual revenue ramp ($M, base case)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0" y="16002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70448" y="16002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51776" y="16002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3104" y="16002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14432" y="16002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39112"/>
            <a:ext cx="11247120" cy="0"/>
          </a:xfrm>
          <a:prstGeom prst="line">
            <a:avLst/>
          </a:prstGeom>
          <a:noFill/>
          <a:ln w="19050">
            <a:solidFill>
              <a:srgbClr val="18C5B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21122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development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89120" y="21122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70448" y="21122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51776" y="21122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33104" y="21122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314432" y="21122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551176"/>
            <a:ext cx="11247120" cy="457200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25694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vertical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89120" y="25694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70448" y="25694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51776" y="25694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33104" y="25694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314432" y="25694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30266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89120" y="30266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70448" y="30266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51776" y="30266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833104" y="30266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314432" y="30266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3465576"/>
            <a:ext cx="11247120" cy="457200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85800" y="34838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389120" y="34838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870448" y="34838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351776" y="34838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833104" y="34838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314432" y="34838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85800" y="39410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portfolio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389120" y="39410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870448" y="39410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351776" y="39410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833104" y="39410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314432" y="39410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4379976"/>
            <a:ext cx="11247120" cy="457200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85800" y="43982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/ IP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389120" y="43982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870448" y="43982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351776" y="43982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833104" y="43982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0314432" y="43982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85800" y="48554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389120" y="48554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870448" y="48554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351776" y="48554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8833104" y="48554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10314432" y="48554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548640" y="5294376"/>
            <a:ext cx="11247120" cy="457200"/>
          </a:xfrm>
          <a:prstGeom prst="rect">
            <a:avLst/>
          </a:prstGeom>
          <a:solidFill>
            <a:srgbClr val="1B2E57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85800" y="53126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389120" y="53126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5870448" y="53126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351776" y="53126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$218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8833104" y="53126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$535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10314432" y="531266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bookings 2026–2030 ≈ $1.84B (base).  Stretch case ≈ 2× → ~$2.0B annual by 2030.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48640" y="6455664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model. Ramp assumes design-partner proof in FY26–27, repeatable GTM from FY28, partner &amp; product scale FY29–30.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— LEADERSHIP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the platform; sequence the seven engines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4825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0482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7510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1975104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$1B-by-2030 plan across the seven streams (stretch ~$2B).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316382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31638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0906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920" y="30906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 + GTM to stand up the platform, marketplace and product P&amp;L.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2793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2793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206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31920" y="420624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175-agent portfolio &amp; brownfield now → greenfield &amp; vertical FY27–28 → partner &amp; product scale FY29–30.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75504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539496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2A36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394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3218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931920" y="532180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the architecture-flow patents now to lock the moat before scale.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Destination: $1B annual revenue by 2030 — one architecture, seven engines, built on 175 agents already live.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Assumptions, anchors &amp; confidentiality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4297680"/>
          </a:xfrm>
          <a:prstGeom prst="roundRect">
            <a:avLst>
              <a:gd name="adj" fmla="val 1915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7556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74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Figures are annual revenue ($M) unless noted; base case sums to $1.0B in 2030.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Stretch ≈ 2× base per stream (~$2.0B in 2030).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Cumulative 2026–2030 bookings ≈ $1.84B (base).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Blended view of services + platform + product + licensing revenue booked by Bristlecone.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Partner stream counts co-sell influenced + marketplace + accelerator revenue.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Consolidation savings (Streams 2 &amp; 4) anchored on UNAI's measured token head-to-head.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76672" cy="4297680"/>
          </a:xfrm>
          <a:prstGeom prst="roundRect">
            <a:avLst>
              <a:gd name="adj" fmla="val 1915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92240" y="1755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&amp; sources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175 agents / 20 domains — Bristlecone QBR workbook, Jul 2026 (real).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32 IBP-grounded use cases — SAP IBP 2311 module set.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Agent adoption: 40% of enterprise apps by end-2026 — Gartner.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AI-product margins &amp; consolidation economics — ICONIQ 2026.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Supply-chain ROI benchmarks (inventory, logistics) — industry studies.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Measured proof: UNAI token benchmark &amp; 'Your App vs UNAI' (live).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525780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&amp; Confidential — Bristlecone (a Mahindra Group company). Internal strategy planning only. All revenue figures are illustrative and benchmark-anchored; validate against Bristlecone actuals and partner programs before any external or contractual use.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+ Mahindra · Confidential — internal strategy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748272"/>
            <a:ext cx="1828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" b="0">
                <a:solidFill>
                  <a:srgbClr val="0B0E14"/>
                </a:solidFill>
                <a:latin typeface="Calibri"/>
              </a:rPr>
              <a:t>UNAI-ARCH-ANALOGY-V1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57" y="274320"/>
            <a:ext cx="11423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Architecture Analogy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57" y="786384"/>
            <a:ext cx="11423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97B8"/>
                </a:solidFill>
                <a:latin typeface="Calibri"/>
              </a:rPr>
              <a:t>12 agents (each rebuilds every cognitive task) vs 1 UNAI runtime (built once, 12 capability packs)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57" y="1298448"/>
            <a:ext cx="5574782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25" y="1444751"/>
            <a:ext cx="51724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🚚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Traditional: 12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25" y="1773936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Each agent independently sources, preps, seasons, and tastes — full cognitive overhead, every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25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25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Taco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3483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3483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Burger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1740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1740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Pizza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9998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9998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Sushi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25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25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BBQ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3483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3483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Crepe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21740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1740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Waffle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9998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9998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Noodle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25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25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Sandwich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03483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3483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Dumpling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21740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21740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Salad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39998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9998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Smoothie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25" y="5175504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48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12 agents × 4 cognitive tasks each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160" y="1298448"/>
            <a:ext cx="5574782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4328" y="1444751"/>
            <a:ext cx="51724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🍽️  </a:t>
            </a:r>
            <a:r>
              <a:rPr sz="1500" b="1">
                <a:solidFill>
                  <a:srgbClr val="FFFFFF"/>
                </a:solidFill>
                <a:latin typeface="Calibri"/>
              </a:rPr>
              <a:t>UNAI: 1 Shared Runtime + 12 Packs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4328" y="1773936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Runtime runs all cognitive tasks ONCE, then sends ready results to 12 capability packs.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1831" y="21945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 w="12700">
            <a:solidFill>
              <a:srgbClr val="22D3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31831" y="21945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🔍  UNAI · shared runtime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34328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4328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🛒 Source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96019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6019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🔪 Prep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57711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7711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🧂 Season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9402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9402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👅 Taste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34328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4328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Taco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52585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52585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Burger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0843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0843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Pizza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89100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89100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Sushi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34328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4328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BBQ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52585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52585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Crepe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70843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3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Waffle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389100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89100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Noodle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34328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4328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Sandwich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52585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52585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Dumpling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70843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70843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Salad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89100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89100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Smoothie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4328" y="5175504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16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4 shared tasks + 12 pack calls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4057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801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🚚  TRADITIONAL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6B6B"/>
                </a:solidFill>
                <a:latin typeface="Calibri"/>
              </a:rPr>
              <a:t>48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12 agents × 4 cognitive tasks each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83459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1203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🍽️  UNAI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2D3AA"/>
                </a:solidFill>
                <a:latin typeface="Calibri"/>
              </a:rPr>
              <a:t>16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4 shared tasks + 12 pack calls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82860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20604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5C4E8"/>
                </a:solidFill>
                <a:latin typeface="Calibri"/>
              </a:rPr>
              <a:t>📉  REDUCTION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5C4E8"/>
                </a:solidFill>
                <a:latin typeface="Calibri"/>
              </a:rPr>
              <a:t>66.7%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Fewer cognitive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2026-08-08T02:51:35Z</dcterms:created>
  <dcterms:modified xsi:type="dcterms:W3CDTF">2026-08-08T02:51:35Z</dcterms:modified>
</cp:coreProperties>
</file>