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12203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881360" y="-640080"/>
            <a:ext cx="2103120" cy="2103120"/>
          </a:xfrm>
          <a:prstGeom prst="ellipse">
            <a:avLst/>
          </a:prstGeom>
          <a:solidFill>
            <a:srgbClr val="22D3AA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 · UNIVERSAL SUPPLY-CHAIN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message per leader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stakeholder briefing — what UNAI means for the CEO, CFO, Chief AI Officer, Governance &amp; AI Safety, Sales and Technical leaders. One slide each. Specific, not verbose.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2926080" cy="0"/>
          </a:xfrm>
          <a:prstGeom prst="line">
            <a:avLst/>
          </a:prstGeom>
          <a:noFill/>
          <a:ln w="19050">
            <a:solidFill>
              <a:srgbClr val="0E9E8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Research-preview demonstrator available to run live today.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CEO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 on speed, not on agent count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care about: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differentiation, strategic risk, avoiding lock-in.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24128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08760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as moat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new AI capability as configuration, not a multi-month project — weeks become days.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3938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58258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67986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52618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not sprawl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58258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governed substrate instead of dozens of brittle pilots or a vendor's walled garden.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7797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02117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11845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96477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it, run it anywhere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02117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self-hostable, cloud- &amp; model-neutral — no strategic dependence on one cloud or LLM.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F3F7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6112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→ days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6112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time-to-new-capability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3938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EAFBF5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39970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platform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39970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 agents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27797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F3F7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383829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$1B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383829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revenue path (Bristlecone)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3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transformation and a defensible, portable AI capability.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CFO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cost, fast and auditable ROI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care about: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TCO, payback, predictability, and a defensible business case.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24128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08760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scales with value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7 layers once; each use case is a tool pack — ~80% fewer builds than an agent-per-task estate.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3938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58258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67986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52618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payback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58258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pays back in ~4 months, then compounds; ~$3.6M three-year savings on a 10-capability estate.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7797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02117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11845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96477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pricing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02117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Decomposable list price (base + packs + connectors + usage) — every number is justifiable.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F3F7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6112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mo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6112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on migration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3938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EAFBF5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39970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≈$3.6M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39970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 savings (10 use cases)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27797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F3F7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383829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−80%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383829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builds to maintain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3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total cost of ownership with a transparent, auditable ROI.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CHIEF AI OFFICER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AI safely on one substrate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care about: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reuse, scale, governance, portability, avoiding fragmentation.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24128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08760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substrate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shared layers + a canonical ontology — read any system with zero re-mapping.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3938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58258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67986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52618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Accountable autonomy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58258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carries confidence, attribution and a value/confidence gate; one unified observability surface.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7797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02117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11845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96477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 the sprawl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02117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existing LangGraph/CrewAI/MCP agents onto UNAI via the Agent Foundry.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F3F7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6112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→ shared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6112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built once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3938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EAFBF5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39970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39970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re-maps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27797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F3F7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383829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79–92%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383829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autonomous, governed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3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AI across functions without fragmentation or lock-in.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GOVERNANCE &amp; AI 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Accountable autonomy, not a black box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care about: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auditability, data residency, regulatory alignment.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24128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08760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on by default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redaction, prompt-injection screen, action-safety — before any model call or write.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3938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58258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67986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52618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58258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first; low-confidence or high-value actions route to a human; writes are gated.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7797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02117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11845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96477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audit trail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02117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&amp; write logged; OpenTelemetry-native; aligned to NIST AI RMF / EU AI Act.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F3F7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6112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6112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evidence-scored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3938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EAFBF5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39970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in-tenant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39970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 perimeter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27797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F3F7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383829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SAP-safe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383829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lakehouse, certified writes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3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control and compliance across every agent.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that does the work of many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care about: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pitch, fast wins, expansion, and a wedge into accounts.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24128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08760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in 6 weeks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use case, read-only, measured value — low-risk pilot that proves ROI.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3938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58258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67986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52618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via packs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58258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capability is a pack — high net revenue retention grows the account over time.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7797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02117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11845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96477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wedge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02117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"Rationalize your agent sprawl onto UNAI" — Convert brings competitors' agents onto our platform.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F3F7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6112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6-wk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6112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pilot to land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3938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EAFBF5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39970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→ 1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39970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collapsed (the story)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27797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F3F7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383829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tool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383829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calculator to close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3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deals, a differentiated pitch, and built-in expansion.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TECHNICAL /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Portable by construction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care about: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fit, integration effort, portability, operability.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24128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08760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shared layers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· Memory · Reasoning · Evidence · Action · Collaboration · Explainability — built once.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3938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58258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67986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52618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 &amp; data-neutral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58258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 (runs on any cloud), 12-factor config, model gateway, adapter per source.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7797" y="219456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02117" y="2450592"/>
            <a:ext cx="457200" cy="457200"/>
          </a:xfrm>
          <a:prstGeom prst="ellipse">
            <a:avLst/>
          </a:prstGeom>
          <a:solidFill>
            <a:srgbClr val="EAFBF5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11845" y="2560320"/>
            <a:ext cx="237744" cy="23774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96477" y="2432304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Agent-as-config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02117" y="306324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declarative manifest runs on the shared runtime; export/deploy to Docker · K8s · Databricks App · MCP.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F3F7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6112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image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6112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AWS · Azure · GCP · on-prem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3938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EAFBF5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39970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lakehouse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39970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Snowflake · OSS — same ontology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27797" y="4572000"/>
            <a:ext cx="3423818" cy="1051560"/>
          </a:xfrm>
          <a:prstGeom prst="roundRect">
            <a:avLst>
              <a:gd name="adj" fmla="val 7826"/>
            </a:avLst>
          </a:prstGeom>
          <a:solidFill>
            <a:srgbClr val="F3F7FC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383829" y="470001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/ A2A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383829" y="52303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standards-based transport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3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integration effort and no per-cloud rewrite.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64592" cy="164592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SUPPORT · HOW WE BOOST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today, and where the gains come from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9496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support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761488"/>
            <a:ext cx="146304" cy="14630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07008" y="26883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2962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Disruption · Spares Planning (IBP) · RMA Execution — build or convert your own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3511296"/>
            <a:ext cx="146304" cy="14630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07008" y="3438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371246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(S/4·ECC·IBP) · Databricks · Snowflake · ServiceNow · open-source ERPs (ERPNext·Odoo·OFBiz·Dolibarr)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" y="4261104"/>
            <a:ext cx="146304" cy="14630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07008" y="4187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convert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44622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new agents, or ingest LangGraph/CrewAI/AutoGen/MCP/OpenAI agents → super-agents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0120" y="5010912"/>
            <a:ext cx="146304" cy="146304"/>
          </a:xfrm>
          <a:prstGeom prst="ellipse">
            <a:avLst/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07008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anywhere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5212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In-tenant on any cloud; read-only first, gated writes; SAP-compliant by design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2103120"/>
            <a:ext cx="5242255" cy="1143000"/>
          </a:xfrm>
          <a:prstGeom prst="roundRect">
            <a:avLst>
              <a:gd name="adj" fmla="val 7200"/>
            </a:avLst>
          </a:prstGeom>
          <a:solidFill>
            <a:srgbClr val="EAFBF5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83680" y="2249424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66760" y="2249424"/>
            <a:ext cx="3093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 builds · −91% maintenance · ~60% fewer tokens · ~4-mo payback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3383280"/>
            <a:ext cx="5242255" cy="1143000"/>
          </a:xfrm>
          <a:prstGeom prst="roundRect">
            <a:avLst>
              <a:gd name="adj" fmla="val 7200"/>
            </a:avLst>
          </a:prstGeom>
          <a:solidFill>
            <a:srgbClr val="E8F0FE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0" y="3529584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66760" y="3529584"/>
            <a:ext cx="3093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weeks→days time-to-value · higher fill rates &amp; uptime · freed working capital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663440"/>
            <a:ext cx="5242255" cy="1143000"/>
          </a:xfrm>
          <a:prstGeom prst="roundRect">
            <a:avLst>
              <a:gd name="adj" fmla="val 7200"/>
            </a:avLst>
          </a:prstGeom>
          <a:solidFill>
            <a:srgbClr val="FBF2DE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22324F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83680" y="4809744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A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66760" y="4809744"/>
            <a:ext cx="3093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79–92% decisions autonomous · zero schema re-maps · one unified observability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platform, three ways to win: cut cost, unlock revenue, run more efficiently — measured in the app's ROI, Observability and Gen-1-vs-UNAI views.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12203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LEADER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story, six ways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2514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on speed — capability as configuration, not projects.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81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30815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fewer builds, ~4-month payback, transparent pricing.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484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Chief AI Officer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364845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substrate; scale AI without fragmentation or lock-in.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2153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42153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autonomy: guardrails, gates, one audit trail, in-tenant.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782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478231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in 6 weeks; expand via packs; consolidate the agent sprawl.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349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26080" y="5349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by construction — one image, any cloud, any lakehouse.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UNAI — one AI that does the work of many.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748272"/>
            <a:ext cx="18288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" b="0">
                <a:solidFill>
                  <a:srgbClr val="0B0E14"/>
                </a:solidFill>
                <a:latin typeface="Calibri"/>
              </a:rPr>
              <a:t>UNAI-ARCH-ANALOGY-V1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57" y="274320"/>
            <a:ext cx="114238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Architecture Analogy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57" y="786384"/>
            <a:ext cx="114238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97B8"/>
                </a:solidFill>
                <a:latin typeface="Calibri"/>
              </a:rPr>
              <a:t>12 agents (each rebuilds every cognitive task) vs 1 UNAI runtime (built once, 12 capability packs)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57" y="1298448"/>
            <a:ext cx="5574782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25" y="1444751"/>
            <a:ext cx="51724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🚚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Traditional: 12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25" y="1773936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Each agent independently sources, preps, seasons, and tastes — full cognitive overhead, every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25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25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Taco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3483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3483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Burger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1740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1740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Pizza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9998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9998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Sushi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25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25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BBQ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3483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03483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Crepe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21740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1740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Waffle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9998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9998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Noodle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25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25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Sandwich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03483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03483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Dumpling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21740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21740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Salad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39998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9998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Smoothie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25" y="5175504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48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12 agents × 4 cognitive tasks each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160" y="1298448"/>
            <a:ext cx="5574782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4328" y="1444751"/>
            <a:ext cx="51724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🍽️  </a:t>
            </a:r>
            <a:r>
              <a:rPr sz="1500" b="1">
                <a:solidFill>
                  <a:srgbClr val="FFFFFF"/>
                </a:solidFill>
                <a:latin typeface="Calibri"/>
              </a:rPr>
              <a:t>UNAI: 1 Shared Runtime + 12 Packs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4328" y="1773936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Runtime runs all cognitive tasks ONCE, then sends ready results to 12 capability packs.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31831" y="21945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A202C"/>
          </a:solidFill>
          <a:ln w="12700">
            <a:solidFill>
              <a:srgbClr val="22D3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31831" y="21945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🔍  UNAI · shared runtime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34328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4328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🛒 Source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96019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6019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🔪 Prep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57711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7711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🧂 Season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9402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9402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👅 Taste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34328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4328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Taco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52585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52585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Burger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70843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70843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Pizza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89100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89100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Sushi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34328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4328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BBQ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52585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52585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Crepe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70843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843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Waffle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389100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89100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Noodle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34328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34328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Sandwich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52585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52585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Dumpling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70843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70843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Salad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89100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89100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Smoothie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4328" y="5175504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16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4 shared tasks + 12 pack calls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4057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801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🚚  TRADITIONAL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6B6B"/>
                </a:solidFill>
                <a:latin typeface="Calibri"/>
              </a:rPr>
              <a:t>48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12 agents × 4 cognitive tasks each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83459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1203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🍽️  UNAI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2D3AA"/>
                </a:solidFill>
                <a:latin typeface="Calibri"/>
              </a:rPr>
              <a:t>16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4 shared tasks + 12 pack calls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82860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20604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5C4E8"/>
                </a:solidFill>
                <a:latin typeface="Calibri"/>
              </a:rPr>
              <a:t>📉  REDUCTION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5C4E8"/>
                </a:solidFill>
                <a:latin typeface="Calibri"/>
              </a:rPr>
              <a:t>66.7%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Fewer cognitive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UNAI — Stakeholder Briefing</dc:title>
  <dc:subject>PptxGenJS Presentation</dc:subject>
  <dc:creator>Bristlecone</dc:creator>
  <cp:lastModifiedBy>Bristlecone</cp:lastModifiedBy>
  <cp:revision>1</cp:revision>
  <dcterms:created xsi:type="dcterms:W3CDTF">2026-07-01T18:39:43Z</dcterms:created>
  <dcterms:modified xsi:type="dcterms:W3CDTF">2026-07-01T18:39:43Z</dcterms:modified>
</cp:coreProperties>
</file>