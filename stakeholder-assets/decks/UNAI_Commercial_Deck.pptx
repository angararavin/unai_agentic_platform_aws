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2A4A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Y1 H1</c:v>
                  </c:pt>
                  <c:pt idx="1">
                    <c:v>Y1 H2</c:v>
                  </c:pt>
                  <c:pt idx="2">
                    <c:v>Y2 H1</c:v>
                  </c:pt>
                  <c:pt idx="3">
                    <c:v>Y2 H2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Aggressive</c:v>
                </c:pt>
              </c:strCache>
            </c:strRef>
          </c:tx>
          <c:spPr>
            <a:solidFill>
              <a:srgbClr val="0F9D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Y1 H1</c:v>
                  </c:pt>
                  <c:pt idx="1">
                    <c:v>Y1 H2</c:v>
                  </c:pt>
                  <c:pt idx="2">
                    <c:v>Y2 H1</c:v>
                  </c:pt>
                  <c:pt idx="3">
                    <c:v>Y2 H2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</c:v>
                </c:pt>
                <c:pt idx="1">
                  <c:v>6</c:v>
                </c:pt>
                <c:pt idx="2">
                  <c:v>16</c:v>
                </c:pt>
                <c:pt idx="3">
                  <c:v>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Very aggressive</c:v>
                </c:pt>
              </c:strCache>
            </c:strRef>
          </c:tx>
          <c:spPr>
            <a:solidFill>
              <a:srgbClr val="D9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Y1 H1</c:v>
                  </c:pt>
                  <c:pt idx="1">
                    <c:v>Y1 H2</c:v>
                  </c:pt>
                  <c:pt idx="2">
                    <c:v>Y2 H1</c:v>
                  </c:pt>
                  <c:pt idx="3">
                    <c:v>Y2 H2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2.5</c:v>
                </c:pt>
                <c:pt idx="1">
                  <c:v>10</c:v>
                </c:pt>
                <c:pt idx="2">
                  <c:v>28</c:v>
                </c:pt>
                <c:pt idx="3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C9D2DE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UNAI is one shared AI "brain" that many task-runners reuse - not a crowd of separate agents. Frame the deck: what we built, who we sell to, how we charge, and the 2-year plan. Point at the four customer-type chips - we tailor the pitch to whoever is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core idea: the hard thinking is built once and reused. The four ways to add an agent - Build, Convert, Compose, Marketplace - all land on the same runtime. The stat to land: fewer brains means lower AND more predictable cost. "Under the hood" (shared dictionary + caching) is there if someone asks - don't dwell on the jargon.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competitive slide - say the wedge line twice. The market is exploding (Gartner: 40% of apps by end-2026) but the pain is cost: 90% of CIOs cannot forecast it, 78% got surprise bills. UNAI is lower AND predictable because we charge for one shared runtime, not per agent/token/action.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customer types, four motions. New-to-agentic: platform + onboarding. Already-running-agents: consolidation + savings-share. Our own delivery teams: an internal accelerator that lifts project margin. Cloud partners (Databricks/Snowflake/Google): co-sell + marketplace share. Emphasize we already configured the ontology on all three warehouses.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ROI stories so the slide works for any prospect. Greenfield: ~7x return, pays back in under 9 months on a $150M cost base. Already-sprawling: cut the existing AI bill ~60%, and - critically - the saving is MEASURED, which is what lets us price on savings-share. Repeat "measured, not modeled".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revenue streams that combine - not either/or. Walk the tier table left to right; the Aggressive column is our recommended baseline. The anchor message: lead with the predictable platform base (what CIOs want), then layer usage/outcome, services and marketplace as the account grows. Per-unit prices are benchmarked (footer).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scenarios so leadership picks the ambition. Aggressive (recommended): $32M exit ARR, ~30 customers, ~$6M investment, cash-positive by Y2 H1. All three reach positive cash flow by Y2 H1-H2; bigger scenarios need more up-front investment and more enterprise proof points. Ask the room to choose a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asks: Approve the plan, Resource ~$6M + a GTM team, Sequence (design partners now, cloud-partner co-sell in Year 2), Adopt predictable base + savings-share. The glossary panel is there to disarm jargon questions - point to it if a term comes up. End on the vision line. (The delivery slide follows; the LAST slide is INTERNAL ONLY - do not project it to customers.)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we actually deliver the ARR - land on one use case, expand across domains. Onboard in days by reading the governed warehouse copy in their tenant. Start read-only to build trust, then move to savings-share. The compounding point: each new use case reuses the runtime + dictionary, so expansions get cheaper and margin rises - this is the land-and-expand engine behind the 2-year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ONLY - do not show customers. Use to defend margins: platform ~72% because consolidation + the ~90% cache discount beat the 52% AI-product average (ICONIQ). Blended margin climbs to ~66% as the mix shifts toward platform + marketplace. Investment ~$6M for the Aggressive case; cash-flow positive by Y2 H1. Also note the internal-team uplift: reusing the runtime cuts our own delivery effort 30-40% and lifts services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2A4A7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24406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822960"/>
            <a:ext cx="822960" cy="822960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· Universal Agentic Runtime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Overview &amp; 2-Year Plan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AI “brain” that many task-runners reuse — instead of a crowd of separate agents. Lower, more predictable cost for enterprise supply chain.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297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20385C"/>
          </a:solidFill>
          <a:ln w="12700">
            <a:solidFill>
              <a:srgbClr val="0F9D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agentic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4297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20385C"/>
          </a:solidFill>
          <a:ln w="12700">
            <a:solidFill>
              <a:srgbClr val="0F9D8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5468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 agents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4297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20385C"/>
          </a:solidFill>
          <a:ln w="12700">
            <a:solidFill>
              <a:srgbClr val="0F9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0644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delivery teams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58200" y="4297680"/>
            <a:ext cx="2514600" cy="502920"/>
          </a:xfrm>
          <a:prstGeom prst="roundRect">
            <a:avLst>
              <a:gd name="adj" fmla="val 16364"/>
            </a:avLst>
          </a:prstGeom>
          <a:solidFill>
            <a:srgbClr val="20385C"/>
          </a:solidFill>
          <a:ln w="12700">
            <a:solidFill>
              <a:srgbClr val="0F9D8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5820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partners (DBX·SNOW·GCP)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 ·  Confidential  ·  FY27–FY28 plan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IN PLAIN TERMS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AI runtime — four easy ways to put an agent on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868680"/>
          </a:xfrm>
          <a:prstGeom prst="roundRect">
            <a:avLst>
              <a:gd name="adj" fmla="val 9474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41732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thinking — understanding your data and making the plan — is built </a:t>
            </a:r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pPr indent="0" marL="0">
              <a:buNone/>
            </a:pPr>
            <a:r>
              <a:rPr lang="en-US" sz="13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lightweight task-runners reuse it. Fewer “brains” to build and run means lower and more predictable cost.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269748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770632"/>
            <a:ext cx="548640" cy="548640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38862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capabilities you need; UNAI assembles them into one governed agent — no coding a brain from scratch.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2514600"/>
            <a:ext cx="269748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11880" y="2770632"/>
            <a:ext cx="548640" cy="548640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8862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an agent (e.g. LangGraph, CrewAI, an assistant)? Move it onto the shared runtime as a task-runner.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2514600"/>
            <a:ext cx="269748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64808" y="2770632"/>
            <a:ext cx="548640" cy="548640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64808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64808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 a team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38862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several capabilities at once as one team that shares a single brain — not many separate agents.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61704" y="2514600"/>
            <a:ext cx="269748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17736" y="2770632"/>
            <a:ext cx="548640" cy="548640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17736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17736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17736" y="388620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ready-made, certified agents and capability packs in minutes.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 </a:t>
            </a:r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business dictionary (canonical ontology) lets it read any system — SAP, Snowflake, Databricks, Google — in one language; and it re-uses cached context so you don’t re-pay the model for the same input.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 model (Gartner, ICONIQ, Salesforce/Zendesk/Intercom, supply-chain ROI studies, 2026). Figures directional — validate with design-partner data.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are everywhere — but the bill is unpredictable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58952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will use AI agents by end-2026 (up from under 5%). — Gartner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0248" y="1554480"/>
            <a:ext cx="35661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61688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CIOs say they can’t forecast AI cost; 78% got surprise usage bills.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37576" y="1554480"/>
            <a:ext cx="35661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9016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293608" y="26974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on agentic-AI projects — when they actually land.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11185855" cy="1737360"/>
          </a:xfrm>
          <a:prstGeom prst="roundRect">
            <a:avLst>
              <a:gd name="adj" fmla="val 4737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251960"/>
            <a:ext cx="104543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UNAI wins: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bill per-agent, per-token and per-action — the exact unpredictability CIOs fear. UNAI builds the thinking once and charges for one shared runtime, so cost is both </a:t>
            </a:r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and predictable</a:t>
            </a:r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Spend scales with the value delivered, not with the number of agents you happen to spin up.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 model (Gartner, ICONIQ, Salesforce/Zendesk/Intercom, supply-chain ROI studies, 2026). Figures directional — validate with design-partner data.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SELL 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customers — one runtime, four ways to earn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55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90472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to agentic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0472" y="20848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starting their first AI agents.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25054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a fast, safe on-ramp — one runtime + a few agents, no per-agent rebuild.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3017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Pay: annual platform license + fixed onboarding fee.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81328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0" y="1755648"/>
            <a:ext cx="566928" cy="566928"/>
          </a:xfrm>
          <a:prstGeom prst="ellipse">
            <a:avLst/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1755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14032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running agents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4032" y="20848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lots of agents already.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9088" y="250545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consolidate the sprawl and cut the AI bill — and we can measure the cut.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3017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Pay: usage + a share of the savings we prove.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90472" y="4005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Bristlecone delivery teams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0472" y="43525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teams building agentic products for clients.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" y="4773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deliver client projects faster by reusing the runtime, dictionary &amp; packs.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52852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Pay: internal platform → higher project margins.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749040"/>
            <a:ext cx="544068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00800" y="4023360"/>
            <a:ext cx="566928" cy="566928"/>
          </a:xfrm>
          <a:prstGeom prst="ellipse">
            <a:avLst/>
          </a:prstGeom>
          <a:solidFill>
            <a:srgbClr val="0C7C6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14032" y="4005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partners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4032" y="43525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Databricks, Snowflake, Google.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4773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a governed agent layer on their data that drives more use of their platform.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52852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Pay: sell jointly + share of marketplace revenue.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 model (Gartner, ICONIQ, Salesforce/Zendesk/Intercom, supply-chain ROI studies, 2026). Figures directional — validate with design-partner data.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payback — whether they’re starting or already sprawling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8952" y="1691640"/>
            <a:ext cx="530352" cy="530352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fresh — greenfield return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supply-chain cost in scope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AI =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$22.5M / year
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 inventory, lower logistics cost — benchmark)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costs about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$3.2M / yr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~7x return, pays back in &lt;9 months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73952" y="1691640"/>
            <a:ext cx="530352" cy="530352"/>
          </a:xfrm>
          <a:prstGeom prst="ellipse">
            <a:avLst/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73952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70078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sprawling — consolidation saving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many-agent AI bill: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~$1.8M / yr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+ Compose + caching cut it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bill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~$0.7M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~$1.1M saved every year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saving is </a:t>
            </a:r>
            <a:pPr indent="0" marL="0">
              <a:spcAft>
                <a:spcPts val="600"/>
              </a:spcAft>
              <a:buNone/>
            </a:pPr>
            <a:r>
              <a:rPr lang="en-US" sz="1300" b="1" i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can price on it (savings-share).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46908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~7x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8580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return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70248" y="45262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70248" y="46908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&lt;9 months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453128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back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37576" y="4526280"/>
            <a:ext cx="3566160" cy="1280160"/>
          </a:xfrm>
          <a:prstGeom prst="roundRect">
            <a:avLst>
              <a:gd name="adj" fmla="val 6429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37576" y="469087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$22.5M/yr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220456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on a $150M cost base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 model (Gartner, ICONIQ, Salesforce/Zendesk/Intercom, supply-chain ROI studies, 2026). Figures directional — validate with design-partner data.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CHARGE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revenue streams, three platform tiers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5321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1664208"/>
            <a:ext cx="548640" cy="548640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99032" y="1572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subscription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99032" y="19385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license for the shared runtime + dictionary.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1481328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— see table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23744"/>
            <a:ext cx="55321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4088" y="2706624"/>
            <a:ext cx="548640" cy="548640"/>
          </a:xfrm>
          <a:prstGeom prst="ellipse">
            <a:avLst/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4088" y="2706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99032" y="26151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+ outcome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99032" y="29809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what you run, plus a slice of proven savings.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69080" y="2523744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$0.25–0.50/run · 15–25% of savings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55321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04088" y="3749040"/>
            <a:ext cx="548640" cy="548640"/>
          </a:xfrm>
          <a:prstGeom prst="ellipse">
            <a:avLst/>
          </a:prstGeom>
          <a:solidFill>
            <a:srgbClr val="D98E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99032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Packs &amp; marketplace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99032" y="4023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capability packs; revenue-share on the marketplace.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3566160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$5K–$25K/pack · 25–30% share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608576"/>
            <a:ext cx="55321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04088" y="4791456"/>
            <a:ext cx="548640" cy="548640"/>
          </a:xfrm>
          <a:prstGeom prst="ellipse">
            <a:avLst/>
          </a:prstGeom>
          <a:solidFill>
            <a:srgbClr val="0C7C6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04088" y="4791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99032" y="47000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advisory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9032" y="50657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and we can run it for you.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4608576"/>
            <a:ext cx="1874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$150K–$750K setup · $30–120K/mo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1444752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tier price — by scenario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92224"/>
          <a:ext cx="5422392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1280160"/>
                <a:gridCol w="1280160"/>
                <a:gridCol w="12801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aggr.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6263640" y="4480560"/>
            <a:ext cx="5422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= one function · Growth = a division · Enterprise = global (savings-share included).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263640" y="4892040"/>
            <a:ext cx="5422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Aggressive = recommended baseline. </a:t>
            </a:r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platform base, then layer usage/outcome, services and marketplace as the account grows.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(2026): per-seat $10–200/mo · per-action $0.30–1.00 · outcome $0.50–2.00 · marketplace 15–30% share. Illustrative.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2-YEAR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scenarios — recurring revenue by half-year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ramp ($M)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783080"/>
          <a:ext cx="5440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422392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1280160"/>
                <a:gridCol w="128016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2-yr 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C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aggr.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$/yr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5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4663440"/>
            <a:ext cx="5422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Recommended.  </a:t>
            </a:r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reach cash-flow positive by Y2 H1–H2. Bigger scenarios need more up-front investment and enterprise proof points.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~$4.5–9M productization + GTM investment over 2 years; blended gross margin ~50% (Y1) to ~66% (Y2 exit). Illustrative.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5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3657600" cy="3657600"/>
          </a:xfrm>
          <a:prstGeom prst="ellipse">
            <a:avLst/>
          </a:prstGeom>
          <a:solidFill>
            <a:srgbClr val="2A4A7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&amp; THE TERMS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the launch — and the plain-English glossary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12064" cy="512064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463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16152" y="14630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—  </a:t>
            </a:r>
            <a:pPr indent="0" marL="0">
              <a:buNone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plan: ~30 customers, ~$32M recurring revenue, cash-positive by Y2 H1.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512064" cy="512064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304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16152" y="230428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 —  </a:t>
            </a:r>
            <a:pPr indent="0" marL="0">
              <a:buNone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~$6M to productize + a go-to-market team across the four customer types.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512064" cy="512064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31455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6152" y="314553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 —  </a:t>
            </a:r>
            <a:pPr indent="0" marL="0">
              <a:buNone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 now; cloud-partner co-sell in Year 2.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86784"/>
            <a:ext cx="512064" cy="512064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986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16152" y="3986784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 —  </a:t>
            </a:r>
            <a:pPr indent="0" marL="0">
              <a:buNone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base price + a share of proven savings — our edge vs. the field.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1371600"/>
            <a:ext cx="516636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1228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in plain English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cognitive runtime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12280" y="22219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“brain” many task-runners reuse.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6609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ontology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12280" y="29169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dictionary mapping each system’s fields to common business terms.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3355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12280" y="361188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thinking agents — not just better-coordinated ones.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12280" y="40507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12280" y="430682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re-uses cached context so you don’t re-pay the model (~90% off cached input).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47457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Savings-share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12280" y="500176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paid a slice of the savings we can measure.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12280" y="5440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/ pull-through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12280" y="56967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with cloud partners; our usage grows their platform spend.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53949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turns Bristlecone’s supply-chain depth into a durable agentic-platform business — measured savings, predictable pricing, four customer types, one runtime.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deliver — land small, expand fast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8952" y="1856232"/>
            <a:ext cx="566928" cy="566928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2532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990088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shared dictionary to their systems — days, not months. Read the governed warehouse copy, inside their tenant.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54096" y="1600200"/>
            <a:ext cx="2926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5848" y="16002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11880" y="1856232"/>
            <a:ext cx="566928" cy="566928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11880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532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2990088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convert or compose the first agents onto the runtime — start read-only, prove value on one use case.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07024" y="1600200"/>
            <a:ext cx="2926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8776" y="16002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64808" y="1856232"/>
            <a:ext cx="566928" cy="566928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64808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64808" y="2532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&amp; measure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2990088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execution with governance gates; report the savings we actually measure, not a model.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59952" y="1600200"/>
            <a:ext cx="29260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1704" y="16002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FB0C6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317736" y="1856232"/>
            <a:ext cx="566928" cy="566928"/>
          </a:xfrm>
          <a:prstGeom prst="ellipse">
            <a:avLst/>
          </a:prstGeom>
          <a:solidFill>
            <a:srgbClr val="0F9D8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17736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17736" y="25328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17736" y="2990088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domains, install marketplace packs, and move to savings-share as trust grows.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709160"/>
            <a:ext cx="11185855" cy="1097280"/>
          </a:xfrm>
          <a:prstGeom prst="roundRect">
            <a:avLst>
              <a:gd name="adj" fmla="val 7500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4709160"/>
            <a:ext cx="104543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compounds:  </a:t>
            </a:r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use case reuses the same runtime and dictionary, so each expansion is faster, cheaper and higher-margin. Defensible on vertical supply-chain depth + measured savings + a warehouse-neutral ontology.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 model (Gartner, ICONIQ, Salesforce/Zendesk/Intercom, supply-chain ROI studies, 2026). Figures directional — validate with design-partner data.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BRISTLECONE INTERNAL — NOT FOR CUSTOMER 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Back-up: Bristlecone unit economics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by revenue stream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+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&amp; advisory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→ 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C7C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(Y1 → Y2 exit)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D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→ 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120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platform beats the 52% AI-product average:  </a:t>
            </a:r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(build cognition once) + Claude’s ~90% cache discount cut inference COGS. — ICONIQ, Finout (2026).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422392" cy="1188720"/>
          </a:xfrm>
          <a:prstGeom prst="roundRect">
            <a:avLst>
              <a:gd name="adj" fmla="val 6923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355080" y="1892808"/>
            <a:ext cx="1965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~$6M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275320" y="1892808"/>
            <a:ext cx="33101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productization + GTM investment (Aggressive; $4.5–9M across scenarios)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3154680"/>
            <a:ext cx="5422392" cy="1188720"/>
          </a:xfrm>
          <a:prstGeom prst="roundRect">
            <a:avLst>
              <a:gd name="adj" fmla="val 6923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355080" y="3264408"/>
            <a:ext cx="1965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Y2 H1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275320" y="3264408"/>
            <a:ext cx="33101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positive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4526280"/>
            <a:ext cx="5422392" cy="1188720"/>
          </a:xfrm>
          <a:prstGeom prst="roundRect">
            <a:avLst>
              <a:gd name="adj" fmla="val 6923"/>
            </a:avLst>
          </a:prstGeom>
          <a:solidFill>
            <a:srgbClr val="1F355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55080" y="4636008"/>
            <a:ext cx="19659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9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30–40%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275320" y="4636008"/>
            <a:ext cx="33101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delivery effort on our own client engagements (services GM 45→55%)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planning only. Margins &amp; investment illustrative; validate against Bristlecone actuals before circulating.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556"/>
                </a:solidFill>
                <a:latin typeface="Cambria"/>
              </a:rPr>
              <a:t>Supply-Chain Use-Case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i="1">
                <a:solidFill>
                  <a:srgbClr val="5A6472"/>
                </a:solidFill>
                <a:latin typeface="Calibri"/>
              </a:rPr>
              <a:t>32 use cases, grounded in the SAP IBP module set — each one-click buildable on the shared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357621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DEMAND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statistical forecasting · demand sensing · curve based forecast · outlier correction · product lifecycle planning · promotion planning · cannibalization analysis · forecast accuracy monitoring · demand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INVENTORY · MEIO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multi echelon inventory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MRO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mro inventory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RESPONSE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allocation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PROCUREMENT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procurement sourcing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AFTERMARKET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spares planning ibp · returns forecasting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SUSTAINABILITY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sustainability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417320"/>
            <a:ext cx="357621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DEMAND · S&amp;OP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consensus demand sop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INVENTORY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safety stock planning · service level prediction · excess and obsolescence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SUPPLY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supply planning · net requirements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PRODUCTION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capacity planning · production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LOGISTICS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logistics transportation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AFTERMARKET · RMA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rma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8276" y="1417320"/>
            <a:ext cx="357621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INVENTORY · IO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inventory optimization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DDR · DDMRP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demand driven replenishment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RESPONSE · ORDER-BASED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response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SYNCHRONIZED PLANNING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synchronized planning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SUPPLY · RISK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disruption response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F9D8C"/>
                </a:solidFill>
                <a:latin typeface="Calibri"/>
              </a:rPr>
              <a:t>CONTROL TOWER</a:t>
            </a:r>
          </a:p>
          <a:p>
            <a:r>
              <a:rPr sz="1050">
                <a:solidFill>
                  <a:srgbClr val="1E2733"/>
                </a:solidFill>
                <a:latin typeface="Calibri"/>
              </a:rPr>
              <a:t>control tower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7" y="274320"/>
            <a:ext cx="114235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7" y="786384"/>
            <a:ext cx="11423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7" y="1298448"/>
            <a:ext cx="5574639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5" y="1444751"/>
            <a:ext cx="5172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" y="1773936"/>
            <a:ext cx="5172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5" y="2231136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" y="2267712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37" y="2231136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3437" y="2267712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659" y="2231136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1659" y="2267712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881" y="2231136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881" y="2267712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5" y="3215640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5" y="3252216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37" y="3215640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3437" y="3252216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659" y="3215640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1659" y="3252216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881" y="3215640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881" y="3252216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5" y="4200144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" y="4236720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37" y="4200144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3437" y="4236720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659" y="4200144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1659" y="4236720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881" y="4200144"/>
            <a:ext cx="1217637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9881" y="4236720"/>
            <a:ext cx="1217637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" y="5175504"/>
            <a:ext cx="5172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1298448"/>
            <a:ext cx="5574639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175" y="1444751"/>
            <a:ext cx="5172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175" y="1773936"/>
            <a:ext cx="5172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607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1607" y="21945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175" y="2651760"/>
            <a:ext cx="1087335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175" y="2651760"/>
            <a:ext cx="108733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5831" y="2651760"/>
            <a:ext cx="1087335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5831" y="2651760"/>
            <a:ext cx="108733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487" y="2651760"/>
            <a:ext cx="1087335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7487" y="2651760"/>
            <a:ext cx="108733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143" y="2651760"/>
            <a:ext cx="1087335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9143" y="2651760"/>
            <a:ext cx="108733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175" y="3145536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4175" y="3182112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397" y="3145536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52397" y="3182112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619" y="3145536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0619" y="3182112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8841" y="3145536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8841" y="3182112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175" y="3825240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175" y="3861816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397" y="3825240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2397" y="3861816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619" y="3825240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619" y="3861816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8841" y="3825240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88841" y="3861816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175" y="4504944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4175" y="4541520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397" y="4504944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2397" y="4541520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619" y="4504944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619" y="4541520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8841" y="4504944"/>
            <a:ext cx="1217637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88841" y="4541520"/>
            <a:ext cx="1217637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175" y="5175504"/>
            <a:ext cx="51723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47" y="5742432"/>
            <a:ext cx="3624986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1" y="5742432"/>
            <a:ext cx="314949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354" y="5742432"/>
            <a:ext cx="3624986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1098" y="5742432"/>
            <a:ext cx="314949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660" y="5742432"/>
            <a:ext cx="3624986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0404" y="5742432"/>
            <a:ext cx="314949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UNAI — Commercial Overview &amp; 2-Year Plan</dc:title>
  <dc:subject>PptxGenJS Presentation</dc:subject>
  <dc:creator>Bristlecone</dc:creator>
  <cp:lastModifiedBy>Bristlecone</cp:lastModifiedBy>
  <cp:revision>1</cp:revision>
  <dcterms:created xsi:type="dcterms:W3CDTF">2026-08-01T15:54:15Z</dcterms:created>
  <dcterms:modified xsi:type="dcterms:W3CDTF">2026-08-01T15:54:15Z</dcterms:modified>
</cp:coreProperties>
</file>