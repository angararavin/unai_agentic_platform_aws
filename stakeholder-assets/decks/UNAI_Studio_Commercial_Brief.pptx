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1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554480" y="6766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STUDIO · COMMERCIAL BRIEF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channels &amp; commercial goals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UNAI Studio makes money — and what the client gains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68096" y="4343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~$95M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8096" y="490118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UNAI-attributable revenue by 2030 (upside ~$180M)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4160520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4343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channels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08576" y="490118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seven ways to monetize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4160520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49056" y="4343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 lower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49056" y="490118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run-cost for the client — measured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vertical &amp; commercial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revenue channels — what each one sells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16002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02952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($M)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11096"/>
            <a:ext cx="11091672" cy="0"/>
          </a:xfrm>
          <a:prstGeom prst="line">
            <a:avLst/>
          </a:prstGeom>
          <a:noFill/>
          <a:ln w="19050">
            <a:solidFill>
              <a:srgbClr val="18C5B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603504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2130552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4F8C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77824" y="2020824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vertical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2020824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subscription + the 32-use-case supply-chain suite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31352" y="2203704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4F8C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02952" y="2020824"/>
            <a:ext cx="1600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2734056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7824" y="262432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74720" y="2624328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agentic implementations (services + platform license)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31352" y="2807208"/>
            <a:ext cx="997527" cy="219456"/>
          </a:xfrm>
          <a:prstGeom prst="roundRect">
            <a:avLst>
              <a:gd name="adj" fmla="val 16667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902952" y="2624328"/>
            <a:ext cx="1600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11091672" cy="603504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8368" y="3337560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7824" y="322783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co-sell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74720" y="3227832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Influenced deals + marketplace on Databricks / Snowflake / Google / SAP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31352" y="3410712"/>
            <a:ext cx="798022" cy="219456"/>
          </a:xfrm>
          <a:prstGeom prst="roundRect">
            <a:avLst>
              <a:gd name="adj" fmla="val 16667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902952" y="3227832"/>
            <a:ext cx="1600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3941064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9B7BE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7824" y="3831336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74720" y="3831336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existing agents to UNAI + share of proven savings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31352" y="4014216"/>
            <a:ext cx="748145" cy="219456"/>
          </a:xfrm>
          <a:prstGeom prst="roundRect">
            <a:avLst>
              <a:gd name="adj" fmla="val 16667"/>
            </a:avLst>
          </a:prstGeom>
          <a:solidFill>
            <a:srgbClr val="9B7BE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902952" y="3831336"/>
            <a:ext cx="1600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407408"/>
            <a:ext cx="11091672" cy="603504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58368" y="4544568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77824" y="443484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portfolio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74720" y="4434840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~175-agent portfolio into priced accelerators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31352" y="4617720"/>
            <a:ext cx="598516" cy="219456"/>
          </a:xfrm>
          <a:prstGeom prst="roundRect">
            <a:avLst>
              <a:gd name="adj" fmla="val 16667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902952" y="4434840"/>
            <a:ext cx="1600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8368" y="5148072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E27C9A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77824" y="5038344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474720" y="5038344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Cognition-/FinOps-as-a-Service + agent marketplace (ARR)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31352" y="5221224"/>
            <a:ext cx="349135" cy="219456"/>
          </a:xfrm>
          <a:prstGeom prst="roundRect">
            <a:avLst>
              <a:gd name="adj" fmla="val 16667"/>
            </a:avLst>
          </a:prstGeom>
          <a:solidFill>
            <a:srgbClr val="E27C9A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902952" y="5038344"/>
            <a:ext cx="1600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$7M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5614416"/>
            <a:ext cx="11091672" cy="603504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58368" y="5751576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F2A365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77824" y="564184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/ IP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474720" y="5641848"/>
            <a:ext cx="5943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+ royalties (defensive value)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31352" y="5824728"/>
            <a:ext cx="149629" cy="219456"/>
          </a:xfrm>
          <a:prstGeom prst="roundRect">
            <a:avLst>
              <a:gd name="adj" fmla="val 24444"/>
            </a:avLst>
          </a:prstGeom>
          <a:solidFill>
            <a:srgbClr val="F2A365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902952" y="5641848"/>
            <a:ext cx="1600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8580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UNAI-attributable revenue, 2030 (base)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902952" y="6355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~$95M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$16.8B agentic supply chain by 2030 (TAM) · ~$4B Bristlecone-serviceable (SAM) · ~$95M realistically winnable (SOM). Upside case ~$180M.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commercial brief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charge — and what the client gets back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4251960"/>
          </a:xfrm>
          <a:prstGeom prst="roundRect">
            <a:avLst>
              <a:gd name="adj" fmla="val 193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810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money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28016" cy="566928"/>
          </a:xfrm>
          <a:prstGeom prst="roundRect">
            <a:avLst>
              <a:gd name="adj" fmla="val 35714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subscription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56946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 for the shared runtime + ontology (tiered).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127248"/>
            <a:ext cx="128016" cy="566928"/>
          </a:xfrm>
          <a:prstGeom prst="roundRect">
            <a:avLst>
              <a:gd name="adj" fmla="val 35714"/>
            </a:avLst>
          </a:prstGeom>
          <a:solidFill>
            <a:srgbClr val="4F8C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081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+ outcome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34107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Pay-per-run plus a share of the savings we prove.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968496"/>
            <a:ext cx="128016" cy="566928"/>
          </a:xfrm>
          <a:prstGeom prst="roundRect">
            <a:avLst>
              <a:gd name="adj" fmla="val 35714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7280" y="392277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&amp; marketplace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97280" y="42519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packs and a revenue-share marketplace.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809744"/>
            <a:ext cx="128016" cy="566928"/>
          </a:xfrm>
          <a:prstGeom prst="roundRect">
            <a:avLst>
              <a:gd name="adj" fmla="val 35714"/>
            </a:avLst>
          </a:prstGeom>
          <a:solidFill>
            <a:srgbClr val="9B7BE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476402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+ conversion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50932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and converting existing agents onto UNAI.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5376672" cy="4251960"/>
          </a:xfrm>
          <a:prstGeom prst="roundRect">
            <a:avLst>
              <a:gd name="adj" fmla="val 1935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92240" y="1810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gains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 lower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37960" y="2697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run-cost, measured head-to-head vs a first-gen build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3796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Days, not months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37960" y="3566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a new system — the ontology maps it once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37960" y="3977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spend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37960" y="4434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cost that scales with value, not agent count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37960" y="4846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30–40% less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37960" y="5303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effort on engagements that reuse the runtime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commercial brief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goals — and the first play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4251960"/>
          </a:xfrm>
          <a:prstGeom prst="roundRect">
            <a:avLst>
              <a:gd name="adj" fmla="val 193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810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commercial goals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Sign 2–3 design-partner customers on live use cases.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Stand up co-sell with at least one cloud partner (Databricks / Snowflake / Google).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Convert the first wave of the ~175-agent portfolio onto UNAI as priced accelerators.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Prove and publish measured savings per engagement — the basis for outcome pricing.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Build a qualified pipeline toward the ~$95M-by-2030 trajectory.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76672" cy="4251960"/>
          </a:xfrm>
          <a:prstGeom prst="roundRect">
            <a:avLst>
              <a:gd name="adj" fmla="val 1935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810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 — any vertical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The same runtime and 32 use cases apply across verticals — CPG, automotive, industrial, hi-tech, life sciences — the economics don't change by industry.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Land one high-value use case as a design partner in any target vertical; prove value on the client's own data, in their tenant.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Expand from that use case into the full vertical — land-and-expand.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Package each win as a repeatable, vertical-specific accelerator for the next accounts.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5303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30-minute live demo, then one high-value use case as the first design partner.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commercial brief · illustrative, benchmark-anchored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748272"/>
            <a:ext cx="1828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" b="0">
                <a:solidFill>
                  <a:srgbClr val="0B0E14"/>
                </a:solidFill>
                <a:latin typeface="Calibri"/>
              </a:rPr>
              <a:t>UNAI-ARCH-ANALOGY-V1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57" y="274320"/>
            <a:ext cx="11423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57" y="786384"/>
            <a:ext cx="11423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97B8"/>
                </a:solidFill>
                <a:latin typeface="Calibri"/>
              </a:rPr>
              <a:t>12 agents (each rebuilds every cognitive task) vs 1 UNAI runtime (built once, 12 capability packs)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57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25" y="1444751"/>
            <a:ext cx="51724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🚚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Traditional: 12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25" y="1773936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Each agent independently sources, preps, seasons, and tastes — full cognitive overhead, every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25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25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Taco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3483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3483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Burger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1740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1740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Pizza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9998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9998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Sushi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25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25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BBQ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3483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3483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Crepe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21740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1740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Waffle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9998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9998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Noodle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25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25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Sandwich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03483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3483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Dumpling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21740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1740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Salad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9998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9998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Smoothie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25" y="5175504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48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12 agents × 4 cognitive tasks each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160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4328" y="1444751"/>
            <a:ext cx="51724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🍽️  </a:t>
            </a:r>
            <a:r>
              <a:rPr sz="1500" b="1">
                <a:solidFill>
                  <a:srgbClr val="FFFFFF"/>
                </a:solidFill>
                <a:latin typeface="Calibri"/>
              </a:rPr>
              <a:t>UNAI: 1 Shared Runtime + 12 Packs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4328" y="1773936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Runtime runs all cognitive tasks ONCE, then sends ready results to 12 capability packs.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1831" y="21945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 w="12700">
            <a:solidFill>
              <a:srgbClr val="22D3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1831" y="21945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🔍  UNAI · shared runtime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4328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4328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🛒 Source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6019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6019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🔪 Prep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57711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7711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🧂 Season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9402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9402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👅 Taste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4328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4328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Taco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52585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52585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Burger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843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0843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Pizza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89100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89100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Sushi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34328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4328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BBQ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52585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52585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Crepe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70843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3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Waffle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89100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89100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Noodle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34328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4328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Sandwich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52585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52585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Dumpling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70843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0843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Salad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89100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89100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Smoothie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4328" y="5175504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16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4 shared tasks + 12 pack calls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4057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801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🚚  TRADITIONAL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6B6B"/>
                </a:solidFill>
                <a:latin typeface="Calibri"/>
              </a:rPr>
              <a:t>48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12 agents × 4 cognitive tasks each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83459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1203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🍽️  UNAI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2D3AA"/>
                </a:solidFill>
                <a:latin typeface="Calibri"/>
              </a:rPr>
              <a:t>16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4 shared tasks + 12 pack calls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2860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20604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5C4E8"/>
                </a:solidFill>
                <a:latin typeface="Calibri"/>
              </a:rPr>
              <a:t>📉  REDUCTION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5C4E8"/>
                </a:solidFill>
                <a:latin typeface="Calibri"/>
              </a:rPr>
              <a:t>66.7%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Fewer cognitive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2026-08-08T17:28:36Z</dcterms:created>
  <dcterms:modified xsi:type="dcterms:W3CDTF">2026-08-08T17:28:36Z</dcterms:modified>
</cp:coreProperties>
</file>