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31"/>
    <p:sldId id="281" r:id="rId32"/>
    <p:sldId id="282" r:id="rId33"/>
    <p:sldId id="279" r:id="rId25"/>
    <p:sldId id="283" r:id="rId34"/>
    <p:sldId id="284" r:id="rId3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7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ask. This is a decision meeting, not a demo. Situation-Insight-Opportunity-Ask. Everything else supports these four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De-risk: this is not a concept. The app works and token savings are measured; the ~175-agent portfolio is real (built for customers) but not yet onboarded onto UNAI — that's the near-term plan. Draw the honest line between real (architecture/proof) and modeled (revenue).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candor on risk — leadership trusts a team that names the risks. Each risk has a concrete mitigation; revenue-is-modeled is stated plainly.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554480" y="67665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UNAI · UNIVERSAL AGENTIC RUNTIME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Strategic Bet in Agentic AI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66928" y="33101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Bristlecone's supply-chain expertise into a defensible, owned AI platform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3401568" cy="1371600"/>
          </a:xfrm>
          <a:prstGeom prst="roundRect">
            <a:avLst>
              <a:gd name="adj" fmla="val 60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68096" y="43891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shift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8096" y="4937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here — the current approach doesn't scale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4206240"/>
            <a:ext cx="3401568" cy="1371600"/>
          </a:xfrm>
          <a:prstGeom prst="roundRect">
            <a:avLst>
              <a:gd name="adj" fmla="val 60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08576" y="43891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$1B by 2030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08576" y="4937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revenue engine, seven streams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4206240"/>
            <a:ext cx="3401568" cy="1371600"/>
          </a:xfrm>
          <a:prstGeom prst="roundRect">
            <a:avLst>
              <a:gd name="adj" fmla="val 60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49056" y="43891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49056" y="4937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strategy + fund the platform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leadership review  ·  Bristlecone  ·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asking leadership to decide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929384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C5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71800" y="1965960"/>
            <a:ext cx="0" cy="658368"/>
          </a:xfrm>
          <a:prstGeom prst="line">
            <a:avLst/>
          </a:prstGeom>
          <a:noFill/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200400" y="1911096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are adopting agentic AI fast — but the prevailing “one agent per task” approach multiplies cost, sprawl and governance risk.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16936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30632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71800" y="3099816"/>
            <a:ext cx="0" cy="658368"/>
          </a:xfrm>
          <a:prstGeom prst="line">
            <a:avLst/>
          </a:prstGeom>
          <a:noFill/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200400" y="3044952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UNAI consolidates: build the AI cognition once, run many lightweight agents on top. Fewer moving parts, lower and predictable cost. Proven in a working application.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50792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4197096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971800" y="4233672"/>
            <a:ext cx="0" cy="658368"/>
          </a:xfrm>
          <a:prstGeom prst="line">
            <a:avLst/>
          </a:prstGeom>
          <a:noFill/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200400" y="4178808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~$95M of UNAI-attributable revenue by 2030 (upside ~$180M) in a $16.8B agentic supply-chain market — with a ~175-agent Bristlecone portfolio ready to onboard onto UNAI.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84648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533095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971800" y="5367528"/>
            <a:ext cx="0" cy="658368"/>
          </a:xfrm>
          <a:prstGeom prst="line">
            <a:avLst/>
          </a:prstGeom>
          <a:noFill/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200400" y="5312664"/>
            <a:ext cx="82296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UNAI as a strategic platform bet and fund the full launch now — all seven streams in parallel. We already have the assets to move at speed.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executive leadership review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shift is real — and the first-generation approach is already breaking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9584" cy="1554480"/>
          </a:xfrm>
          <a:prstGeom prst="roundRect">
            <a:avLst>
              <a:gd name="adj" fmla="val 5294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81051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2D3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48716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apps will use AI agents by end-2026, up from &lt;5% — Gartner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4256" y="1600200"/>
            <a:ext cx="3529584" cy="1554480"/>
          </a:xfrm>
          <a:prstGeom prst="roundRect">
            <a:avLst>
              <a:gd name="adj" fmla="val 5294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62856" y="181051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62856" y="248716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CIOs can't forecast AI cost; most have had surprise usage bills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19872" y="1600200"/>
            <a:ext cx="3529584" cy="1554480"/>
          </a:xfrm>
          <a:prstGeom prst="roundRect">
            <a:avLst>
              <a:gd name="adj" fmla="val 5294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48472" y="181051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257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N×7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348472" y="248716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first-gen builds every agent's full stack — cost scales with agents, not value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401568"/>
            <a:ext cx="11091672" cy="2514600"/>
          </a:xfrm>
          <a:prstGeom prst="roundRect">
            <a:avLst>
              <a:gd name="adj" fmla="val 3273"/>
            </a:avLst>
          </a:prstGeom>
          <a:solidFill>
            <a:srgbClr val="1B2E57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5661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risk of standing still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9776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Agent sprawl makes AI spend unpredictable and governance fragile — exactly what boards fear.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Horizontal platforms (hyperscalers, frameworks) are moving to capture the value; a services-only posture risks being disintermediated.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Bristlecone's deep supply-chain expertise is currently delivered as bespoke projects — valuable, but not a defensible, compounding asset.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The window to convert that expertise into owned IP — before the category consolidates — is now.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Gartner agentic-AI adoption; CIO cost-forecasting surveys; ICONIQ AI-product economics, 2026.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executive leadership review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owned platform that turns expertise into an asset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02736" cy="4023360"/>
          </a:xfrm>
          <a:prstGeom prst="roundRect">
            <a:avLst>
              <a:gd name="adj" fmla="val 2284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417320" y="1947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Bristlecone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3108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deep supply-chain know-how into a productized, defensible platform. Lift delivery margins, and shift from services-only to AI-product company.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4256" y="1691640"/>
            <a:ext cx="3602736" cy="4023360"/>
          </a:xfrm>
          <a:prstGeom prst="roundRect">
            <a:avLst>
              <a:gd name="adj" fmla="val 2284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90288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02936" y="1947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customers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0288" y="2560320"/>
            <a:ext cx="3108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governed, low-risk on-ramp to agentic AI — one runtime and a few high-value agents, in their own tenant, free of cloud or model lock-in.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19872" y="1691640"/>
            <a:ext cx="3602736" cy="4023360"/>
          </a:xfrm>
          <a:prstGeom prst="roundRect">
            <a:avLst>
              <a:gd name="adj" fmla="val 2284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375904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88552" y="1947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market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75904" y="2560320"/>
            <a:ext cx="3108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vertical agentic architecture for any supply-chain use case — sold directly, through cloud partners, and embedded in new products.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adoption becomes external advantage: prove it inside the Group, then take it to market.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executive leadership review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Consolidation, not orchestration — one brain, many task-runners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B2E57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810512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“Build the AI cognition once; run many lightweight, domain-specific agents on top. New capability is a configuration — not a new build.”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602736" cy="2651760"/>
          </a:xfrm>
          <a:prstGeom prst="roundRect">
            <a:avLst>
              <a:gd name="adj" fmla="val 3103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04672" y="34747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98448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runtime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402336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reusable layers (perception, memory, reasoning, evidence, action, collaboration, explainability) built a single time.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34256" y="3246120"/>
            <a:ext cx="3602736" cy="2651760"/>
          </a:xfrm>
          <a:prstGeom prst="roundRect">
            <a:avLst>
              <a:gd name="adj" fmla="val 3103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90288" y="34747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F8CF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84064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canonical ontology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0288" y="402336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system's fields map to one business language — and it learns across every deployment, so onboarding gets faster each time.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9872" y="3246120"/>
            <a:ext cx="3602736" cy="2651760"/>
          </a:xfrm>
          <a:prstGeom prst="roundRect">
            <a:avLst>
              <a:gd name="adj" fmla="val 3103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375904" y="34747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869680" y="3474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&amp; governed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75904" y="402336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Model-, cloud- and warehouse-neutral; runs in-tenant; every decision carries confidence, attribution and an audit trail.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non-technical here — the architecture detail lives in the Technical Specification.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executive leadership review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 — 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thing no one else has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1B2E57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73736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supply-chain brain that is built once and gets smarter with every deployment — running inside the customer's own cloud, cutting AI cost ~50%, proven in a working app, with a ~175-agent portfolio ready to onboard.”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458968" cy="1280160"/>
          </a:xfrm>
          <a:prstGeom prst="roundRect">
            <a:avLst>
              <a:gd name="adj" fmla="val 6429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86384" y="3319272"/>
            <a:ext cx="128016" cy="768096"/>
          </a:xfrm>
          <a:prstGeom prst="roundRect">
            <a:avLst>
              <a:gd name="adj" fmla="val 42857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51560" y="32278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 ontology flywheel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51560" y="3593592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deployment teaches the canonical ontology — onboarding gets faster and cheaper each time. Horizontal platforms can't spin a supply-chain flywheel.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1344" y="3063240"/>
            <a:ext cx="5458968" cy="1280160"/>
          </a:xfrm>
          <a:prstGeom prst="roundRect">
            <a:avLst>
              <a:gd name="adj" fmla="val 6429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19088" y="3319272"/>
            <a:ext cx="128016" cy="768096"/>
          </a:xfrm>
          <a:prstGeom prst="roundRect">
            <a:avLst>
              <a:gd name="adj" fmla="val 42857"/>
            </a:avLst>
          </a:prstGeom>
          <a:solidFill>
            <a:srgbClr val="4F8CF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84264" y="32278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vertical, not a toolkit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84264" y="3593592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agent and not a framework — a complete agentic supply-chain architecture: 32 use cases live, plus a ~175-agent portfolio ready to convert.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453128"/>
            <a:ext cx="5458968" cy="1280160"/>
          </a:xfrm>
          <a:prstGeom prst="roundRect">
            <a:avLst>
              <a:gd name="adj" fmla="val 6429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86384" y="4709160"/>
            <a:ext cx="128016" cy="768096"/>
          </a:xfrm>
          <a:prstGeom prst="roundRect">
            <a:avLst>
              <a:gd name="adj" fmla="val 42857"/>
            </a:avLst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51560" y="4617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where the data is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51560" y="498348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In-tenant on Snowflake / Databricks / BigQuery / SAP — model-, cloud- and warehouse-neutral, SAP-compliant. No lock-in, no data movement.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81344" y="4453128"/>
            <a:ext cx="5458968" cy="1280160"/>
          </a:xfrm>
          <a:prstGeom prst="roundRect">
            <a:avLst>
              <a:gd name="adj" fmla="val 6429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419088" y="4709160"/>
            <a:ext cx="128016" cy="768096"/>
          </a:xfrm>
          <a:prstGeom prst="roundRect">
            <a:avLst>
              <a:gd name="adj" fmla="val 42857"/>
            </a:avLst>
          </a:prstGeom>
          <a:solidFill>
            <a:srgbClr val="E9C46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684264" y="4617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promises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684264" y="498348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app + measured ~50% lower AI cost + 32 use cases live. Champions sell what they can demo today.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executive leadership review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SELL — WHY THEY SAY YES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reason each champion picks it up immediately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58968" cy="1874520"/>
          </a:xfrm>
          <a:prstGeom prst="roundRect">
            <a:avLst>
              <a:gd name="adj" fmla="val 439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19751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9568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“Cut my AI spend ~50% — measured — on my own cloud, governed and auditable. One platform for every supply-chain use case, live in days, not months.”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81344" y="1737360"/>
            <a:ext cx="5458968" cy="1874520"/>
          </a:xfrm>
          <a:prstGeom prst="roundRect">
            <a:avLst>
              <a:gd name="adj" fmla="val 439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37376" y="19751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37376" y="1975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04304" y="19568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partners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55664" y="25146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ready-made vertical agentic solution that drives consumption onto Snowflake / Databricks / Google — co-sell a differentiated supply-chain suite, not a toolkit.”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458968" cy="1874520"/>
          </a:xfrm>
          <a:prstGeom prst="roundRect">
            <a:avLst>
              <a:gd name="adj" fmla="val 439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4672" y="40325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9B7BE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" y="4032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0142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ecosystem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5720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compliant path to agents on SAP data — reads the governed lakehouse copy, gated writes through certified channels. Safe to take to any SAP account.”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81344" y="3794760"/>
            <a:ext cx="5458968" cy="1874520"/>
          </a:xfrm>
          <a:prstGeom prst="roundRect">
            <a:avLst>
              <a:gd name="adj" fmla="val 439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37376" y="40325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9C46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37376" y="4032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04304" y="40142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champions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55664" y="45720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~175-agent portfolio across 20 domains to convert onto UNAI and take to accounts — a repeatable accelerator library that shortens every deal.”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Bristlecone: this is the shift from services vendor to the pure-play supply-chain firm that OWNS the agentic runtime — a category-defining brand position.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executive leadership review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already works — and there's a ready pipeline to scale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8288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2D3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~175-agent pipeline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4672" y="242316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Bristlecone's existing agents across 20 domains — ready to convert onto UNAI (not yet onboarded)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45352" y="164592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01384" y="18288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8C5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app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01384" y="242316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application runs a full supply-chain workflow end-to-end today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3337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~53% fewer tokens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04672" y="393192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head-to-head vs a first-gen multi-agent build (modeled, proven live)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45352" y="315468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01384" y="3337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9B7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use cases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501384" y="393192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use cases live on the shared runtime, one-click buildable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1B2E57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4791456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real vs modeled — the honest line for leadership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1206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app and the token measurements are real, and the ~175-agent portfolio genuinely exists (built for customers — not yet onboarded onto UNAI; that's the near-term plan). Revenue figures are an illustrative, benchmark-anchored model to validate against pipeline. We present the architecture as fact, the savings as proven-live, and the revenue as a modeled plan.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executive leadership review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 — GROUNDED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Sized bottom-up from the market — not a headline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49440" cy="1234440"/>
          </a:xfrm>
          <a:prstGeom prst="roundRect">
            <a:avLst>
              <a:gd name="adj" fmla="val 6667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83794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8C5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8C5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$16.8B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0" y="18745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in supply chain by 2030 (broader $53B SCM-software pond)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4937760" cy="1234440"/>
          </a:xfrm>
          <a:prstGeom prst="roundRect">
            <a:avLst>
              <a:gd name="adj" fmla="val 6667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325526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2D3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~$4B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286000" y="32918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Bristlecone-serviceable: its verticals, geos &amp; motions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2926080" cy="1234440"/>
          </a:xfrm>
          <a:prstGeom prst="roundRect">
            <a:avLst>
              <a:gd name="adj" fmla="val 6667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467258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5074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~$95M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286000" y="47091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UNAI-attributable revenue by 2030 — base case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0" y="1691640"/>
            <a:ext cx="3867912" cy="4206240"/>
          </a:xfrm>
          <a:prstGeom prst="roundRect">
            <a:avLst>
              <a:gd name="adj" fmla="val 2128"/>
            </a:avLst>
          </a:prstGeom>
          <a:solidFill>
            <a:srgbClr val="1B2E57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001000" y="18562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UNAI-attributable revenue, 2030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01000" y="2286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~$45M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01000" y="27249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(~1% of SAM)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01000" y="3154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D3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~$95M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001000" y="35935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— recommended (~2.4% of SAM)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01000" y="4023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~$180M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001000" y="44622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(~4.5% of SAM)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01000" y="4937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2026–2030 ≈ $238M (base). $1B is the long-term prize if UNAI becomes category-defining — an aspiration, not this plan.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0350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= total market · SAM = the slice we can serve (our verticals/geos/motions) · SOM = what we can realistically win by 2030.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Gartner (SCM software w/ agentic AI, $53B by 2030); Mordor (agentic SC &amp; logistics, $16.8B). SOM modeled bottom-up — validate vs pipeline.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executive leadership review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invest vs what we get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invest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Productization: harden the runtime, ontology, marketplace and product P&amp;L.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Go-to-market: a team across the four customer types + cloud-partner co-sell.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IP: file patents on the architecture flow.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Sequenced with proof gates — invest as each stage is de-risked, not all up front.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68112" cy="4114800"/>
          </a:xfrm>
          <a:prstGeom prst="roundRect">
            <a:avLst>
              <a:gd name="adj" fmla="val 2000"/>
            </a:avLst>
          </a:prstGeom>
          <a:solidFill>
            <a:srgbClr val="1B2E57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4652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892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~$95M UNAI-attributable revenue by 2030 (upside ~$180M); ~$238M cumulative.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Margin shift: services-plus-product mix at higher, recurring multiples.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Defensible, Bristlecone-owned IP — an asset, not a project.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AF0FB"/>
                </a:solidFill>
              </a:rPr>
              <a:t>30–40% less delivery effort on our own engagements (reuse the runtime).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value is structural: consolidation makes AI cost scale with value delivered, not with the number of agents.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executive leadership review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hard to copy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58968" cy="1874520"/>
          </a:xfrm>
          <a:prstGeom prst="roundRect">
            <a:avLst>
              <a:gd name="adj" fmla="val 439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1975104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44168" y="19568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 ontology flywheel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canonical ontology compounds across every deployment — each engagement makes the next faster. Horizontal platforms can't spin this supply-chain flywheel.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81344" y="1737360"/>
            <a:ext cx="5458968" cy="1874520"/>
          </a:xfrm>
          <a:prstGeom prst="roundRect">
            <a:avLst>
              <a:gd name="adj" fmla="val 439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37376" y="1975104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2A36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76872" y="19568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Patentable architecture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55664" y="248716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consolidation flow — build cognition once, resolve any system at run time — is novel and defensible. Patents lock the moat.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458968" cy="1874520"/>
          </a:xfrm>
          <a:prstGeom prst="roundRect">
            <a:avLst>
              <a:gd name="adj" fmla="val 439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4672" y="4032504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344168" y="40142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by design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54456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Model-, cloud- and warehouse-neutral, SAP-compliant, in-tenant. No lock-in — the profile enterprises and partners prefer.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1344" y="3794760"/>
            <a:ext cx="5458968" cy="1874520"/>
          </a:xfrm>
          <a:prstGeom prst="roundRect">
            <a:avLst>
              <a:gd name="adj" fmla="val 439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37376" y="4032504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E9C46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976872" y="40142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+ breadth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55664" y="454456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supply-chain use cases and 175 live agents — a vertical, not a general-purpose framework.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executive leadership review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— CANDIDLY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risks, and how we manage each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682496"/>
            <a:ext cx="5212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80760" y="1682496"/>
            <a:ext cx="54223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91672" cy="0"/>
          </a:xfrm>
          <a:prstGeom prst="line">
            <a:avLst/>
          </a:prstGeom>
          <a:noFill/>
          <a:ln w="19050">
            <a:solidFill>
              <a:srgbClr val="18C5B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2340864"/>
            <a:ext cx="5212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— can we build &amp; scale it?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80760" y="2340864"/>
            <a:ext cx="54223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platform + a ~175-agent portfolio to convert de-risk the build; onboard in waves.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62656"/>
            <a:ext cx="11091672" cy="658368"/>
          </a:xfrm>
          <a:prstGeom prst="rect">
            <a:avLst/>
          </a:prstGeom>
          <a:solidFill>
            <a:srgbClr val="16264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2999232"/>
            <a:ext cx="5212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— will customers buy?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80760" y="2999232"/>
            <a:ext cx="54223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Land-and-expand from one use case; design partners first; savings we can measure.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3657600"/>
            <a:ext cx="5212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modeled, not booked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80760" y="3657600"/>
            <a:ext cx="54223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base ($1B) vs stretch; validate against real pipeline before commit.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79392"/>
            <a:ext cx="11091672" cy="658368"/>
          </a:xfrm>
          <a:prstGeom prst="rect">
            <a:avLst/>
          </a:prstGeom>
          <a:solidFill>
            <a:srgbClr val="16264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4315968"/>
            <a:ext cx="5212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partner dependency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80760" y="4315968"/>
            <a:ext cx="54223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 and model-neutral by design; multi-partner co-sell, no single lock-in.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4974336"/>
            <a:ext cx="5212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Model-cost volatility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80760" y="4974336"/>
            <a:ext cx="54223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+ caching cut token spend — the volatility is the problem we solve.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596128"/>
            <a:ext cx="11091672" cy="658368"/>
          </a:xfrm>
          <a:prstGeom prst="rect">
            <a:avLst/>
          </a:prstGeom>
          <a:solidFill>
            <a:srgbClr val="16264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5800" y="5632704"/>
            <a:ext cx="5212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 erodes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80760" y="5632704"/>
            <a:ext cx="542239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the architecture flow now; the ontology flywheel compounds the lead.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executive leadership review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— FAST-FORWARD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all seven engines in parallel — starting now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start from scratch: a working platform and a ~175-agent portfolio to convert already exist, so we onboard fast and run streams concurrently — not one gated stage at a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02736" cy="3657600"/>
          </a:xfrm>
          <a:prstGeom prst="roundRect">
            <a:avLst>
              <a:gd name="adj" fmla="val 2284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86384" y="2240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25786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 fast for early revenue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FB2D0"/>
                </a:solidFill>
              </a:rPr>
              <a:t>Convert the existing agent portfolio + brownfield agents onto UNAI — a ready pipeline, not a cold start.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FB2D0"/>
                </a:solidFill>
              </a:rPr>
              <a:t>Partner co-sell stood up with Databricks/Snowflake/Google/SAP.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FB2D0"/>
                </a:solidFill>
              </a:rPr>
              <a:t>Patent filings initiated in parallel.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4256" y="2057400"/>
            <a:ext cx="3602736" cy="3657600"/>
          </a:xfrm>
          <a:prstGeom prst="roundRect">
            <a:avLst>
              <a:gd name="adj" fmla="val 2284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0" y="2240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QUARTERS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5786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motion at full speed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08576" y="315468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FB2D0"/>
                </a:solidFill>
              </a:rPr>
              <a:t>Greenfield programs and the full Data &amp; AI vertical selling concurrently — no waiting for a gate.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FB2D0"/>
                </a:solidFill>
              </a:rPr>
              <a:t>Repeatable GTM and delivery capacity scaled at once.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FB2D0"/>
                </a:solidFill>
              </a:rPr>
              <a:t>Cloud-partner marketplaces live.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19872" y="2057400"/>
            <a:ext cx="3602736" cy="3657600"/>
          </a:xfrm>
          <a:prstGeom prst="roundRect">
            <a:avLst>
              <a:gd name="adj" fmla="val 2284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57616" y="2240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THROUGHOUT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57616" y="25786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portfolio compounds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94192" y="315468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FB2D0"/>
                </a:solidFill>
              </a:rPr>
              <a:t>New product portfolio (Cognition-/FinOps-as-a-Service, marketplace) launched alongside.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FB2D0"/>
                </a:solidFill>
              </a:rPr>
              <a:t>Ontology flywheel + patents widen the moat with every deployment.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FB2D0"/>
                </a:solidFill>
              </a:rPr>
              <a:t>Destination: $1B on a front-loaded ramp.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Fast-forward, not phased: the platform exists and a ~175-agent portfolio is ready to convert, so all seven streams launch together — scaling to ~$95M by 2030 on a front-loaded ramp, with $1B the long-term prize.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executive leadership review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697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3154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Hardening Road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4114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working demonstrator to enterprise-grade product — the team, the monthly releases, and the cadence to get there in six months.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executive leadership review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HARDENING ROAD · 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small, senior squad — built to scale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040880" cy="4251960"/>
          </a:xfrm>
          <a:prstGeom prst="roundRect">
            <a:avLst>
              <a:gd name="adj" fmla="val 1935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7922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 squad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0" y="1755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2D3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core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6858000" cy="493776"/>
          </a:xfrm>
          <a:prstGeom prst="rect">
            <a:avLst/>
          </a:prstGeom>
          <a:solidFill>
            <a:srgbClr val="1B2E5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Design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204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23360" y="22860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UX, release management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204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7889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ontology resolver, LLM router/economizer, APIs, multi-tenancy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264408"/>
            <a:ext cx="6858000" cy="493776"/>
          </a:xfrm>
          <a:prstGeom prst="rect">
            <a:avLst/>
          </a:prstGeom>
          <a:solidFill>
            <a:srgbClr val="1B2E5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204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32918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 layer, agent / tool packs, evals &amp; answer quality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Connectors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204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23360" y="37947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/ Databricks / BigQuery / SAP connectors + ontology mapping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270248"/>
            <a:ext cx="6858000" cy="493776"/>
          </a:xfrm>
          <a:prstGeom prst="rect">
            <a:avLst/>
          </a:prstGeom>
          <a:solidFill>
            <a:srgbClr val="1B2E5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7724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/ DevOps / Security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5204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23360" y="42976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In-tenant multi-cloud deploy, secrets, hardening, SAP-compliance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4800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Test Automation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52044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23360" y="48006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Regression, load, the release green-gate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5276088"/>
            <a:ext cx="6858000" cy="493776"/>
          </a:xfrm>
          <a:prstGeom prst="rect">
            <a:avLst/>
          </a:prstGeom>
          <a:solidFill>
            <a:srgbClr val="1B2E57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77240" y="5303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/ Field Eng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52044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023360" y="53035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Design-partner onboarding + brownfield conversions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72400" y="1645920"/>
            <a:ext cx="3867912" cy="4251960"/>
          </a:xfrm>
          <a:prstGeom prst="roundRect">
            <a:avLst>
              <a:gd name="adj" fmla="val 2128"/>
            </a:avLst>
          </a:prstGeom>
          <a:solidFill>
            <a:srgbClr val="1B2E57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001000" y="17922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046720" y="2240280"/>
            <a:ext cx="3383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0FB"/>
                </a:solidFill>
              </a:rPr>
              <a:t>One product squad on one shared codebase — the same consolidation thesis, applied to how we build.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0FB"/>
                </a:solidFill>
              </a:rPr>
              <a:t>Fractional / shared: Chief Architect (product owner), Security &amp; Compliance officer, GTM &amp; Partnerships (from Month 4).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0FB"/>
                </a:solidFill>
              </a:rPr>
              <a:t>Scales to ~28 by year-end as streams ramp — add engineers, field and GTM, not management layers.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EAF0FB"/>
                </a:solidFill>
              </a:rPr>
              <a:t>Reuses the existing ~175-agent portfolio, so the team onboards, not rebuilds.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lean staffing — senior-heavy, low-overhead; validate exact counts against Bristlecone capacity planning.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executive leadership review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HARDENING ROAD · RELEASES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months, six releases — a new capability every month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02736" cy="1920240"/>
          </a:xfrm>
          <a:prstGeom prst="roundRect">
            <a:avLst>
              <a:gd name="adj" fmla="val 428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783080"/>
            <a:ext cx="128016" cy="1508760"/>
          </a:xfrm>
          <a:prstGeom prst="roundRect">
            <a:avLst>
              <a:gd name="adj" fmla="val 42857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1783080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Core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05840" y="2459736"/>
            <a:ext cx="29443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runtime + SSO / RBAC + secrets vault; governance &amp; session-key productized.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3200400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run in any customer tenant.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98264" y="1600200"/>
            <a:ext cx="3602736" cy="1920240"/>
          </a:xfrm>
          <a:prstGeom prst="roundRect">
            <a:avLst>
              <a:gd name="adj" fmla="val 428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99432" y="1783080"/>
            <a:ext cx="128016" cy="1508760"/>
          </a:xfrm>
          <a:prstGeom prst="roundRect">
            <a:avLst>
              <a:gd name="adj" fmla="val 42857"/>
            </a:avLst>
          </a:prstGeom>
          <a:solidFill>
            <a:srgbClr val="4F8CF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55464" y="1783080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55464" y="205740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Cognition Layer GA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855464" y="2459736"/>
            <a:ext cx="29443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ontology library + confidence-scored self-onboarding, at scale.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55464" y="3200400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 — onboarding gets faster each deployment.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47888" y="1600200"/>
            <a:ext cx="3602736" cy="1920240"/>
          </a:xfrm>
          <a:prstGeom prst="roundRect">
            <a:avLst>
              <a:gd name="adj" fmla="val 428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449056" y="1783080"/>
            <a:ext cx="128016" cy="1508760"/>
          </a:xfrm>
          <a:prstGeom prst="roundRect">
            <a:avLst>
              <a:gd name="adj" fmla="val 42857"/>
            </a:avLst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705088" y="1783080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05088" y="2057400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Anywhere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705088" y="2459736"/>
            <a:ext cx="29443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in-tenant deploy (Snowflake SPCS · Databricks Apps · Cloud Run) + warehouse-native SQL access.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05088" y="3200400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Cloud-agnostic — runs where the data already is.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739896"/>
            <a:ext cx="3602736" cy="1920240"/>
          </a:xfrm>
          <a:prstGeom prst="roundRect">
            <a:avLst>
              <a:gd name="adj" fmla="val 428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49808" y="3922776"/>
            <a:ext cx="128016" cy="1508760"/>
          </a:xfrm>
          <a:prstGeom prst="roundRect">
            <a:avLst>
              <a:gd name="adj" fmla="val 42857"/>
            </a:avLst>
          </a:prstGeom>
          <a:solidFill>
            <a:srgbClr val="9B7BE0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05840" y="3922776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7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197096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Brownfield Converter GA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005840" y="4599432"/>
            <a:ext cx="29443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LangGraph / CrewAI / Assistants → UNAI at scale + a measured savings certificate.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05840" y="5340096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B7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that onboards the ~175-agent portfolio.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98264" y="3739896"/>
            <a:ext cx="3602736" cy="1920240"/>
          </a:xfrm>
          <a:prstGeom prst="roundRect">
            <a:avLst>
              <a:gd name="adj" fmla="val 428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599432" y="3922776"/>
            <a:ext cx="128016" cy="1508760"/>
          </a:xfrm>
          <a:prstGeom prst="roundRect">
            <a:avLst>
              <a:gd name="adj" fmla="val 42857"/>
            </a:avLst>
          </a:prstGeom>
          <a:solidFill>
            <a:srgbClr val="E9C46A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855464" y="3922776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55464" y="4197096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FinOps GA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855464" y="4599432"/>
            <a:ext cx="29443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/ value gates, unified audit, Agent-FinOps token/cost dashboards + evals.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55464" y="5340096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explainable, cost-predictable.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47888" y="3739896"/>
            <a:ext cx="3602736" cy="1920240"/>
          </a:xfrm>
          <a:prstGeom prst="roundRect">
            <a:avLst>
              <a:gd name="adj" fmla="val 428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8449056" y="3922776"/>
            <a:ext cx="128016" cy="1508760"/>
          </a:xfrm>
          <a:prstGeom prst="roundRect">
            <a:avLst>
              <a:gd name="adj" fmla="val 42857"/>
            </a:avLst>
          </a:prstGeom>
          <a:solidFill>
            <a:srgbClr val="E27C9A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705088" y="3922776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2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705088" y="4197096"/>
            <a:ext cx="296265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&amp; Vertical Packs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705088" y="4599432"/>
            <a:ext cx="29443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marketplace + 32 certified IBP use-case packs + partner co-sell listings.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705088" y="5340096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2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sellable vertical suite — ready for co-sell.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release is shippable and demoable — champions get something new to sell every month, and every release passes the green-gate + security review before it goes out.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executive leadership review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HARDENING ROAD · 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deliver — cadence and resourcing ramp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32120" cy="4251960"/>
          </a:xfrm>
          <a:prstGeom prst="roundRect">
            <a:avLst>
              <a:gd name="adj" fmla="val 1935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7922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cadence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</a:rPr>
              <a:t>Two-week sprints on a monthly release train — a predictable, demoable increment every month.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</a:rPr>
              <a:t>Every release gated: the automated green-gate suite (all checks pass) + a security/compliance review.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</a:rPr>
              <a:t>Design partners onboarded from Month 2 — real feedback into every release.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</a:rPr>
              <a:t>Measured-not-asserted: token savings and quality tracked release-over-release.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76672" cy="4251960"/>
          </a:xfrm>
          <a:prstGeom prst="roundRect">
            <a:avLst>
              <a:gd name="adj" fmla="val 1935"/>
            </a:avLst>
          </a:prstGeom>
          <a:solidFill>
            <a:srgbClr val="1B2E57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92240" y="179222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ramp (core squad)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0" y="2386584"/>
            <a:ext cx="1970116" cy="274320"/>
          </a:xfrm>
          <a:prstGeom prst="roundRect">
            <a:avLst>
              <a:gd name="adj" fmla="val 13333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88136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2834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32320" y="2889504"/>
            <a:ext cx="2298469" cy="274320"/>
          </a:xfrm>
          <a:prstGeom prst="roundRect">
            <a:avLst>
              <a:gd name="adj" fmla="val 13333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881360" y="28346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3337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32320" y="3392424"/>
            <a:ext cx="2626822" cy="274320"/>
          </a:xfrm>
          <a:prstGeom prst="roundRect">
            <a:avLst>
              <a:gd name="adj" fmla="val 13333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881360" y="3337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3840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32320" y="3895344"/>
            <a:ext cx="2955175" cy="274320"/>
          </a:xfrm>
          <a:prstGeom prst="roundRect">
            <a:avLst>
              <a:gd name="adj" fmla="val 13333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881360" y="3840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4343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32320" y="4398264"/>
            <a:ext cx="3119351" cy="274320"/>
          </a:xfrm>
          <a:prstGeom prst="roundRect">
            <a:avLst>
              <a:gd name="adj" fmla="val 13333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881360" y="4343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4846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132320" y="4901184"/>
            <a:ext cx="3283527" cy="274320"/>
          </a:xfrm>
          <a:prstGeom prst="roundRect">
            <a:avLst>
              <a:gd name="adj" fmla="val 13333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881360" y="4846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5440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to start → ~20 by Month 6, then ~28 at scale as streams ramp. Senior-heavy, low management overhead.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executive leadership review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&amp;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and responsible by design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58968" cy="1828800"/>
          </a:xfrm>
          <a:prstGeom prst="roundRect">
            <a:avLst>
              <a:gd name="adj" fmla="val 45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98424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96312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thresholds and $-value gates route exceptions to a person; high-stakes actions never run unattended.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81344" y="1783080"/>
            <a:ext cx="5458968" cy="1828800"/>
          </a:xfrm>
          <a:prstGeom prst="roundRect">
            <a:avLst>
              <a:gd name="adj" fmla="val 45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55664" y="198424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audit trail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55664" y="2496312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carries confidence, attribution and a plain-English rationale — one unified, inspectable record.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458968" cy="1828800"/>
          </a:xfrm>
          <a:prstGeom prst="roundRect">
            <a:avLst>
              <a:gd name="adj" fmla="val 45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399592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in-tenant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507992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governed lakehouse copy inside the customer's cloud; read-only first, writes only via certified channels.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81344" y="3794760"/>
            <a:ext cx="5458968" cy="1828800"/>
          </a:xfrm>
          <a:prstGeom prst="roundRect">
            <a:avLst>
              <a:gd name="adj" fmla="val 4500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55664" y="399592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by construction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55664" y="4507992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SAP and enterprise data-access policies; no vendor or cloud lock-in.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executive leadership review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recommendation — and what we need from you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896112"/>
          </a:xfrm>
          <a:prstGeom prst="roundRect">
            <a:avLst>
              <a:gd name="adj" fmla="val 9184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99339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9933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63040" y="1911096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0" y="1911096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UNAI as a strategic platform bet for Bristlecone.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1091672" cy="896112"/>
          </a:xfrm>
          <a:prstGeom prst="roundRect">
            <a:avLst>
              <a:gd name="adj" fmla="val 9184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77240" y="299923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29992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463040" y="2916936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0" y="2916936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full productization + GTM investment now — funded to launch all seven streams in parallel, at speed.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91672" cy="896112"/>
          </a:xfrm>
          <a:prstGeom prst="roundRect">
            <a:avLst>
              <a:gd name="adj" fmla="val 9184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" y="400507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0050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463040" y="3922776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40480" y="3922776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 executive sponsor and a live supply-chain use case as the first design partner.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800600"/>
            <a:ext cx="11091672" cy="896112"/>
          </a:xfrm>
          <a:prstGeom prst="roundRect">
            <a:avLst>
              <a:gd name="adj" fmla="val 9184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77240" y="501091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2A36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50109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463040" y="4928616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40480" y="4928616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patent filing on the architecture flow now.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proceed. The technology is proven, the assets exist, and the window is now.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executive leadership review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$1B business case — detail &amp; assumptions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Condensed from the companion “Road to $1B by 2030” deck.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executive leadership review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BUILD-UP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streams — realistic ramp to ~$95M by 2030 ($M, base)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389120" y="16459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870448" y="16459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51776" y="16459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833104" y="16459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314432" y="16459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084832"/>
            <a:ext cx="11247120" cy="0"/>
          </a:xfrm>
          <a:prstGeom prst="line">
            <a:avLst/>
          </a:prstGeom>
          <a:noFill/>
          <a:ln w="19050">
            <a:solidFill>
              <a:srgbClr val="18C5B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development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89120" y="21031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70448" y="21031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51776" y="21031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833104" y="21031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314432" y="21031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2542032"/>
            <a:ext cx="11247120" cy="457200"/>
          </a:xfrm>
          <a:prstGeom prst="rect">
            <a:avLst/>
          </a:prstGeom>
          <a:solidFill>
            <a:srgbClr val="16264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vertical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389120" y="25603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870448" y="25603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51776" y="25603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833104" y="25603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314432" y="25603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3017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389120" y="30175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870448" y="30175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51776" y="30175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833104" y="30175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314432" y="30175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3456432"/>
            <a:ext cx="11247120" cy="457200"/>
          </a:xfrm>
          <a:prstGeom prst="rect">
            <a:avLst/>
          </a:prstGeom>
          <a:solidFill>
            <a:srgbClr val="16264A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85800" y="3474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389120" y="34747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870448" y="34747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351776" y="34747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833104" y="34747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0314432" y="34747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8580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portfolio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389120" y="39319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870448" y="39319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351776" y="39319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833104" y="39319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0314432" y="39319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48640" y="4370832"/>
            <a:ext cx="11247120" cy="457200"/>
          </a:xfrm>
          <a:prstGeom prst="rect">
            <a:avLst/>
          </a:prstGeom>
          <a:solidFill>
            <a:srgbClr val="16264A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85800" y="4389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/ IP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389120" y="43891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870448" y="43891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7351776" y="43891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833104" y="43891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10314432" y="43891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85800" y="4846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4389120" y="48463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5870448" y="48463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7351776" y="48463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8833104" y="48463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10314432" y="48463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548640" y="5285232"/>
            <a:ext cx="11247120" cy="457200"/>
          </a:xfrm>
          <a:prstGeom prst="rect">
            <a:avLst/>
          </a:prstGeom>
          <a:solidFill>
            <a:srgbClr val="1B2E57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685800" y="5303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4389120" y="53035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5870448" y="53035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7351776" y="53035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8833104" y="53035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10314432" y="53035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Front-loaded ramp — cumulative 2026–2030 ≈ $238M (base). Upside ~$180M annual by 2030; $1B is the long-term aspiration, not this plan.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Illustrative, benchmark-anchored. Validate against Bristlecone pipeline and partner programs before external use.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executive leadership review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STREAM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&amp; product strategy per stream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Partner, Vertical, Greenfield, Brownfield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1965960"/>
          </a:xfrm>
          <a:prstGeom prst="roundRect">
            <a:avLst>
              <a:gd name="adj" fmla="val 418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68096" y="1892808"/>
            <a:ext cx="146304" cy="502920"/>
          </a:xfrm>
          <a:prstGeom prst="roundRect">
            <a:avLst>
              <a:gd name="adj" fmla="val 37500"/>
            </a:avLst>
          </a:prstGeom>
          <a:solidFill>
            <a:srgbClr val="18C5B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24128" y="1874520"/>
            <a:ext cx="3685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development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828032" y="1874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8C5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2441448"/>
            <a:ext cx="5010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— </a:t>
            </a:r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Co-sell with Databricks, Snowflake, Google &amp; SAP; marketplace listings + revenue share; joint solution accelerators.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3017520"/>
            <a:ext cx="5010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scales — </a:t>
            </a:r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Partner-influenced deals + marketplace; ramps as co-sell programs mature; anchored on ontologies already configured for DBX/SNOW/GCP.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5513832" cy="1965960"/>
          </a:xfrm>
          <a:prstGeom prst="roundRect">
            <a:avLst>
              <a:gd name="adj" fmla="val 418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528816" y="1892808"/>
            <a:ext cx="146304" cy="502920"/>
          </a:xfrm>
          <a:prstGeom prst="roundRect">
            <a:avLst>
              <a:gd name="adj" fmla="val 37500"/>
            </a:avLst>
          </a:prstGeom>
          <a:solidFill>
            <a:srgbClr val="4F8C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84848" y="1874520"/>
            <a:ext cx="3685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vertical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588752" y="1874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F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65392" y="2441448"/>
            <a:ext cx="5010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— </a:t>
            </a:r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subscription; vertical solution license (the 32-use-case supply-chain suite); managed run; expansion by configuration.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65392" y="3017520"/>
            <a:ext cx="5010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scales — </a:t>
            </a:r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platform + suite to SC engagements; land one use case → expand to the vertical; highest-value, builds over time.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5513832" cy="1965960"/>
          </a:xfrm>
          <a:prstGeom prst="roundRect">
            <a:avLst>
              <a:gd name="adj" fmla="val 418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68096" y="4078224"/>
            <a:ext cx="146304" cy="502920"/>
          </a:xfrm>
          <a:prstGeom prst="roundRect">
            <a:avLst>
              <a:gd name="adj" fmla="val 37500"/>
            </a:avLst>
          </a:prstGeom>
          <a:solidFill>
            <a:srgbClr val="22D3A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24128" y="4059936"/>
            <a:ext cx="3685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828032" y="405993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D3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4672" y="4626864"/>
            <a:ext cx="5010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— </a:t>
            </a:r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services; platform license on every build; onboarding fee (ontology mapped in days); land-and-expand.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4672" y="5202936"/>
            <a:ext cx="5010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scales — </a:t>
            </a:r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Services-led agentic implementations — Bristlecone's core, repeatable motion; platform + services + first agents per program.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3877056"/>
            <a:ext cx="5513832" cy="1965960"/>
          </a:xfrm>
          <a:prstGeom prst="roundRect">
            <a:avLst>
              <a:gd name="adj" fmla="val 418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528816" y="4078224"/>
            <a:ext cx="146304" cy="502920"/>
          </a:xfrm>
          <a:prstGeom prst="roundRect">
            <a:avLst>
              <a:gd name="adj" fmla="val 37500"/>
            </a:avLst>
          </a:prstGeom>
          <a:solidFill>
            <a:srgbClr val="9B7BE0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784848" y="4059936"/>
            <a:ext cx="3685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 — convert &amp; enhance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0588752" y="405993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B7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65392" y="4626864"/>
            <a:ext cx="5010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B7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— </a:t>
            </a:r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services (LangGraph / CrewAI / Assistants → UNAI); platform uplift; share of proven savings; enhancement retainers.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65392" y="5202936"/>
            <a:ext cx="5010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B7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scales — </a:t>
            </a:r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existing agent sprawl to UNAI; consolidation cuts inference ~50% (measured); savings-share deepens the switching moat.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executive leadership review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STREAM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&amp; product strategy per stream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portfolio, Patents, New products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13832" cy="1965960"/>
          </a:xfrm>
          <a:prstGeom prst="roundRect">
            <a:avLst>
              <a:gd name="adj" fmla="val 418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68096" y="1892808"/>
            <a:ext cx="146304" cy="502920"/>
          </a:xfrm>
          <a:prstGeom prst="roundRect">
            <a:avLst>
              <a:gd name="adj" fmla="val 37500"/>
            </a:avLst>
          </a:prstGeom>
          <a:solidFill>
            <a:srgbClr val="E9C46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24128" y="1874520"/>
            <a:ext cx="3685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portfolio (agent library)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828032" y="1874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2441448"/>
            <a:ext cx="5010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— </a:t>
            </a:r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Bristlecone's existing agent portfolio (~175 across 20 domains) onto UNAI as priced accelerators; monetize delivery-margin uplift.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3017520"/>
            <a:ext cx="5010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scales — </a:t>
            </a:r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 conversion pipeline → fast to revenue once onboarded; services GM uplift; built from real customer engagements.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5513832" cy="1965960"/>
          </a:xfrm>
          <a:prstGeom prst="roundRect">
            <a:avLst>
              <a:gd name="adj" fmla="val 418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528816" y="1892808"/>
            <a:ext cx="146304" cy="502920"/>
          </a:xfrm>
          <a:prstGeom prst="roundRect">
            <a:avLst>
              <a:gd name="adj" fmla="val 37500"/>
            </a:avLst>
          </a:prstGeom>
          <a:solidFill>
            <a:srgbClr val="F2A36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84848" y="1874520"/>
            <a:ext cx="3685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/ IP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588752" y="1874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A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65392" y="2441448"/>
            <a:ext cx="5010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A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— </a:t>
            </a:r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licensing of the runtime / ontology-resolver patents; marketplace &amp; partner royalties; cross-licensing leverage.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65392" y="3017520"/>
            <a:ext cx="5010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2A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scales — </a:t>
            </a:r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direct revenue; primary value is defensive — protects the other streams and lifts strategic valuation.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5513832" cy="1965960"/>
          </a:xfrm>
          <a:prstGeom prst="roundRect">
            <a:avLst>
              <a:gd name="adj" fmla="val 4186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68096" y="4078224"/>
            <a:ext cx="146304" cy="502920"/>
          </a:xfrm>
          <a:prstGeom prst="roundRect">
            <a:avLst>
              <a:gd name="adj" fmla="val 37500"/>
            </a:avLst>
          </a:prstGeom>
          <a:solidFill>
            <a:srgbClr val="E27C9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24128" y="4059936"/>
            <a:ext cx="3685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portfolio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828032" y="405993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27C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4672" y="4626864"/>
            <a:ext cx="5010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— </a:t>
            </a:r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Cognition-as-a-Service; Agent-FinOps (token/cost governance); governed agent marketplace; vertical SKUs beyond supply chain.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4672" y="5202936"/>
            <a:ext cx="50109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27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scales — </a:t>
            </a:r>
            <a:pPr indent="0" marL="0">
              <a:buNone/>
            </a:pPr>
            <a:r>
              <a:rPr lang="en-US" sz="105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Nascent SaaS ARR, early but high-multiple; seeded by the platform already built; establishes product-company positioning.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Bristlecone · Confidential — for executive leadership review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C5B4"/>
                </a:solidFill>
                <a:latin typeface="Calibri"/>
              </a:rPr>
              <a:t>PRODUCT EXTENSIONS &amp; MATURITY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AF0FB"/>
                </a:solidFill>
                <a:latin typeface="Cambria"/>
              </a:rPr>
              <a:t>The 3-year platform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00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22D3AA"/>
                </a:solidFill>
                <a:latin typeface="Calibri"/>
              </a:rPr>
              <a:t>Build the cognition once — every extension is a manifest, adapter or ontology overlay, not a rebuild (≥70% runtime reuse).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221992" cy="2834640"/>
          </a:xfrm>
          <a:prstGeom prst="roundRect">
            <a:avLst/>
          </a:prstGeom>
          <a:solidFill>
            <a:srgbClr val="16264A"/>
          </a:solidFill>
          <a:ln w="12700">
            <a:solidFill>
              <a:srgbClr val="2C4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03604" y="2606040"/>
            <a:ext cx="512064" cy="512064"/>
          </a:xfrm>
          <a:prstGeom prst="ellipse">
            <a:avLst/>
          </a:prstGeom>
          <a:solidFill>
            <a:srgbClr val="18C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03604" y="2606040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A33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2039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AF0FB"/>
                </a:solidFill>
                <a:latin typeface="Cambria"/>
              </a:rPr>
              <a:t>Deeper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3749039"/>
            <a:ext cx="1965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9FB2D0"/>
                </a:solidFill>
                <a:latin typeface="Calibri"/>
              </a:rPr>
              <a:t>More SC use cases in existing 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9504" y="2377440"/>
            <a:ext cx="2221992" cy="2834640"/>
          </a:xfrm>
          <a:prstGeom prst="roundRect">
            <a:avLst/>
          </a:prstGeom>
          <a:solidFill>
            <a:srgbClr val="16264A"/>
          </a:solidFill>
          <a:ln w="12700">
            <a:solidFill>
              <a:srgbClr val="2C4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44468" y="2606040"/>
            <a:ext cx="512064" cy="512064"/>
          </a:xfrm>
          <a:prstGeom prst="ellipse">
            <a:avLst/>
          </a:prstGeom>
          <a:solidFill>
            <a:srgbClr val="18C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4468" y="2606040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A33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4" y="3246120"/>
            <a:ext cx="2039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AF0FB"/>
                </a:solidFill>
                <a:latin typeface="Cambria"/>
              </a:rPr>
              <a:t>Wider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749039"/>
            <a:ext cx="1965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9FB2D0"/>
                </a:solidFill>
                <a:latin typeface="Calibri"/>
              </a:rPr>
              <a:t>Adjacent functions: procurement, finance, quality, ESG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0368" y="2377440"/>
            <a:ext cx="2221992" cy="2834640"/>
          </a:xfrm>
          <a:prstGeom prst="roundRect">
            <a:avLst/>
          </a:prstGeom>
          <a:solidFill>
            <a:srgbClr val="16264A"/>
          </a:solidFill>
          <a:ln w="12700">
            <a:solidFill>
              <a:srgbClr val="2C4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85331" y="2606040"/>
            <a:ext cx="512064" cy="512064"/>
          </a:xfrm>
          <a:prstGeom prst="ellipse">
            <a:avLst/>
          </a:prstGeom>
          <a:solidFill>
            <a:srgbClr val="18C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5331" y="2606040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A33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7" y="3246120"/>
            <a:ext cx="2039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AF0FB"/>
                </a:solidFill>
                <a:latin typeface="Cambria"/>
              </a:rPr>
              <a:t>Vertical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3" y="3749039"/>
            <a:ext cx="1965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9FB2D0"/>
                </a:solidFill>
                <a:latin typeface="Calibri"/>
              </a:rPr>
              <a:t>Same packs, tuned per industry (ontology overlay)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2377440"/>
            <a:ext cx="2221992" cy="2834640"/>
          </a:xfrm>
          <a:prstGeom prst="roundRect">
            <a:avLst/>
          </a:prstGeom>
          <a:solidFill>
            <a:srgbClr val="16264A"/>
          </a:solidFill>
          <a:ln w="12700">
            <a:solidFill>
              <a:srgbClr val="2C4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26196" y="2606040"/>
            <a:ext cx="512064" cy="512064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6196" y="2606040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A33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3246120"/>
            <a:ext cx="2039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AF0FB"/>
                </a:solidFill>
                <a:latin typeface="Cambria"/>
              </a:rPr>
              <a:t>Surfaces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3749039"/>
            <a:ext cx="1965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9FB2D0"/>
                </a:solidFill>
                <a:latin typeface="Calibri"/>
              </a:rPr>
              <a:t>MCP server, embeds, warehouse-native, API, marketplace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12096" y="2377440"/>
            <a:ext cx="2221992" cy="2834640"/>
          </a:xfrm>
          <a:prstGeom prst="roundRect">
            <a:avLst/>
          </a:prstGeom>
          <a:solidFill>
            <a:srgbClr val="16264A"/>
          </a:solidFill>
          <a:ln w="12700">
            <a:solidFill>
              <a:srgbClr val="2C4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767060" y="2606040"/>
            <a:ext cx="512064" cy="512064"/>
          </a:xfrm>
          <a:prstGeom prst="ellipse">
            <a:avLst/>
          </a:prstGeom>
          <a:solidFill>
            <a:srgbClr val="E25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67060" y="2606040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A33"/>
                </a:solidFill>
                <a:latin typeface="Cambr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3536" y="3246120"/>
            <a:ext cx="20391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AF0FB"/>
                </a:solidFill>
                <a:latin typeface="Cambria"/>
              </a:rPr>
              <a:t>Beyond SC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0112" y="3749039"/>
            <a:ext cx="1965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9FB2D0"/>
                </a:solidFill>
                <a:latin typeface="Calibri"/>
              </a:rPr>
              <a:t>Horizontal: any decision-dense domain (later)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22D3AA"/>
                </a:solidFill>
                <a:latin typeface="Calibri"/>
              </a:rPr>
              <a:t>Reuse decreases left → right; ambition increases. Fund left-to-right, gate each on proof.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9FB2D0"/>
                </a:solidFill>
                <a:latin typeface="Calibri"/>
              </a:rPr>
              <a:t>Bristlecone · Confidential — for executive leadership review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C5B4"/>
                </a:solidFill>
                <a:latin typeface="Calibri"/>
              </a:rPr>
              <a:t>PRODUCT EXTENSIONS &amp; MATURITY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AF0FB"/>
                </a:solidFill>
                <a:latin typeface="Cambria"/>
              </a:rPr>
              <a:t>Where we take it — Year 1 to Year 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91672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3179064"/>
                <a:gridCol w="3179064"/>
                <a:gridCol w="3179064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AF0FB"/>
                          </a:solidFill>
                          <a:latin typeface="Cambria"/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0E1A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AF0FB"/>
                          </a:solidFill>
                          <a:latin typeface="Cambria"/>
                        </a:rPr>
                        <a:t>Year 1 — Deepen &amp; prove</a:t>
                      </a:r>
                    </a:p>
                  </a:txBody>
                  <a:tcPr marL="76200" marR="76200" marT="38100" marB="38100" anchor="ctr">
                    <a:solidFill>
                      <a:srgbClr val="18C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E1A33"/>
                          </a:solidFill>
                          <a:latin typeface="Cambria"/>
                        </a:rPr>
                        <a:t>Year 2 — Widen &amp; surface</a:t>
                      </a:r>
                    </a:p>
                  </a:txBody>
                  <a:tcPr marL="76200" marR="76200" marT="38100" marB="38100" anchor="ctr">
                    <a:solidFill>
                      <a:srgbClr val="22D3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AF0FB"/>
                          </a:solidFill>
                          <a:latin typeface="Cambria"/>
                        </a:rPr>
                        <a:t>Year 3 — Platform &amp; ecosystem</a:t>
                      </a:r>
                    </a:p>
                  </a:txBody>
                  <a:tcPr marL="76200" marR="76200" marT="38100" marB="38100" anchor="ctr">
                    <a:solidFill>
                      <a:srgbClr val="E9C46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22D3AA"/>
                          </a:solidFill>
                          <a:latin typeface="Cambria"/>
                        </a:rPr>
                        <a:t>Cognition</a:t>
                      </a:r>
                    </a:p>
                  </a:txBody>
                  <a:tcPr marL="76200" marR="76200" marT="38100" marB="38100" anchor="ctr"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EAF0FB"/>
                          </a:solidFill>
                          <a:latin typeface="Calibri"/>
                        </a:rPr>
                        <a:t>Complete core SC packs; harden control tower</a:t>
                      </a:r>
                    </a:p>
                  </a:txBody>
                  <a:tcPr marL="76200" marR="76200" marT="38100" marB="38100" anchor="ctr"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EAF0FB"/>
                          </a:solidFill>
                          <a:latin typeface="Calibri"/>
                        </a:rPr>
                        <a:t>Adjacent functions: procurement, finance ops, quality/MRO, ESG</a:t>
                      </a:r>
                    </a:p>
                  </a:txBody>
                  <a:tcPr marL="76200" marR="76200" marT="38100" marB="38100" anchor="ctr"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EAF0FB"/>
                          </a:solidFill>
                          <a:latin typeface="Calibri"/>
                        </a:rPr>
                        <a:t>Cross-domain / horizontal pilots (ITSM, finance)</a:t>
                      </a:r>
                    </a:p>
                  </a:txBody>
                  <a:tcPr marL="76200" marR="76200" marT="38100" marB="38100" anchor="ctr">
                    <a:solidFill>
                      <a:srgbClr val="16264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22D3AA"/>
                          </a:solidFill>
                          <a:latin typeface="Cambria"/>
                        </a:rPr>
                        <a:t>Verticals</a:t>
                      </a:r>
                    </a:p>
                  </a:txBody>
                  <a:tcPr marL="76200" marR="76200" marT="38100" marB="38100" anchor="ctr"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EAF0FB"/>
                          </a:solidFill>
                          <a:latin typeface="Calibri"/>
                        </a:rPr>
                        <a:t>1–2 lighthouse verticals (auto, hi-tech)</a:t>
                      </a:r>
                    </a:p>
                  </a:txBody>
                  <a:tcPr marL="76200" marR="76200" marT="38100" marB="38100" anchor="ctr">
                    <a:solidFill>
                      <a:srgbClr val="1B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EAF0FB"/>
                          </a:solidFill>
                          <a:latin typeface="Calibri"/>
                        </a:rPr>
                        <a:t>+2–3 verticals via ontology overlays (CPG, life sciences)</a:t>
                      </a:r>
                    </a:p>
                  </a:txBody>
                  <a:tcPr marL="76200" marR="76200" marT="38100" marB="38100" anchor="ctr">
                    <a:solidFill>
                      <a:srgbClr val="1B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EAF0FB"/>
                          </a:solidFill>
                          <a:latin typeface="Calibri"/>
                        </a:rPr>
                        <a:t>Vertical templates productized (industrial +)</a:t>
                      </a:r>
                    </a:p>
                  </a:txBody>
                  <a:tcPr marL="76200" marR="76200" marT="38100" marB="38100" anchor="ctr">
                    <a:solidFill>
                      <a:srgbClr val="1B2E5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22D3AA"/>
                          </a:solidFill>
                          <a:latin typeface="Cambria"/>
                        </a:rPr>
                        <a:t>Surfaces</a:t>
                      </a:r>
                    </a:p>
                  </a:txBody>
                  <a:tcPr marL="76200" marR="76200" marT="38100" marB="38100" anchor="ctr"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EAF0FB"/>
                          </a:solidFill>
                          <a:latin typeface="Calibri"/>
                        </a:rPr>
                        <a:t>In-app + warehouse-native (Databricks/Snowflake)</a:t>
                      </a:r>
                    </a:p>
                  </a:txBody>
                  <a:tcPr marL="76200" marR="76200" marT="38100" marB="38100" anchor="ctr"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EAF0FB"/>
                          </a:solidFill>
                          <a:latin typeface="Calibri"/>
                        </a:rPr>
                        <a:t>MCP server + Teams / ServiceNow embed</a:t>
                      </a:r>
                    </a:p>
                  </a:txBody>
                  <a:tcPr marL="76200" marR="76200" marT="38100" marB="38100" anchor="ctr"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EAF0FB"/>
                          </a:solidFill>
                          <a:latin typeface="Calibri"/>
                        </a:rPr>
                        <a:t>Public API/SDK + pack marketplace</a:t>
                      </a:r>
                    </a:p>
                  </a:txBody>
                  <a:tcPr marL="76200" marR="76200" marT="38100" marB="38100" anchor="ctr">
                    <a:solidFill>
                      <a:srgbClr val="16264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22D3AA"/>
                          </a:solidFill>
                          <a:latin typeface="Cambria"/>
                        </a:rPr>
                        <a:t>Reuse plays</a:t>
                      </a:r>
                    </a:p>
                  </a:txBody>
                  <a:tcPr marL="76200" marR="76200" marT="38100" marB="38100" anchor="ctr"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EAF0FB"/>
                          </a:solidFill>
                          <a:latin typeface="Calibri"/>
                        </a:rPr>
                        <a:t>Consolidation service (convert Gen-1 estates)</a:t>
                      </a:r>
                    </a:p>
                  </a:txBody>
                  <a:tcPr marL="76200" marR="76200" marT="38100" marB="38100" anchor="ctr">
                    <a:solidFill>
                      <a:srgbClr val="1B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EAF0FB"/>
                          </a:solidFill>
                          <a:latin typeface="Calibri"/>
                        </a:rPr>
                        <a:t>Ontology-as-a-service; governance layer</a:t>
                      </a:r>
                    </a:p>
                  </a:txBody>
                  <a:tcPr marL="76200" marR="76200" marT="38100" marB="38100" anchor="ctr">
                    <a:solidFill>
                      <a:srgbClr val="1B2E5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EAF0FB"/>
                          </a:solidFill>
                          <a:latin typeface="Calibri"/>
                        </a:rPr>
                        <a:t>Partner-built packs; white-label</a:t>
                      </a:r>
                    </a:p>
                  </a:txBody>
                  <a:tcPr marL="76200" marR="76200" marT="38100" marB="38100" anchor="ctr">
                    <a:solidFill>
                      <a:srgbClr val="1B2E5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22D3AA"/>
                          </a:solidFill>
                          <a:latin typeface="Cambria"/>
                        </a:rPr>
                        <a:t>Proof point</a:t>
                      </a:r>
                    </a:p>
                  </a:txBody>
                  <a:tcPr marL="76200" marR="76200" marT="38100" marB="38100" anchor="ctr"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EAF0FB"/>
                          </a:solidFill>
                          <a:latin typeface="Calibri"/>
                        </a:rPr>
                        <a:t>Measured savings + 2–3 design partners</a:t>
                      </a:r>
                    </a:p>
                  </a:txBody>
                  <a:tcPr marL="76200" marR="76200" marT="38100" marB="38100" anchor="ctr"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EAF0FB"/>
                          </a:solidFill>
                          <a:latin typeface="Calibri"/>
                        </a:rPr>
                        <a:t>First ARR + cloud co-sell listing</a:t>
                      </a:r>
                    </a:p>
                  </a:txBody>
                  <a:tcPr marL="76200" marR="76200" marT="38100" marB="38100" anchor="ctr"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EAF0FB"/>
                          </a:solidFill>
                          <a:latin typeface="Calibri"/>
                        </a:rPr>
                        <a:t>NRR &gt; 120%, ecosystem packs live</a:t>
                      </a:r>
                    </a:p>
                  </a:txBody>
                  <a:tcPr marL="76200" marR="76200" marT="38100" marB="38100" anchor="ctr">
                    <a:solidFill>
                      <a:srgbClr val="1626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9FB2D0"/>
                </a:solidFill>
                <a:latin typeface="Calibri"/>
              </a:rPr>
              <a:t>Bristlecone · Confidential — for executive leadership review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C5B4"/>
                </a:solidFill>
                <a:latin typeface="Calibri"/>
              </a:rPr>
              <a:t>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EAF0FB"/>
                </a:solidFill>
                <a:latin typeface="Cambria"/>
              </a:rPr>
              <a:t>Barriers to entry — why the giants partner, not compete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5448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22D3AA"/>
                </a:solidFill>
                <a:latin typeface="Calibri"/>
              </a:rPr>
              <a:t>They can build a runtime. What they won't easily do: go vertical, cut their own consumption, or fight their own ecosystem.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3630168" cy="2468880"/>
          </a:xfrm>
          <a:prstGeom prst="roundRect">
            <a:avLst/>
          </a:prstGeom>
          <a:solidFill>
            <a:srgbClr val="16264A"/>
          </a:solidFill>
          <a:ln w="12700">
            <a:solidFill>
              <a:srgbClr val="2C4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6384" y="2468880"/>
            <a:ext cx="457200" cy="457200"/>
          </a:xfrm>
          <a:prstGeom prst="ellipse">
            <a:avLst/>
          </a:prstGeom>
          <a:solidFill>
            <a:srgbClr val="18C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4688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A33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87168"/>
            <a:ext cx="27157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AF0FB"/>
                </a:solidFill>
                <a:latin typeface="Cambria"/>
              </a:rPr>
              <a:t>Vertical domain depth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063240"/>
            <a:ext cx="312724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9FB2D0"/>
                </a:solidFill>
                <a:latin typeface="Calibri"/>
              </a:rPr>
              <a:t>The moat is the supply-chain ontology + 33 use cases + domain math (MEIO, DDMRP, safety stock) — services-heavy work horizontal platforms avoid.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2240280"/>
            <a:ext cx="3630168" cy="2468880"/>
          </a:xfrm>
          <a:prstGeom prst="roundRect">
            <a:avLst/>
          </a:prstGeom>
          <a:solidFill>
            <a:srgbClr val="16264A"/>
          </a:solidFill>
          <a:ln w="12700">
            <a:solidFill>
              <a:srgbClr val="2C4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17136" y="2468880"/>
            <a:ext cx="457200" cy="457200"/>
          </a:xfrm>
          <a:prstGeom prst="ellipse">
            <a:avLst/>
          </a:prstGeom>
          <a:solidFill>
            <a:srgbClr val="22D3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24688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A33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2487168"/>
            <a:ext cx="27157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AF0FB"/>
                </a:solidFill>
                <a:latin typeface="Cambria"/>
              </a:rPr>
              <a:t>Learning ontology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063240"/>
            <a:ext cx="312724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9FB2D0"/>
                </a:solidFill>
                <a:latin typeface="Calibri"/>
              </a:rPr>
              <a:t>Every deployment teaches the field-mapping; accuracy compounds across customers. A late entrant starts cold — the closest thing to a durable moat.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2240280"/>
            <a:ext cx="3630168" cy="2468880"/>
          </a:xfrm>
          <a:prstGeom prst="roundRect">
            <a:avLst/>
          </a:prstGeom>
          <a:solidFill>
            <a:srgbClr val="16264A"/>
          </a:solidFill>
          <a:ln w="12700">
            <a:solidFill>
              <a:srgbClr val="2C4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47888" y="2468880"/>
            <a:ext cx="457200" cy="457200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4688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A33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2487168"/>
            <a:ext cx="27157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AF0FB"/>
                </a:solidFill>
                <a:latin typeface="Cambria"/>
              </a:rPr>
              <a:t>Business-model conflict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3063240"/>
            <a:ext cx="3127248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9FB2D0"/>
                </a:solidFill>
                <a:latin typeface="Calibri"/>
              </a:rPr>
              <a:t>Hyperscalers monetize consumption; UNAI cuts tokens via consolidation. A usage-priced vendor won't champion an architecture that shrinks usage.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37760"/>
            <a:ext cx="11091672" cy="1234440"/>
          </a:xfrm>
          <a:prstGeom prst="roundRect">
            <a:avLst/>
          </a:prstGeom>
          <a:solidFill>
            <a:srgbClr val="1B2E57"/>
          </a:solidFill>
          <a:ln w="12700">
            <a:solidFill>
              <a:srgbClr val="2C4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749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2574C"/>
                </a:solidFill>
                <a:latin typeface="Calibri"/>
              </a:rPr>
              <a:t>Where the barrier is thin (say it):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413248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EAF0FB"/>
                </a:solidFill>
                <a:latin typeface="Calibri"/>
              </a:rPr>
              <a:t>The runtime is replicable; a hyperscaler could fast-follow or acquire the vertical layer, and open semantic layers + MCP commoditize parts. So convert the window into a moat: go deep-and-fast on vertical IP, patent the defensible pieces, embed via co-sell to become the default SC layer, and compound proprietary cross-deployment learning before it closes.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65392"/>
            <a:ext cx="11064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9FB2D0"/>
                </a:solidFill>
                <a:latin typeface="Calibri"/>
              </a:rPr>
              <a:t>Bristlecone · Confidential — for executive leadership review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C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ASSUMPTIONS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EAF0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real, what's modeled, and the anchors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32120" cy="4206240"/>
          </a:xfrm>
          <a:prstGeom prst="roundRect">
            <a:avLst>
              <a:gd name="adj" fmla="val 1957"/>
            </a:avLst>
          </a:prstGeom>
          <a:solidFill>
            <a:srgbClr val="16264A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8105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2D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(verified)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</a:rPr>
              <a:t>~175-agent Bristlecone portfolio across 20 domains — built (QBR, Jul 2026); a conversion pipeline, not yet on UNAI.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</a:rPr>
              <a:t>A working UNAI application running full supply-chain workflows.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</a:rPr>
              <a:t>Token savings measured head-to-head vs a first-gen build.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</a:rPr>
              <a:t>Portfolio built from real customer engagements (DTNA, SDGE, Monster Energy, and more).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76672" cy="4206240"/>
          </a:xfrm>
          <a:prstGeom prst="roundRect">
            <a:avLst>
              <a:gd name="adj" fmla="val 1957"/>
            </a:avLst>
          </a:prstGeom>
          <a:solidFill>
            <a:srgbClr val="1B2E57"/>
          </a:solidFill>
          <a:ln w="12700">
            <a:solidFill>
              <a:srgbClr val="2C43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92240" y="18105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(illustrative)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19456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</a:rPr>
              <a:t>Revenue — base ~$95M / upside ~$180M UNAI-attributable by 2030 (SOM).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</a:rPr>
              <a:t>TAM $16.8B (agentic SC, Mordor) / $53B SCM-software pond (Gartner); SAM ~$4B.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</a:rPr>
              <a:t>Per-stream deal counts, ACVs, capture rates — modeled bottom-up.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AF0FB"/>
                </a:solidFill>
              </a:rPr>
              <a:t>Validate against Bristlecone pipeline before any external or contractual use.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&amp; Confidential — Bristlecone. Internal executive review only.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C5B4"/>
                </a:solidFill>
                <a:latin typeface="Calibri"/>
              </a:rPr>
              <a:t>APPENDIX · HOW UNAI WORKS</a:t>
            </a:r>
          </a:p>
        </p:txBody>
      </p:sp>
      <p:pic>
        <p:nvPicPr>
          <p:cNvPr id="4" name="Picture 3" descr="hiw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543" y="731520"/>
            <a:ext cx="9436608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748272"/>
            <a:ext cx="18288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" b="0">
                <a:solidFill>
                  <a:srgbClr val="0B0E14"/>
                </a:solidFill>
                <a:latin typeface="Calibri"/>
              </a:rPr>
              <a:t>UNAI-ARCH-ANALOGY-V1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57" y="274320"/>
            <a:ext cx="114238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Architecture Analogy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57" y="786384"/>
            <a:ext cx="114238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97B8"/>
                </a:solidFill>
                <a:latin typeface="Calibri"/>
              </a:rPr>
              <a:t>12 agents (each rebuilds every cognitive task) vs 1 UNAI runtime (built once, 12 capability packs)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57" y="1298448"/>
            <a:ext cx="5574782" cy="4261104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587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25" y="1444751"/>
            <a:ext cx="51724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🚚  </a:t>
            </a:r>
            <a:r>
              <a:rPr sz="1500" b="1">
                <a:solidFill>
                  <a:srgbClr val="FFFFFF"/>
                </a:solidFill>
                <a:latin typeface="Calibri"/>
              </a:rPr>
              <a:t>Traditional: 12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25" y="1773936"/>
            <a:ext cx="517244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Each agent independently sources, preps, seasons, and tastes — full cognitive overhead, every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25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25" y="2267712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🌮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Taco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03483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3483" y="2267712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🍔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Burger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1740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1740" y="2267712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🍕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Pizza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39998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9998" y="2267712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🍣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Sushi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25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25" y="3252216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BBQ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03483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03483" y="3252216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🥞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Crepe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21740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21740" y="3252216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🧇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Waffle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39998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9998" y="3252216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🍜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Noodle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25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25" y="4236720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🥪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Sandwich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03483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03483" y="4236720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🥟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Dumpling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21740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21740" y="4236720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Salad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39998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9998" y="4236720"/>
            <a:ext cx="121767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🥤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Smoothie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25" y="5175504"/>
            <a:ext cx="517244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48 tasks</a:t>
            </a:r>
            <a:r>
              <a:rPr sz="1150" b="0">
                <a:solidFill>
                  <a:srgbClr val="8A97B8"/>
                </a:solidFill>
                <a:latin typeface="Calibri"/>
              </a:rPr>
              <a:t>  = 12 agents × 4 cognitive tasks each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160" y="1298448"/>
            <a:ext cx="5574782" cy="4261104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587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4328" y="1444751"/>
            <a:ext cx="51724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D3AA"/>
                </a:solidFill>
                <a:latin typeface="Calibri"/>
              </a:rPr>
              <a:t>🍽️  </a:t>
            </a:r>
            <a:r>
              <a:rPr sz="1500" b="1">
                <a:solidFill>
                  <a:srgbClr val="FFFFFF"/>
                </a:solidFill>
                <a:latin typeface="Calibri"/>
              </a:rPr>
              <a:t>UNAI: 1 Shared Runtime + 12 Packs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4328" y="1773936"/>
            <a:ext cx="517244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Runtime runs all cognitive tasks ONCE, then sends ready results to 12 capability packs.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31831" y="21945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A202C"/>
          </a:solidFill>
          <a:ln w="12700">
            <a:solidFill>
              <a:srgbClr val="22D3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31831" y="2194560"/>
            <a:ext cx="2377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AA"/>
                </a:solidFill>
                <a:latin typeface="Calibri"/>
              </a:rPr>
              <a:t>🔍  UNAI · shared runtime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34328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4328" y="2651760"/>
            <a:ext cx="10873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🛒 Source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96019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96019" y="2651760"/>
            <a:ext cx="10873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🔪 Prep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57711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57711" y="2651760"/>
            <a:ext cx="10873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🧂 Season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19402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9402" y="2651760"/>
            <a:ext cx="1087371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👅 Taste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34328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34328" y="3182112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🌮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Taco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52585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52585" y="3182112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🍔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Burger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70843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70843" y="3182112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🍕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Pizza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89100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89100" y="3182112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🍣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Sushi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34328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34328" y="3861816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BBQ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52585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52585" y="3861816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🥞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Crepe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70843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70843" y="3861816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🧇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Waffle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389100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89100" y="3861816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🍜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Noodle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34328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34328" y="4541520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🥪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Sandwich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52585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52585" y="4541520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🥟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Dumpling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70843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70843" y="4541520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Salad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389100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389100" y="4541520"/>
            <a:ext cx="1217673" cy="5425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🥤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Smoothie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34328" y="5175504"/>
            <a:ext cx="517244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D3AA"/>
                </a:solidFill>
                <a:latin typeface="Calibri"/>
              </a:rPr>
              <a:t>16 tasks</a:t>
            </a:r>
            <a:r>
              <a:rPr sz="1150" b="0">
                <a:solidFill>
                  <a:srgbClr val="8A97B8"/>
                </a:solidFill>
                <a:latin typeface="Calibri"/>
              </a:rPr>
              <a:t>  = 4 shared tasks + 12 pack calls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84057" y="5742432"/>
            <a:ext cx="3625081" cy="1024128"/>
          </a:xfrm>
          <a:prstGeom prst="roundRect">
            <a:avLst>
              <a:gd name="adj" fmla="val 6000"/>
            </a:avLst>
          </a:prstGeom>
          <a:solidFill>
            <a:srgbClr val="12161F"/>
          </a:solidFill>
          <a:ln w="1587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1801" y="5742432"/>
            <a:ext cx="3149593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🚚  TRADITIONAL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FF6B6B"/>
                </a:solidFill>
                <a:latin typeface="Calibri"/>
              </a:rPr>
              <a:t>48 tasks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12 agents × 4 cognitive tasks each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283459" y="5742432"/>
            <a:ext cx="3625081" cy="1024128"/>
          </a:xfrm>
          <a:prstGeom prst="roundRect">
            <a:avLst>
              <a:gd name="adj" fmla="val 6000"/>
            </a:avLst>
          </a:prstGeom>
          <a:solidFill>
            <a:srgbClr val="12161F"/>
          </a:solidFill>
          <a:ln w="1587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21203" y="5742432"/>
            <a:ext cx="3149593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2D3AA"/>
                </a:solidFill>
                <a:latin typeface="Calibri"/>
              </a:rPr>
              <a:t>🍽️  UNAI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22D3AA"/>
                </a:solidFill>
                <a:latin typeface="Calibri"/>
              </a:rPr>
              <a:t>16 tasks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4 shared tasks + 12 pack calls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82860" y="5742432"/>
            <a:ext cx="3625081" cy="1024128"/>
          </a:xfrm>
          <a:prstGeom prst="roundRect">
            <a:avLst>
              <a:gd name="adj" fmla="val 6000"/>
            </a:avLst>
          </a:prstGeom>
          <a:solidFill>
            <a:srgbClr val="12161F"/>
          </a:solidFill>
          <a:ln w="15875">
            <a:solidFill>
              <a:srgbClr val="1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20604" y="5742432"/>
            <a:ext cx="3149593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5C4E8"/>
                </a:solidFill>
                <a:latin typeface="Calibri"/>
              </a:rPr>
              <a:t>📉  REDUCTION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5C4E8"/>
                </a:solidFill>
                <a:latin typeface="Calibri"/>
              </a:rPr>
              <a:t>66.7%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Fewer cognitive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2026-08-08T17:13:39Z</dcterms:created>
  <dcterms:modified xsi:type="dcterms:W3CDTF">2026-08-08T17:13:39Z</dcterms:modified>
</cp:coreProperties>
</file>