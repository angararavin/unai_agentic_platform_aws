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 1</c:v>
                </c:pt>
              </c:strCache>
            </c:strRef>
          </c:tx>
          <c:spPr>
            <a:solidFill>
              <a:srgbClr val="E257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6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Agents deployed</c:v>
                </c:pt>
                <c:pt idx="1">
                  <c:v>Layer impls</c:v>
                </c:pt>
                <c:pt idx="2">
                  <c:v>Schema re-maps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28</c:v>
                </c:pt>
                <c:pt idx="2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C4-7E46-B7CF-70E1088B2EC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 2 (UNAI)</c:v>
                </c:pt>
              </c:strCache>
            </c:strRef>
          </c:tx>
          <c:spPr>
            <a:solidFill>
              <a:srgbClr val="13B5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26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Agents deployed</c:v>
                </c:pt>
                <c:pt idx="1">
                  <c:v>Layer impls</c:v>
                </c:pt>
                <c:pt idx="2">
                  <c:v>Schema re-maps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11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C4-7E46-B7CF-70E1088B2E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B26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 (millions)</c:v>
                </c:pt>
              </c:strCache>
            </c:strRef>
          </c:tx>
          <c:spPr>
            <a:solidFill>
              <a:srgbClr val="6B768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A4C-4E44-9654-B1C66FF31600}"/>
              </c:ext>
            </c:extLst>
          </c:dPt>
          <c:dPt>
            <c:idx val="1"/>
            <c:invertIfNegative val="0"/>
            <c:bubble3D val="0"/>
            <c:spPr>
              <a:solidFill>
                <a:srgbClr val="13B5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4C-4E44-9654-B1C66FF31600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A4C-4E44-9654-B1C66FF316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26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Yr-1 investment</c:v>
                </c:pt>
                <c:pt idx="1">
                  <c:v>Annual value (low)</c:v>
                </c:pt>
                <c:pt idx="2">
                  <c:v>Annual value (high)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</c:v>
                </c:pt>
                <c:pt idx="1">
                  <c:v>9</c:v>
                </c:pt>
                <c:pt idx="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A4C-4E44-9654-B1C66FF316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78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283A5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10424160" y="3474720"/>
            <a:ext cx="4114800" cy="4114800"/>
          </a:xfrm>
          <a:prstGeom prst="ellipse">
            <a:avLst/>
          </a:prstGeom>
          <a:solidFill>
            <a:srgbClr val="22306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4" name="Image 0" descr="UNAI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77240"/>
            <a:ext cx="310896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9202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Many Specialist Agents</a:t>
            </a:r>
            <a:endParaRPr lang="en-US" sz="4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One Adaptive Agent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49808" y="3794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ADCFC"/>
                </a:solidFill>
              </a:rPr>
              <a:t>Feasibility, architecture &amp; a working application  ·  Why · What · How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49808" y="42245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FFFF"/>
                </a:solidFill>
              </a:rPr>
              <a:t>UNAI (oo-NYE)</a:t>
            </a:r>
            <a:r>
              <a:rPr lang="en-US" sz="1300" i="1" dirty="0">
                <a:solidFill>
                  <a:srgbClr val="9FB0D8"/>
                </a:solidFill>
              </a:rPr>
              <a:t>  ·  Basque “shepherd” (one who guides the many) · “one + AI” · and “Un AI” = “One AI” (un = one). A consolidation super agent.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5669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D8"/>
                </a:solidFill>
              </a:rPr>
              <a:t>Prepared for Ravin Angara, Bristlecone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B0D8"/>
                </a:solidFill>
              </a:rPr>
              <a:t>Version 1.0 · June 22, 2026 · Companion to the Superagent Technical Specification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B58C"/>
                </a:solidFill>
              </a:rPr>
              <a:t>THE QUESTION — HOW POSSIBLE IS THIS?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Verdict: feasible today, and working in the app we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: 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B58C"/>
                </a:solidFill>
              </a:rPr>
              <a:t>agents → used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one UNAI ran a 4-agent workflow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64992" y="16459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64992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64992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B58C"/>
                </a:solidFill>
              </a:rPr>
              <a:t>layer-complexity 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02152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70 → 7 shared layer implementations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1344" y="16459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181344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181344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B58C"/>
                </a:solidFill>
              </a:rPr>
              <a:t>schema re-maps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18504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context switching absorbed by the ontology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997696" y="1645920"/>
            <a:ext cx="2606040" cy="2011680"/>
          </a:xfrm>
          <a:prstGeom prst="roundRect">
            <a:avLst>
              <a:gd name="adj" fmla="val 3636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97696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4–7 mo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997696" y="26974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B58C"/>
                </a:solidFill>
              </a:rPr>
              <a:t>payback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34856" y="30632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$18–32M three-year NPV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11064240" cy="21945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" y="4160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B58C"/>
                </a:solidFill>
              </a:rPr>
              <a:t>Why it works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5720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~90% of what makes an agent “an agent” — perception, memory, reasoning, evidence, action, collaboration, explainability — is identical across domains.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Build those seven layers once; each new capability becomes configuration, not a multi-week engineering project.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Every primitive (Mistral Large/Small tool calling, BTP OData/BAPI as MCP tools, NATS pub/sub, Postgres+pgvector, Kubernetes) is available today — cloud-neutral and self-hostable. Remaining risk is organizational, not technical.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B58C"/>
                </a:solidFill>
              </a:rPr>
              <a:t>IN PLAIN TERMS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specialists, or one versatile worker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23A30"/>
                </a:solidFill>
              </a:rPr>
              <a:t>The old way — many specialists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640"/>
                </a:solidFill>
              </a:rPr>
              <a:t>Hire a separate specialist for every job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B2640"/>
                </a:solidFill>
              </a:rPr>
              <a:t>Each one is rebuilt to read your systems, keep its own memory, decide, message every other agent, and explain itself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B2640"/>
                </a:solidFill>
              </a:rPr>
              <a:t>The same plumbing, rebuilt over and over — 10 agents = 70 builds + 45 wires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64592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2761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92240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B58C"/>
                </a:solidFill>
              </a:rPr>
              <a:t>UNAI — one versatile worker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One worker already owns the plumbing — the 7 shared layers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It just picks up a small playbook (tool pack) for each new job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Build the expensive 90% once; only the cheap 10% changes per task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</a:rPr>
              <a:t>Adding a capability = configuration, not a new agent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689"/>
                </a:solidFill>
              </a:rPr>
              <a:t>Result: one agent does the work of many — proven live in the app (4 agents → 1; at 10-agent scale, 70 builds → 7).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6748272"/>
            <a:ext cx="1828800" cy="91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" b="0">
                <a:solidFill>
                  <a:srgbClr val="0B0E14"/>
                </a:solidFill>
                <a:latin typeface="Calibri"/>
              </a:rPr>
              <a:t>UNAI-ARCH-ANALOGY-V1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57" y="274320"/>
            <a:ext cx="1142388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Architecture Analogy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57" y="786384"/>
            <a:ext cx="114238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A97B8"/>
                </a:solidFill>
                <a:latin typeface="Calibri"/>
              </a:rPr>
              <a:t>12 agents (each rebuilds every cognitive task) vs 1 UNAI runtime (built once, 12 capability packs)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57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5225" y="1444751"/>
            <a:ext cx="51724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🚚  </a:t>
            </a:r>
            <a:r>
              <a:rPr sz="1500" b="1">
                <a:solidFill>
                  <a:srgbClr val="FFFFFF"/>
                </a:solidFill>
                <a:latin typeface="Calibri"/>
              </a:rPr>
              <a:t>Traditional: 12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25" y="1773936"/>
            <a:ext cx="517244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Each agent independently sources, preps, seasons, and tastes — full cognitive overhead, every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25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5225" y="2267712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Taco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3483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03483" y="2267712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Burger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1740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21740" y="2267712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Pizza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39998" y="2231136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39998" y="2267712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Sushi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25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25" y="3252216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BBQ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903483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903483" y="3252216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Crepe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1740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21740" y="3252216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Waffle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9998" y="3215640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39998" y="3252216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Noodle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25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5225" y="4236720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Sandwich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03483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03483" y="4236720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Dumpling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21740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21740" y="4236720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Salad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39998" y="4200144"/>
            <a:ext cx="1217673" cy="8839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39998" y="4236720"/>
            <a:ext cx="1217673" cy="8473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6B6B"/>
                </a:solidFill>
                <a:latin typeface="Calibri"/>
              </a:rPr>
              <a:t>Smoothie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25" y="5175504"/>
            <a:ext cx="517244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6B6B"/>
                </a:solidFill>
                <a:latin typeface="Calibri"/>
              </a:rPr>
              <a:t>48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12 agents × 4 cognitive tasks each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160" y="1298448"/>
            <a:ext cx="5574782" cy="4261104"/>
          </a:xfrm>
          <a:prstGeom prst="roundRect">
            <a:avLst>
              <a:gd name="adj" fmla="val 45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34328" y="1444751"/>
            <a:ext cx="517244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🍽️  </a:t>
            </a:r>
            <a:r>
              <a:rPr sz="1500" b="1">
                <a:solidFill>
                  <a:srgbClr val="FFFFFF"/>
                </a:solidFill>
                <a:latin typeface="Calibri"/>
              </a:rPr>
              <a:t>UNAI: 1 Shared Runtime + 12 Packs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4328" y="1773936"/>
            <a:ext cx="517244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Runtime runs all cognitive tasks ONCE, then sends ready results to 12 capability packs.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31831" y="21945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1A202C"/>
          </a:solidFill>
          <a:ln w="12700">
            <a:solidFill>
              <a:srgbClr val="22D3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831831" y="2194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🔍  UNAI · shared runtime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34328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34328" y="2651760"/>
            <a:ext cx="108737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🛒 Source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96019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96019" y="2651760"/>
            <a:ext cx="108737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🔪 Prep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57711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57711" y="2651760"/>
            <a:ext cx="108737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🧂 Season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519402" y="2651760"/>
            <a:ext cx="1087371" cy="347472"/>
          </a:xfrm>
          <a:prstGeom prst="roundRect">
            <a:avLst>
              <a:gd name="adj" fmla="val 16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519402" y="2651760"/>
            <a:ext cx="1087371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2D3AA"/>
                </a:solidFill>
                <a:latin typeface="Calibri"/>
              </a:rPr>
              <a:t>👅 Taste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34328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34328" y="3182112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🌮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Taco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52585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752585" y="3182112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🍔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Burger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70843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70843" y="3182112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🍕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Pizza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389100" y="3145536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89100" y="3182112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🍣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Sushi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34328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34328" y="3861816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BBQ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752585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752585" y="3861816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🥞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Crepe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70843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70843" y="3861816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🧇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Waffle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89100" y="3825240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0389100" y="3861816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🍜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Noodle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34328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434328" y="4541520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🥪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Sandwich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52585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52585" y="4541520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🥟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Dumpling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070843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070843" y="4541520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🥗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Salad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389100" y="4504944"/>
            <a:ext cx="1217673" cy="579120"/>
          </a:xfrm>
          <a:prstGeom prst="roundRect">
            <a:avLst>
              <a:gd name="adj" fmla="val 14000"/>
            </a:avLst>
          </a:prstGeom>
          <a:solidFill>
            <a:srgbClr val="1A202C"/>
          </a:solidFill>
          <a:ln w="952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389100" y="4541520"/>
            <a:ext cx="1217673" cy="5425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93" b="0">
                <a:solidFill>
                  <a:srgbClr val="FFFFFF"/>
                </a:solidFill>
                <a:latin typeface="Calibri"/>
              </a:rPr>
              <a:t>🥤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696" b="0">
                <a:solidFill>
                  <a:srgbClr val="22D3AA"/>
                </a:solidFill>
                <a:latin typeface="Calibri"/>
              </a:rPr>
              <a:t>Smoothie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4328" y="5175504"/>
            <a:ext cx="517244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2D3AA"/>
                </a:solidFill>
                <a:latin typeface="Calibri"/>
              </a:rPr>
              <a:t>16 tasks</a:t>
            </a:r>
            <a:r>
              <a:rPr sz="1150" b="0">
                <a:solidFill>
                  <a:srgbClr val="8A97B8"/>
                </a:solidFill>
                <a:latin typeface="Calibri"/>
              </a:rPr>
              <a:t>  = 4 shared tasks + 12 pack calls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84057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4A2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21801" y="5742432"/>
            <a:ext cx="3149593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FF6B6B"/>
                </a:solidFill>
                <a:latin typeface="Calibri"/>
              </a:rPr>
              <a:t>🚚  TRADITIONAL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FF6B6B"/>
                </a:solidFill>
                <a:latin typeface="Calibri"/>
              </a:rPr>
              <a:t>48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12 agents × 4 cognitive tasks each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283459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84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21203" y="5742432"/>
            <a:ext cx="3149593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22D3AA"/>
                </a:solidFill>
                <a:latin typeface="Calibri"/>
              </a:rPr>
              <a:t>🍽️  UNAI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22D3AA"/>
                </a:solidFill>
                <a:latin typeface="Calibri"/>
              </a:rPr>
              <a:t>16 tasks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4 shared tasks + 12 pack calls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182860" y="5742432"/>
            <a:ext cx="3625081" cy="1024128"/>
          </a:xfrm>
          <a:prstGeom prst="roundRect">
            <a:avLst>
              <a:gd name="adj" fmla="val 6000"/>
            </a:avLst>
          </a:prstGeom>
          <a:solidFill>
            <a:srgbClr val="12161F"/>
          </a:solidFill>
          <a:ln w="15875">
            <a:solidFill>
              <a:srgbClr val="14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420604" y="5742432"/>
            <a:ext cx="3149593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35C4E8"/>
                </a:solidFill>
                <a:latin typeface="Calibri"/>
              </a:rPr>
              <a:t>📉  REDUCTION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2700" b="1">
                <a:solidFill>
                  <a:srgbClr val="35C4E8"/>
                </a:solidFill>
                <a:latin typeface="Calibri"/>
              </a:rPr>
              <a:t>66.7%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A97B8"/>
                </a:solidFill>
                <a:latin typeface="Calibri"/>
              </a:rPr>
              <a:t>Fewer cognitive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B58C"/>
                </a:solidFill>
              </a:rPr>
              <a:t>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agent per job does not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76809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77240" y="2075688"/>
            <a:ext cx="502920" cy="502920"/>
          </a:xfrm>
          <a:prstGeom prst="ellipse">
            <a:avLst/>
          </a:prstGeom>
          <a:solidFill>
            <a:srgbClr val="E2574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8562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Duplicated engineering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203704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40"/>
                </a:solidFill>
              </a:rPr>
              <a:t>10 agents = 70 layer implementations. Seven near-identical perception layers, memory stores, action handlers — each separately built, tested, secured.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76809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77240" y="3493008"/>
            <a:ext cx="502920" cy="502920"/>
          </a:xfrm>
          <a:prstGeom prst="ellipse">
            <a:avLst/>
          </a:prstGeom>
          <a:solidFill>
            <a:srgbClr val="E2574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3493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2735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Quadratic collaboration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621024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40"/>
                </a:solidFill>
              </a:rPr>
              <a:t>Point-to-point comms scale as N×(N−1)/2. Ten agents = 45 channels; an eleventh forces edits to every existing agent.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768096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77240" y="4910328"/>
            <a:ext cx="502920" cy="502920"/>
          </a:xfrm>
          <a:prstGeom prst="ellipse">
            <a:avLst/>
          </a:prstGeom>
          <a:solidFill>
            <a:srgbClr val="E2574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4910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469087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Repeated context switching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5038344"/>
            <a:ext cx="6629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640"/>
                </a:solidFill>
              </a:rPr>
              <a:t>Every agent re-learns that MATNR means “material”, and re-maps the schema again on each move between systems of record.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58200" y="1691640"/>
            <a:ext cx="3154680" cy="4160520"/>
          </a:xfrm>
          <a:prstGeom prst="roundRect">
            <a:avLst>
              <a:gd name="adj" fmla="val 2319"/>
            </a:avLst>
          </a:prstGeom>
          <a:solidFill>
            <a:srgbClr val="1E2761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68680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Steady-state burden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</a:rPr>
              <a:t>of a 10-agent estate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27432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3B5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878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8595360" y="36576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maintenance hours / month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58200" y="41605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8595360" y="49377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layer implementations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B58C"/>
                </a:solidFill>
              </a:rPr>
              <a:t>WHAT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seven-layer UNAI</a:t>
            </a:r>
            <a:endParaRPr lang="en-US" sz="3000" dirty="0"/>
          </a:p>
        </p:txBody>
      </p:sp>
      <p:pic>
        <p:nvPicPr>
          <p:cNvPr id="4" name="Image 0" descr="UNAI platform archite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54480"/>
            <a:ext cx="7589520" cy="4901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75320" y="1600200"/>
            <a:ext cx="3337560" cy="4800600"/>
          </a:xfrm>
          <a:prstGeom prst="roundRect">
            <a:avLst>
              <a:gd name="adj" fmla="val 2192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50392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Built once, shared everywhere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03920" y="2286000"/>
            <a:ext cx="29260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640"/>
                </a:solidFill>
              </a:rPr>
              <a:t>7 universal layers implemented a single time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640"/>
                </a:solidFill>
              </a:rPr>
              <a:t>Domain logic lives only in lightweight tool packs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640"/>
                </a:solidFill>
              </a:rPr>
              <a:t>A canonical ontology maps every system’s native fields (MATNR→sku, EBELN→purchase_order)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B2640"/>
                </a:solidFill>
              </a:rPr>
              <a:t>Systems of record are pluggable adapters — swap SQLite for live SAP, engine unchanged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2640"/>
                </a:solidFill>
              </a:rPr>
              <a:t>Runs on the customer’s own Kubernetes — any cloud or on-prem; self-host Mistral for full data residency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B58C"/>
                </a:solidFill>
              </a:rPr>
              <a:t>PROOF · MEASURED IN THE APP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agents collapse into one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69164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58952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The disruption-response run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0" y="2331720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640"/>
                </a:solidFill>
              </a:rPr>
              <a:t>4 capabilities — detect → re-forecast → rebalance → procure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640"/>
                </a:solidFill>
              </a:rPr>
              <a:t>In Gen-1, each is a whole 7-layer specialist agent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B2640"/>
                </a:solidFill>
              </a:rPr>
              <a:t>One UNAI delivered all four — a 4:1 substitution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640"/>
                </a:solidFill>
              </a:rPr>
              <a:t>At a 10-agent scale: 70→7 layer impls, ~90% reduction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589520" y="5138928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The math: </a:t>
            </a:r>
            <a:r>
              <a:rPr lang="en-US" sz="1150" i="1" dirty="0">
                <a:solidFill>
                  <a:srgbClr val="6B7689"/>
                </a:solidFill>
              </a:rPr>
              <a:t>4 agents × 7 layers = 28 builds  →  7 shared layers + 4 tool packs = 11  (build the 7 once, reuse). 28−11 ≈ 60% less; 70→7 ≈ 90% at 10-agent scale. Real engine output.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B58C"/>
                </a:solidFill>
              </a:rPr>
              <a:t>HOW · SYSTEM-OF-RECORD SWITCHING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concept, four dialects — mapped once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949440" cy="36576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Canonical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SAP MM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SAP SD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SAP FI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Analytics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sku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MATNR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MATNR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MATKL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sku_id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plant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WERKS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WERKS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BUKRS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dc_code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on-hand qty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LABST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KWMENG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qty_on_hand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supplier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LIFNR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LIFNR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vendor_id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purchase order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EBELN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EBELN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B26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po_id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69164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1E2761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955280" y="1874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B58C"/>
                </a:solidFill>
              </a:rPr>
              <a:t>The cost collapses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955280" y="23317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r>
              <a:rPr lang="en-US" sz="1300" dirty="0">
                <a:solidFill>
                  <a:srgbClr val="CADCFC"/>
                </a:solidFill>
              </a:rPr>
              <a:t>  transitions across systems</a:t>
            </a:r>
            <a:endParaRPr lang="en-US" sz="3000" dirty="0"/>
          </a:p>
        </p:txBody>
      </p:sp>
      <p:sp>
        <p:nvSpPr>
          <p:cNvPr id="4" name="Text 5"/>
          <p:cNvSpPr/>
          <p:nvPr/>
        </p:nvSpPr>
        <p:spPr>
          <a:xfrm>
            <a:off x="7955280" y="306324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574C"/>
                </a:solidFill>
              </a:rPr>
              <a:t>Gen-1: </a:t>
            </a:r>
            <a:r>
              <a:rPr lang="en-US" sz="1300" dirty="0">
                <a:solidFill>
                  <a:srgbClr val="CADCFC"/>
                </a:solidFill>
              </a:rPr>
              <a:t>5 schema re-maps (one per transition, in every agent)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55280" y="38404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B58C"/>
                </a:solidFill>
              </a:rPr>
              <a:t>Gen-2: </a:t>
            </a:r>
            <a:r>
              <a:rPr lang="en-US" sz="1300" dirty="0">
                <a:solidFill>
                  <a:srgbClr val="CADCFC"/>
                </a:solidFill>
              </a:rPr>
              <a:t>0 re-maps — the ontology resolved each system once, reused everywhere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55280" y="5029200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New-ERP onboarding: 4–6 weeks → 2–3 days (config, not code)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B58C"/>
                </a:solidFill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disruption response, end to end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640"/>
                </a:solidFill>
              </a:rPr>
              <a:t>Port strike hits APAC supplier V-2207 (risk 0.78). One UNAI runs the full response: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B58C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Detect (analytics)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18688" y="2240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689"/>
                </a:solidFill>
              </a:rPr>
              <a:t>›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456432" y="20574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59359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B58C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959352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Re-forecast +12% (analytics + SD)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26480" y="2240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689"/>
                </a:solidFill>
              </a:rPr>
              <a:t>›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364224" y="20574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0138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B58C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67144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Rebalance stock (SAP MM)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34272" y="22402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689"/>
                </a:solidFill>
              </a:rPr>
              <a:t>›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9272016" y="205740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409176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B58C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74936" y="21945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Procure &amp; reroute (MM + FI)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6949440" cy="9144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SKU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Qty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Supplier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Conf.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FG-1001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1,084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V-9001 (backup)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$46,070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98%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C7A5E"/>
                          </a:solidFill>
                        </a:rPr>
                        <a:t>Autonomous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FG-1003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586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V-3310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$56,256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B2640"/>
                          </a:solidFill>
                        </a:rPr>
                        <a:t>88%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23A30"/>
                          </a:solidFill>
                        </a:rPr>
                        <a:t>Human appr.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7726680" y="3291840"/>
            <a:ext cx="3886200" cy="288036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7955280" y="3456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B58C"/>
                </a:solidFill>
              </a:rPr>
              <a:t>Why one agent wins here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955280" y="388620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Detection, forecasting and procurement share one memory fabric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So FG-1001 auto-reroutes off the disrupted supplier — a cross-capability call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FG-1003 ($56K &gt; $50K limit) is held for a buyer — human-in-the-loop governance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</a:rPr>
              <a:t>Every decision: confidence, attribution &amp; rationale; actions persisted to SQLite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B58C"/>
                </a:solidFill>
              </a:rPr>
              <a:t>NOT A BLACK 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explainability — all seven layers, every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B58C"/>
                </a:solidFill>
              </a:rPr>
              <a:t>L1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975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Perception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6× run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39696" y="16002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139696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B58C"/>
                </a:solidFill>
              </a:rPr>
              <a:t>L2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85416" y="1975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Memory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39696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7× run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30752" y="16002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730752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B58C"/>
                </a:solidFill>
              </a:rPr>
              <a:t>L3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1975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Reasoning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30752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1× run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21808" y="16002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321808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B58C"/>
                </a:solidFill>
              </a:rPr>
              <a:t>L4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67528" y="1975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Evidence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21808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5× run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12864" y="16002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912864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B58C"/>
                </a:solidFill>
              </a:rPr>
              <a:t>L5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58584" y="1975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2864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3× run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03920" y="16002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503920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B58C"/>
                </a:solidFill>
              </a:rPr>
              <a:t>L6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49640" y="1975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Collab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3920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4× run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94976" y="1600200"/>
            <a:ext cx="1463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10094976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B58C"/>
                </a:solidFill>
              </a:rPr>
              <a:t>L7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40696" y="19751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</a:rPr>
              <a:t>Explain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94976" y="23042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689"/>
                </a:solidFill>
              </a:rPr>
              <a:t>5× run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2788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689"/>
                </a:solidFill>
              </a:rPr>
              <a:t>Every one of the seven shared layers fired in the run — proof they are implemented once and exercised together.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48640" y="3291840"/>
            <a:ext cx="11064240" cy="2971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68680" y="3474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B58C"/>
                </a:solidFill>
              </a:rPr>
              <a:t>Worked example — the rationale the agent recorded for the held PO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68680" y="39319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 </a:t>
            </a:r>
            <a:r>
              <a:rPr lang="en-US" sz="1400" dirty="0">
                <a:solidFill>
                  <a:srgbClr val="CADCFC"/>
                </a:solidFill>
              </a:rPr>
              <a:t>Raise PO for FG-1003 (586 units, $56,256)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68680" y="43434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Confidence </a:t>
            </a:r>
            <a:r>
              <a:rPr lang="en-US" sz="1300" dirty="0">
                <a:solidFill>
                  <a:srgbClr val="CADCFC"/>
                </a:solidFill>
              </a:rPr>
              <a:t>88% (±12%)    </a:t>
            </a:r>
            <a:r>
              <a:rPr lang="en-US" sz="1300" b="1" dirty="0">
                <a:solidFill>
                  <a:srgbClr val="FFFFFF"/>
                </a:solidFill>
              </a:rPr>
              <a:t>Primary driver </a:t>
            </a:r>
            <a:r>
              <a:rPr lang="en-US" sz="1300" dirty="0">
                <a:solidFill>
                  <a:srgbClr val="CADCFC"/>
                </a:solidFill>
              </a:rPr>
              <a:t>stock-out revenue risk (86% of the decision)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868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Gate </a:t>
            </a:r>
            <a:r>
              <a:rPr lang="en-US" sz="1300" dirty="0">
                <a:solidFill>
                  <a:srgbClr val="CADCFC"/>
                </a:solidFill>
              </a:rPr>
              <a:t>value $56,256 &gt; $50,000 approval limit → routed to a human approver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68680" y="52120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What-if  </a:t>
            </a:r>
            <a:r>
              <a:rPr lang="en-US" sz="1300" i="1" dirty="0">
                <a:solidFill>
                  <a:srgbClr val="CADCFC"/>
                </a:solidFill>
              </a:rPr>
              <a:t>a PO at or below $50,000 would execute autonomously; this one needs a buyer’s sign-off.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" y="57150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D8"/>
                </a:solidFill>
              </a:rPr>
              <a:t>Full audit trail retained for SOX · FDA 21 CFR Part 11 · Basel III.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3B58C"/>
                </a:solidFill>
              </a:rPr>
              <a:t>COST, BENEFIT &amp; EFFICIENCY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seven layers once; value compounds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83080"/>
          <a:ext cx="60350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12280" y="17830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949440" y="18928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641080" y="1874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40"/>
                </a:solidFill>
              </a:rPr>
              <a:t>layer-complexity reduction (70→7)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12280" y="288036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949440" y="29900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641080" y="29718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40"/>
                </a:solidFill>
              </a:rPr>
              <a:t>maintenance-hour reduction (878→80)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12280" y="39776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949440" y="408736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~95%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641080" y="406908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40"/>
                </a:solidFill>
              </a:rPr>
              <a:t>faster new-ERP onboarding &amp; agent build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812280" y="507492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3F6FC"/>
          </a:solidFill>
          <a:ln w="12700">
            <a:solidFill>
              <a:srgbClr val="E3E9F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949440" y="51846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$23M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641080" y="51663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640"/>
                </a:solidFill>
              </a:rPr>
              <a:t>3-year NPV (midpoint, 12% discount)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3B58C"/>
                </a:solidFill>
              </a:rPr>
              <a:t>ROADMAP &amp; RECOMMENDATION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16-week path — start with an 8-week proof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283A5E"/>
          </a:solidFill>
          <a:ln w="12700">
            <a:solidFill>
              <a:srgbClr val="344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8C"/>
                </a:solidFill>
              </a:rPr>
              <a:t>Wk 1–4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 · Foundation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</a:rPr>
              <a:t>Read SAP S/4HANA inventory; explainable recommendation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64992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283A5E"/>
          </a:solidFill>
          <a:ln w="12700">
            <a:solidFill>
              <a:srgbClr val="344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64992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8C"/>
                </a:solidFill>
              </a:rPr>
              <a:t>Wk 5–8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47872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 · First Superagent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7872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</a:rPr>
              <a:t>Inventory Superagent in production; first autonomous PO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81344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283A5E"/>
          </a:solidFill>
          <a:ln w="12700">
            <a:solidFill>
              <a:srgbClr val="344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181344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8C"/>
                </a:solidFill>
              </a:rPr>
              <a:t>Wk 9–12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4224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 · Multi-agent mesh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64224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</a:rPr>
              <a:t>3+ capabilities collaborate; 29-sec disruption response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97696" y="1828800"/>
            <a:ext cx="2606040" cy="2194560"/>
          </a:xfrm>
          <a:prstGeom prst="roundRect">
            <a:avLst>
              <a:gd name="adj" fmla="val 3333"/>
            </a:avLst>
          </a:prstGeom>
          <a:solidFill>
            <a:srgbClr val="283A5E"/>
          </a:solidFill>
          <a:ln w="12700">
            <a:solidFill>
              <a:srgbClr val="3445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997696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3B58C"/>
                </a:solidFill>
              </a:rPr>
              <a:t>Wk 13–16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80576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 · Hardening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0576" y="2926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</a:rPr>
              <a:t>GA; 10K+ autonomous decisions/day at 99.9% uptime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13B5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</a:rPr>
              <a:t>Recommendation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493776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06302A"/>
                </a:solidFill>
              </a:rPr>
              <a:t>Proceed with a Phase 1–2 engagement — 8 weeks, ~$800K — to put the first Inventory Optimization Superagent into production with planner oversight.</a:t>
            </a:r>
            <a:endParaRPr lang="en-US" sz="1500" dirty="0"/>
          </a:p>
          <a:p>
            <a:pPr marL="0" indent="0">
              <a:buNone/>
            </a:pPr>
            <a:r>
              <a:rPr lang="en-US" sz="1350" dirty="0">
                <a:solidFill>
                  <a:srgbClr val="0A3A33"/>
                </a:solidFill>
              </a:rPr>
              <a:t>It validates the architecture, demonstrates ROI early, and de-risks the full mesh. The working UNAI Studio app already proves the substitution and context-switch collapse end to end.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17429</TotalTime>
  <Words>1467</Words>
  <Application>Microsoft Macintosh PowerPoint</Application>
  <PresentationFormat>Widescreen</PresentationFormat>
  <Paragraphs>282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UNAI Architecture</dc:title>
  <dc:subject>PptxGenJS Presentation</dc:subject>
  <dc:creator>Bristlecone</dc:creator>
  <cp:lastModifiedBy>Ravin Angara</cp:lastModifiedBy>
  <cp:revision>2</cp:revision>
  <dcterms:created xsi:type="dcterms:W3CDTF">2026-06-27T17:03:28Z</dcterms:created>
  <dcterms:modified xsi:type="dcterms:W3CDTF">2026-08-26T00:16:51Z</dcterms:modified>
</cp:coreProperties>
</file>