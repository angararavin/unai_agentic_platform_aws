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9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7" r:id="rId22"/>
    <p:sldId id="275" r:id="rId23"/>
    <p:sldId id="276" r:id="rId24"/>
    <p:sldId id="278" r:id="rId25"/>
    <p:sldId id="280" r:id="rId26"/>
    <p:sldId id="281" r:id="rId27"/>
    <p:sldId id="282" r:id="rId28"/>
    <p:sldId id="279"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6" r:id="rId47"/>
    <p:sldId id="297"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0.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41.xml"/><Relationship Id="rId48"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Gen-1 specialist agents</c:v>
                </c:pt>
              </c:strCache>
            </c:strRef>
          </c:tx>
          <c:spPr>
            <a:solidFill>
              <a:srgbClr val="E2574C"/>
            </a:solidFill>
            <a:effectLst/>
          </c:spPr>
          <c:invertIfNegative val="0"/>
          <c:dLbls>
            <c:numFmt formatCode="#,##0" sourceLinked="0"/>
            <c:spPr>
              <a:noFill/>
              <a:ln>
                <a:noFill/>
              </a:ln>
              <a:effectLst/>
            </c:spPr>
            <c:txPr>
              <a:bodyPr/>
              <a:lstStyle/>
              <a:p>
                <a:pPr>
                  <a:defRPr sz="1100" b="0" i="0" u="none" strike="noStrike">
                    <a:solidFill>
                      <a:srgbClr val="1423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Supplier Disruption</c:v>
                </c:pt>
                <c:pt idx="1">
                  <c:v>Spares Planning (IBP)</c:v>
                </c:pt>
                <c:pt idx="2">
                  <c:v>RMA Execution</c:v>
                </c:pt>
              </c:strCache>
            </c:strRef>
          </c:cat>
          <c:val>
            <c:numRef>
              <c:f>Sheet1!$B$2:$B$4</c:f>
              <c:numCache>
                <c:formatCode>General</c:formatCode>
                <c:ptCount val="3"/>
                <c:pt idx="0">
                  <c:v>4</c:v>
                </c:pt>
                <c:pt idx="1">
                  <c:v>12</c:v>
                </c:pt>
                <c:pt idx="2">
                  <c:v>15</c:v>
                </c:pt>
              </c:numCache>
            </c:numRef>
          </c:val>
          <c:extLst>
            <c:ext xmlns:c16="http://schemas.microsoft.com/office/drawing/2014/chart" uri="{C3380CC4-5D6E-409C-BE32-E72D297353CC}">
              <c16:uniqueId val="{00000000-96F9-ED42-A530-DD7C1DD031D1}"/>
            </c:ext>
          </c:extLst>
        </c:ser>
        <c:ser>
          <c:idx val="1"/>
          <c:order val="1"/>
          <c:tx>
            <c:strRef>
              <c:f>Sheet1!$C$1</c:f>
              <c:strCache>
                <c:ptCount val="1"/>
                <c:pt idx="0">
                  <c:v>UNAI</c:v>
                </c:pt>
              </c:strCache>
            </c:strRef>
          </c:tx>
          <c:spPr>
            <a:solidFill>
              <a:srgbClr val="22D3AA"/>
            </a:solidFill>
            <a:effectLst/>
          </c:spPr>
          <c:invertIfNegative val="0"/>
          <c:dLbls>
            <c:numFmt formatCode="#,##0" sourceLinked="0"/>
            <c:spPr>
              <a:noFill/>
              <a:ln>
                <a:noFill/>
              </a:ln>
              <a:effectLst/>
            </c:spPr>
            <c:txPr>
              <a:bodyPr/>
              <a:lstStyle/>
              <a:p>
                <a:pPr>
                  <a:defRPr sz="1100" b="0" i="0" u="none" strike="noStrike">
                    <a:solidFill>
                      <a:srgbClr val="1423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Supplier Disruption</c:v>
                </c:pt>
                <c:pt idx="1">
                  <c:v>Spares Planning (IBP)</c:v>
                </c:pt>
                <c:pt idx="2">
                  <c:v>RMA Execution</c:v>
                </c:pt>
              </c:strCache>
            </c:strRef>
          </c:cat>
          <c:val>
            <c:numRef>
              <c:f>Sheet1!$C$2:$C$4</c:f>
              <c:numCache>
                <c:formatCode>General</c:formatCode>
                <c:ptCount val="3"/>
                <c:pt idx="0">
                  <c:v>1</c:v>
                </c:pt>
                <c:pt idx="1">
                  <c:v>1</c:v>
                </c:pt>
                <c:pt idx="2">
                  <c:v>1</c:v>
                </c:pt>
              </c:numCache>
            </c:numRef>
          </c:val>
          <c:extLst>
            <c:ext xmlns:c16="http://schemas.microsoft.com/office/drawing/2014/chart" uri="{C3380CC4-5D6E-409C-BE32-E72D297353CC}">
              <c16:uniqueId val="{00000001-96F9-ED42-A530-DD7C1DD031D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D6B8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solidFill>
                <a:srgbClr val="5D6B8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Gen-1 (10 agents)</c:v>
                </c:pt>
              </c:strCache>
            </c:strRef>
          </c:tx>
          <c:spPr>
            <a:solidFill>
              <a:srgbClr val="E2574C"/>
            </a:solidFill>
            <a:effectLst/>
          </c:spPr>
          <c:invertIfNegative val="0"/>
          <c:cat>
            <c:strRef>
              <c:f>Sheet1!$A$2:$A$5</c:f>
              <c:strCache>
                <c:ptCount val="4"/>
                <c:pt idx="0">
                  <c:v>Build (one-time)</c:v>
                </c:pt>
                <c:pt idx="1">
                  <c:v>Maintenance / yr</c:v>
                </c:pt>
                <c:pt idx="2">
                  <c:v>Inference / yr</c:v>
                </c:pt>
                <c:pt idx="3">
                  <c:v>Onboarding / yr</c:v>
                </c:pt>
              </c:strCache>
            </c:strRef>
          </c:cat>
          <c:val>
            <c:numRef>
              <c:f>Sheet1!$B$2:$B$5</c:f>
              <c:numCache>
                <c:formatCode>General</c:formatCode>
                <c:ptCount val="4"/>
                <c:pt idx="0">
                  <c:v>504000</c:v>
                </c:pt>
                <c:pt idx="1">
                  <c:v>950400</c:v>
                </c:pt>
                <c:pt idx="2">
                  <c:v>266667</c:v>
                </c:pt>
                <c:pt idx="3">
                  <c:v>108000</c:v>
                </c:pt>
              </c:numCache>
            </c:numRef>
          </c:val>
          <c:extLst>
            <c:ext xmlns:c16="http://schemas.microsoft.com/office/drawing/2014/chart" uri="{C3380CC4-5D6E-409C-BE32-E72D297353CC}">
              <c16:uniqueId val="{00000000-2A76-8344-ACD7-166A37842FAB}"/>
            </c:ext>
          </c:extLst>
        </c:ser>
        <c:ser>
          <c:idx val="1"/>
          <c:order val="1"/>
          <c:tx>
            <c:strRef>
              <c:f>Sheet1!$C$1</c:f>
              <c:strCache>
                <c:ptCount val="1"/>
                <c:pt idx="0">
                  <c:v>UNAI (1 agent)</c:v>
                </c:pt>
              </c:strCache>
            </c:strRef>
          </c:tx>
          <c:spPr>
            <a:solidFill>
              <a:srgbClr val="22D3AA"/>
            </a:solidFill>
            <a:effectLst/>
          </c:spPr>
          <c:invertIfNegative val="0"/>
          <c:cat>
            <c:strRef>
              <c:f>Sheet1!$A$2:$A$5</c:f>
              <c:strCache>
                <c:ptCount val="4"/>
                <c:pt idx="0">
                  <c:v>Build (one-time)</c:v>
                </c:pt>
                <c:pt idx="1">
                  <c:v>Maintenance / yr</c:v>
                </c:pt>
                <c:pt idx="2">
                  <c:v>Inference / yr</c:v>
                </c:pt>
                <c:pt idx="3">
                  <c:v>Onboarding / yr</c:v>
                </c:pt>
              </c:strCache>
            </c:strRef>
          </c:cat>
          <c:val>
            <c:numRef>
              <c:f>Sheet1!$C$2:$C$5</c:f>
              <c:numCache>
                <c:formatCode>General</c:formatCode>
                <c:ptCount val="4"/>
                <c:pt idx="0">
                  <c:v>122400</c:v>
                </c:pt>
                <c:pt idx="1">
                  <c:v>129600</c:v>
                </c:pt>
                <c:pt idx="2">
                  <c:v>120000</c:v>
                </c:pt>
                <c:pt idx="3">
                  <c:v>10800</c:v>
                </c:pt>
              </c:numCache>
            </c:numRef>
          </c:val>
          <c:extLst>
            <c:ext xmlns:c16="http://schemas.microsoft.com/office/drawing/2014/chart" uri="{C3380CC4-5D6E-409C-BE32-E72D297353CC}">
              <c16:uniqueId val="{00000001-2A76-8344-ACD7-166A37842FA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D6B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6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D6B8C"/>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D6B8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2050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10058400" y="-1463040"/>
            <a:ext cx="3840480" cy="3840480"/>
          </a:xfrm>
          <a:prstGeom prst="ellipse">
            <a:avLst/>
          </a:prstGeom>
          <a:solidFill>
            <a:srgbClr val="12203B"/>
          </a:solidFill>
          <a:ln/>
        </p:spPr>
        <p:txBody>
          <a:bodyPr/>
          <a:lstStyle/>
          <a:p>
            <a:endParaRPr/>
          </a:p>
        </p:txBody>
      </p:sp>
      <p:sp>
        <p:nvSpPr>
          <p:cNvPr id="3" name="Shape 1"/>
          <p:cNvSpPr/>
          <p:nvPr/>
        </p:nvSpPr>
        <p:spPr>
          <a:xfrm>
            <a:off x="10881360" y="-640080"/>
            <a:ext cx="2103120" cy="2103120"/>
          </a:xfrm>
          <a:prstGeom prst="ellipse">
            <a:avLst/>
          </a:prstGeom>
          <a:solidFill>
            <a:srgbClr val="22D3AA">
              <a:alpha val="22000"/>
            </a:srgbClr>
          </a:solidFill>
          <a:ln/>
        </p:spPr>
        <p:txBody>
          <a:bodyPr/>
          <a:lstStyle/>
          <a:p>
            <a:endParaRPr/>
          </a:p>
        </p:txBody>
      </p:sp>
      <p:sp>
        <p:nvSpPr>
          <p:cNvPr id="4" name="Text 2"/>
          <p:cNvSpPr/>
          <p:nvPr/>
        </p:nvSpPr>
        <p:spPr>
          <a:xfrm>
            <a:off x="640080" y="1371600"/>
            <a:ext cx="10058400" cy="365760"/>
          </a:xfrm>
          <a:prstGeom prst="rect">
            <a:avLst/>
          </a:prstGeom>
          <a:noFill/>
          <a:ln/>
        </p:spPr>
        <p:txBody>
          <a:bodyPr wrap="square" lIns="0" tIns="0" rIns="0" bIns="0" rtlCol="0" anchor="ctr"/>
          <a:lstStyle/>
          <a:p>
            <a:pPr marL="0" indent="0">
              <a:buNone/>
            </a:pPr>
            <a:r>
              <a:rPr lang="en-US" sz="1300" b="1" kern="0" spc="300" dirty="0">
                <a:solidFill>
                  <a:srgbClr val="22D3AA"/>
                </a:solidFill>
                <a:latin typeface="Calibri" pitchFamily="34" charset="0"/>
                <a:ea typeface="Calibri" pitchFamily="34" charset="-122"/>
                <a:cs typeface="Calibri" pitchFamily="34" charset="-120"/>
              </a:rPr>
              <a:t>UNAI  ·  UNIVERSAL SUPPLY-CHAIN AGENT</a:t>
            </a:r>
            <a:endParaRPr lang="en-US" sz="1300" dirty="0"/>
          </a:p>
        </p:txBody>
      </p:sp>
      <p:sp>
        <p:nvSpPr>
          <p:cNvPr id="5" name="Text 3"/>
          <p:cNvSpPr/>
          <p:nvPr/>
        </p:nvSpPr>
        <p:spPr>
          <a:xfrm>
            <a:off x="640080" y="1828800"/>
            <a:ext cx="10607040" cy="13716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One AI that does the work of many</a:t>
            </a:r>
            <a:endParaRPr lang="en-US" sz="4600" dirty="0"/>
          </a:p>
        </p:txBody>
      </p:sp>
      <p:sp>
        <p:nvSpPr>
          <p:cNvPr id="6" name="Text 4"/>
          <p:cNvSpPr/>
          <p:nvPr/>
        </p:nvSpPr>
        <p:spPr>
          <a:xfrm>
            <a:off x="640080" y="3200400"/>
            <a:ext cx="10058400" cy="822960"/>
          </a:xfrm>
          <a:prstGeom prst="rect">
            <a:avLst/>
          </a:prstGeom>
          <a:noFill/>
          <a:ln/>
        </p:spPr>
        <p:txBody>
          <a:bodyPr wrap="square" lIns="0" tIns="0" rIns="0" bIns="0" rtlCol="0" anchor="ctr"/>
          <a:lstStyle/>
          <a:p>
            <a:pPr marL="0" indent="0">
              <a:lnSpc>
                <a:spcPct val="105000"/>
              </a:lnSpc>
              <a:buNone/>
            </a:pPr>
            <a:r>
              <a:rPr lang="en-US" sz="1700" dirty="0">
                <a:solidFill>
                  <a:srgbClr val="CADCFC"/>
                </a:solidFill>
                <a:latin typeface="Calibri" pitchFamily="34" charset="0"/>
                <a:ea typeface="Calibri" pitchFamily="34" charset="-122"/>
                <a:cs typeface="Calibri" pitchFamily="34" charset="-120"/>
              </a:rPr>
              <a:t>Collapsing many specialist agents into one governed, cloud-neutral agent —</a:t>
            </a:r>
            <a:endParaRPr lang="en-US" sz="1700" dirty="0"/>
          </a:p>
          <a:p>
            <a:pPr marL="0" indent="0">
              <a:lnSpc>
                <a:spcPct val="105000"/>
              </a:lnSpc>
              <a:buNone/>
            </a:pPr>
            <a:r>
              <a:rPr lang="en-US" sz="1700" dirty="0">
                <a:solidFill>
                  <a:srgbClr val="CADCFC"/>
                </a:solidFill>
                <a:latin typeface="Calibri" pitchFamily="34" charset="0"/>
                <a:ea typeface="Calibri" pitchFamily="34" charset="-122"/>
                <a:cs typeface="Calibri" pitchFamily="34" charset="-120"/>
              </a:rPr>
              <a:t>the architecture, the proof, and the business case.</a:t>
            </a:r>
            <a:endParaRPr lang="en-US" sz="1700" dirty="0"/>
          </a:p>
        </p:txBody>
      </p:sp>
      <p:sp>
        <p:nvSpPr>
          <p:cNvPr id="7" name="Shape 5"/>
          <p:cNvSpPr/>
          <p:nvPr/>
        </p:nvSpPr>
        <p:spPr>
          <a:xfrm>
            <a:off x="640080" y="4526280"/>
            <a:ext cx="2926080" cy="0"/>
          </a:xfrm>
          <a:prstGeom prst="line">
            <a:avLst/>
          </a:prstGeom>
          <a:noFill/>
          <a:ln w="19050">
            <a:solidFill>
              <a:srgbClr val="0E9E80"/>
            </a:solidFill>
            <a:prstDash val="solid"/>
          </a:ln>
        </p:spPr>
        <p:txBody>
          <a:bodyPr/>
          <a:lstStyle/>
          <a:p>
            <a:endParaRPr/>
          </a:p>
        </p:txBody>
      </p:sp>
      <p:sp>
        <p:nvSpPr>
          <p:cNvPr id="8" name="Text 6"/>
          <p:cNvSpPr/>
          <p:nvPr/>
        </p:nvSpPr>
        <p:spPr>
          <a:xfrm>
            <a:off x="640080" y="4709160"/>
            <a:ext cx="100584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Executive Briefing  ·  for the CEO, CFO &amp; Chief AI Officer</a:t>
            </a:r>
            <a:endParaRPr lang="en-US" sz="1400" dirty="0"/>
          </a:p>
        </p:txBody>
      </p:sp>
      <p:sp>
        <p:nvSpPr>
          <p:cNvPr id="9" name="Text 7"/>
          <p:cNvSpPr/>
          <p:nvPr/>
        </p:nvSpPr>
        <p:spPr>
          <a:xfrm>
            <a:off x="640080" y="5120640"/>
            <a:ext cx="10058400" cy="365760"/>
          </a:xfrm>
          <a:prstGeom prst="rect">
            <a:avLst/>
          </a:prstGeom>
          <a:noFill/>
          <a:ln/>
        </p:spPr>
        <p:txBody>
          <a:bodyPr wrap="square" lIns="0" tIns="0" rIns="0" bIns="0" rtlCol="0" anchor="ctr"/>
          <a:lstStyle/>
          <a:p>
            <a:pPr marL="0" indent="0">
              <a:buNone/>
            </a:pPr>
            <a:r>
              <a:rPr lang="en-US" sz="1200" dirty="0">
                <a:solidFill>
                  <a:srgbClr val="5D6B8C"/>
                </a:solidFill>
                <a:latin typeface="Calibri" pitchFamily="34" charset="0"/>
                <a:ea typeface="Calibri" pitchFamily="34" charset="-122"/>
                <a:cs typeface="Calibri" pitchFamily="34" charset="-120"/>
              </a:rPr>
              <a:t>Bristlecone   ·   Research-preview demonstrator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THE IDEA IN ONE PICTURE</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12 food trucks, or 1 restaurant?</a:t>
            </a:r>
            <a:endParaRPr lang="en-US" sz="3000" dirty="0"/>
          </a:p>
        </p:txBody>
      </p:sp>
      <p:sp>
        <p:nvSpPr>
          <p:cNvPr id="5" name="Text 3"/>
          <p:cNvSpPr/>
          <p:nvPr/>
        </p:nvSpPr>
        <p:spPr>
          <a:xfrm>
            <a:off x="640080" y="1536192"/>
            <a:ext cx="10911535" cy="658368"/>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Every AI agent secretly runs the same seven subsystems — it senses data, remembers, reasons, weighs evidence, acts, coordinates and explains. The question is whether you rebuild all seven for every job, or build them once and share.</a:t>
            </a:r>
            <a:endParaRPr lang="en-US" sz="1500" dirty="0"/>
          </a:p>
        </p:txBody>
      </p:sp>
      <p:sp>
        <p:nvSpPr>
          <p:cNvPr id="6" name="Shape 4"/>
          <p:cNvSpPr/>
          <p:nvPr/>
        </p:nvSpPr>
        <p:spPr>
          <a:xfrm>
            <a:off x="640080" y="2331720"/>
            <a:ext cx="5257800" cy="2743200"/>
          </a:xfrm>
          <a:prstGeom prst="roundRect">
            <a:avLst>
              <a:gd name="adj" fmla="val 3000"/>
            </a:avLst>
          </a:prstGeom>
          <a:solidFill>
            <a:srgbClr val="FCEEE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Text 5"/>
          <p:cNvSpPr/>
          <p:nvPr/>
        </p:nvSpPr>
        <p:spPr>
          <a:xfrm>
            <a:off x="960120" y="2487168"/>
            <a:ext cx="4663440" cy="365760"/>
          </a:xfrm>
          <a:prstGeom prst="rect">
            <a:avLst/>
          </a:prstGeom>
          <a:noFill/>
          <a:ln/>
        </p:spPr>
        <p:txBody>
          <a:bodyPr wrap="square" lIns="0" tIns="0" rIns="0" bIns="0" rtlCol="0" anchor="ctr"/>
          <a:lstStyle/>
          <a:p>
            <a:pPr marL="0" indent="0">
              <a:buNone/>
            </a:pPr>
            <a:r>
              <a:rPr lang="en-US" sz="1600" b="1" dirty="0">
                <a:solidFill>
                  <a:srgbClr val="14233F"/>
                </a:solidFill>
                <a:latin typeface="Cambria" pitchFamily="34" charset="0"/>
                <a:ea typeface="Cambria" pitchFamily="34" charset="-122"/>
                <a:cs typeface="Cambria" pitchFamily="34" charset="-120"/>
              </a:rPr>
              <a:t>Gen-1 = 12 food trucks</a:t>
            </a:r>
            <a:endParaRPr lang="en-US" sz="1600" dirty="0"/>
          </a:p>
        </p:txBody>
      </p:sp>
      <p:sp>
        <p:nvSpPr>
          <p:cNvPr id="8" name="Shape 6"/>
          <p:cNvSpPr/>
          <p:nvPr/>
        </p:nvSpPr>
        <p:spPr>
          <a:xfrm>
            <a:off x="960120" y="2907792"/>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9" name="Text 7"/>
          <p:cNvSpPr/>
          <p:nvPr/>
        </p:nvSpPr>
        <p:spPr>
          <a:xfrm>
            <a:off x="960120" y="2907792"/>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1</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10" name="Shape 8"/>
          <p:cNvSpPr/>
          <p:nvPr/>
        </p:nvSpPr>
        <p:spPr>
          <a:xfrm>
            <a:off x="2130552" y="2907792"/>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11" name="Text 9"/>
          <p:cNvSpPr/>
          <p:nvPr/>
        </p:nvSpPr>
        <p:spPr>
          <a:xfrm>
            <a:off x="2130552" y="2907792"/>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2</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12" name="Shape 10"/>
          <p:cNvSpPr/>
          <p:nvPr/>
        </p:nvSpPr>
        <p:spPr>
          <a:xfrm>
            <a:off x="3300984" y="2907792"/>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13" name="Text 11"/>
          <p:cNvSpPr/>
          <p:nvPr/>
        </p:nvSpPr>
        <p:spPr>
          <a:xfrm>
            <a:off x="3300984" y="2907792"/>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3</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14" name="Shape 12"/>
          <p:cNvSpPr/>
          <p:nvPr/>
        </p:nvSpPr>
        <p:spPr>
          <a:xfrm>
            <a:off x="4471416" y="2907792"/>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15" name="Text 13"/>
          <p:cNvSpPr/>
          <p:nvPr/>
        </p:nvSpPr>
        <p:spPr>
          <a:xfrm>
            <a:off x="4471416" y="2907792"/>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4</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16" name="Shape 14"/>
          <p:cNvSpPr/>
          <p:nvPr/>
        </p:nvSpPr>
        <p:spPr>
          <a:xfrm>
            <a:off x="960120" y="3419856"/>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17" name="Text 15"/>
          <p:cNvSpPr/>
          <p:nvPr/>
        </p:nvSpPr>
        <p:spPr>
          <a:xfrm>
            <a:off x="960120" y="3419856"/>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5</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18" name="Shape 16"/>
          <p:cNvSpPr/>
          <p:nvPr/>
        </p:nvSpPr>
        <p:spPr>
          <a:xfrm>
            <a:off x="2130552" y="3419856"/>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19" name="Text 17"/>
          <p:cNvSpPr/>
          <p:nvPr/>
        </p:nvSpPr>
        <p:spPr>
          <a:xfrm>
            <a:off x="2130552" y="3419856"/>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6</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20" name="Shape 18"/>
          <p:cNvSpPr/>
          <p:nvPr/>
        </p:nvSpPr>
        <p:spPr>
          <a:xfrm>
            <a:off x="3300984" y="3419856"/>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21" name="Text 19"/>
          <p:cNvSpPr/>
          <p:nvPr/>
        </p:nvSpPr>
        <p:spPr>
          <a:xfrm>
            <a:off x="3300984" y="3419856"/>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7</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22" name="Shape 20"/>
          <p:cNvSpPr/>
          <p:nvPr/>
        </p:nvSpPr>
        <p:spPr>
          <a:xfrm>
            <a:off x="4471416" y="3419856"/>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23" name="Text 21"/>
          <p:cNvSpPr/>
          <p:nvPr/>
        </p:nvSpPr>
        <p:spPr>
          <a:xfrm>
            <a:off x="4471416" y="3419856"/>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8</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24" name="Shape 22"/>
          <p:cNvSpPr/>
          <p:nvPr/>
        </p:nvSpPr>
        <p:spPr>
          <a:xfrm>
            <a:off x="960120" y="3931920"/>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25" name="Text 23"/>
          <p:cNvSpPr/>
          <p:nvPr/>
        </p:nvSpPr>
        <p:spPr>
          <a:xfrm>
            <a:off x="960120" y="3931920"/>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9</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26" name="Shape 24"/>
          <p:cNvSpPr/>
          <p:nvPr/>
        </p:nvSpPr>
        <p:spPr>
          <a:xfrm>
            <a:off x="2130552" y="3931920"/>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27" name="Text 25"/>
          <p:cNvSpPr/>
          <p:nvPr/>
        </p:nvSpPr>
        <p:spPr>
          <a:xfrm>
            <a:off x="2130552" y="3931920"/>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10</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28" name="Shape 26"/>
          <p:cNvSpPr/>
          <p:nvPr/>
        </p:nvSpPr>
        <p:spPr>
          <a:xfrm>
            <a:off x="3300984" y="3931920"/>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29" name="Text 27"/>
          <p:cNvSpPr/>
          <p:nvPr/>
        </p:nvSpPr>
        <p:spPr>
          <a:xfrm>
            <a:off x="3300984" y="3931920"/>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11</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30" name="Shape 28"/>
          <p:cNvSpPr/>
          <p:nvPr/>
        </p:nvSpPr>
        <p:spPr>
          <a:xfrm>
            <a:off x="4471416" y="3931920"/>
            <a:ext cx="1097280" cy="438912"/>
          </a:xfrm>
          <a:prstGeom prst="roundRect">
            <a:avLst>
              <a:gd name="adj" fmla="val 12500"/>
            </a:avLst>
          </a:prstGeom>
          <a:solidFill>
            <a:srgbClr val="FFFFFF"/>
          </a:solidFill>
          <a:ln w="12700">
            <a:solidFill>
              <a:srgbClr val="E2574C"/>
            </a:solidFill>
            <a:prstDash val="solid"/>
          </a:ln>
        </p:spPr>
        <p:txBody>
          <a:bodyPr/>
          <a:lstStyle/>
          <a:p>
            <a:endParaRPr/>
          </a:p>
        </p:txBody>
      </p:sp>
      <p:sp>
        <p:nvSpPr>
          <p:cNvPr id="31" name="Text 29"/>
          <p:cNvSpPr/>
          <p:nvPr/>
        </p:nvSpPr>
        <p:spPr>
          <a:xfrm>
            <a:off x="4471416" y="3931920"/>
            <a:ext cx="1097280" cy="438912"/>
          </a:xfrm>
          <a:prstGeom prst="rect">
            <a:avLst/>
          </a:prstGeom>
          <a:noFill/>
          <a:ln/>
        </p:spPr>
        <p:txBody>
          <a:bodyPr wrap="square" lIns="0" tIns="0" rIns="0" bIns="0" rtlCol="0" anchor="ctr"/>
          <a:lstStyle/>
          <a:p>
            <a:pPr marL="0" indent="0" algn="ctr">
              <a:buNone/>
            </a:pPr>
            <a:r>
              <a:rPr lang="en-US" sz="950" b="1" dirty="0">
                <a:solidFill>
                  <a:srgbClr val="14233F"/>
                </a:solidFill>
                <a:latin typeface="Calibri" pitchFamily="34" charset="0"/>
                <a:ea typeface="Calibri" pitchFamily="34" charset="-122"/>
                <a:cs typeface="Calibri" pitchFamily="34" charset="-120"/>
              </a:rPr>
              <a:t>Truck 12</a:t>
            </a:r>
            <a:r>
              <a:rPr lang="en-US" sz="950" b="1" dirty="0">
                <a:solidFill>
                  <a:srgbClr val="E2574C"/>
                </a:solidFill>
                <a:latin typeface="Calibri" pitchFamily="34" charset="0"/>
                <a:ea typeface="Calibri" pitchFamily="34" charset="-122"/>
                <a:cs typeface="Calibri" pitchFamily="34" charset="-120"/>
              </a:rPr>
              <a:t>  ·7</a:t>
            </a:r>
            <a:endParaRPr lang="en-US" sz="950" dirty="0"/>
          </a:p>
        </p:txBody>
      </p:sp>
      <p:sp>
        <p:nvSpPr>
          <p:cNvPr id="32" name="Text 30"/>
          <p:cNvSpPr/>
          <p:nvPr/>
        </p:nvSpPr>
        <p:spPr>
          <a:xfrm>
            <a:off x="960120" y="4526280"/>
            <a:ext cx="4663440" cy="365760"/>
          </a:xfrm>
          <a:prstGeom prst="rect">
            <a:avLst/>
          </a:prstGeom>
          <a:noFill/>
          <a:ln/>
        </p:spPr>
        <p:txBody>
          <a:bodyPr wrap="square" lIns="0" tIns="0" rIns="0" bIns="0" rtlCol="0" anchor="ctr"/>
          <a:lstStyle/>
          <a:p>
            <a:pPr marL="0" indent="0">
              <a:buNone/>
            </a:pPr>
            <a:r>
              <a:rPr lang="en-US" sz="1100" i="1" dirty="0">
                <a:solidFill>
                  <a:srgbClr val="5D6B8C"/>
                </a:solidFill>
                <a:latin typeface="Calibri" pitchFamily="34" charset="0"/>
                <a:ea typeface="Calibri" pitchFamily="34" charset="-122"/>
                <a:cs typeface="Calibri" pitchFamily="34" charset="-120"/>
              </a:rPr>
              <a:t>each with its own kitchen, fridge, staff &amp; till = 7 subsystems</a:t>
            </a:r>
            <a:endParaRPr lang="en-US" sz="1100" dirty="0"/>
          </a:p>
        </p:txBody>
      </p:sp>
      <p:sp>
        <p:nvSpPr>
          <p:cNvPr id="33" name="Shape 31"/>
          <p:cNvSpPr/>
          <p:nvPr/>
        </p:nvSpPr>
        <p:spPr>
          <a:xfrm>
            <a:off x="6263640" y="2331720"/>
            <a:ext cx="5257800" cy="2743200"/>
          </a:xfrm>
          <a:prstGeom prst="roundRect">
            <a:avLst>
              <a:gd name="adj" fmla="val 3000"/>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34" name="Text 32"/>
          <p:cNvSpPr/>
          <p:nvPr/>
        </p:nvSpPr>
        <p:spPr>
          <a:xfrm>
            <a:off x="6583680" y="2487168"/>
            <a:ext cx="4663440" cy="365760"/>
          </a:xfrm>
          <a:prstGeom prst="rect">
            <a:avLst/>
          </a:prstGeom>
          <a:noFill/>
          <a:ln/>
        </p:spPr>
        <p:txBody>
          <a:bodyPr wrap="square" lIns="0" tIns="0" rIns="0" bIns="0" rtlCol="0" anchor="ctr"/>
          <a:lstStyle/>
          <a:p>
            <a:pPr marL="0" indent="0">
              <a:buNone/>
            </a:pPr>
            <a:r>
              <a:rPr lang="en-US" sz="1600" b="1" dirty="0">
                <a:solidFill>
                  <a:srgbClr val="14233F"/>
                </a:solidFill>
                <a:latin typeface="Cambria" pitchFamily="34" charset="0"/>
                <a:ea typeface="Cambria" pitchFamily="34" charset="-122"/>
                <a:cs typeface="Cambria" pitchFamily="34" charset="-120"/>
              </a:rPr>
              <a:t>UNAI = 1 restaurant</a:t>
            </a:r>
            <a:endParaRPr lang="en-US" sz="1600" dirty="0"/>
          </a:p>
        </p:txBody>
      </p:sp>
      <p:sp>
        <p:nvSpPr>
          <p:cNvPr id="35" name="Shape 33"/>
          <p:cNvSpPr/>
          <p:nvPr/>
        </p:nvSpPr>
        <p:spPr>
          <a:xfrm>
            <a:off x="6583680" y="2907792"/>
            <a:ext cx="4617720" cy="603504"/>
          </a:xfrm>
          <a:prstGeom prst="roundRect">
            <a:avLst>
              <a:gd name="adj" fmla="val 12121"/>
            </a:avLst>
          </a:prstGeom>
          <a:solidFill>
            <a:srgbClr val="FFFFFF"/>
          </a:solidFill>
          <a:ln w="16510">
            <a:solidFill>
              <a:srgbClr val="22D3AA"/>
            </a:solidFill>
            <a:prstDash val="solid"/>
          </a:ln>
        </p:spPr>
        <p:txBody>
          <a:bodyPr/>
          <a:lstStyle/>
          <a:p>
            <a:endParaRPr/>
          </a:p>
        </p:txBody>
      </p:sp>
      <p:sp>
        <p:nvSpPr>
          <p:cNvPr id="36" name="Text 34"/>
          <p:cNvSpPr/>
          <p:nvPr/>
        </p:nvSpPr>
        <p:spPr>
          <a:xfrm>
            <a:off x="6583680" y="2907792"/>
            <a:ext cx="4617720" cy="603504"/>
          </a:xfrm>
          <a:prstGeom prst="rect">
            <a:avLst/>
          </a:prstGeom>
          <a:noFill/>
          <a:ln/>
        </p:spPr>
        <p:txBody>
          <a:bodyPr wrap="square" lIns="0" tIns="0" rIns="0" bIns="0" rtlCol="0" anchor="ctr"/>
          <a:lstStyle/>
          <a:p>
            <a:pPr marL="0" indent="0" algn="ctr">
              <a:buNone/>
            </a:pPr>
            <a:r>
              <a:rPr lang="en-US" sz="1200" b="1" dirty="0">
                <a:solidFill>
                  <a:srgbClr val="0E9E80"/>
                </a:solidFill>
                <a:latin typeface="Calibri" pitchFamily="34" charset="0"/>
                <a:ea typeface="Calibri" pitchFamily="34" charset="-122"/>
                <a:cs typeface="Calibri" pitchFamily="34" charset="-120"/>
              </a:rPr>
              <a:t>One shared kitchen · fridge · staff · till  (7, built once)</a:t>
            </a:r>
            <a:endParaRPr lang="en-US" sz="1200" dirty="0"/>
          </a:p>
        </p:txBody>
      </p:sp>
      <p:sp>
        <p:nvSpPr>
          <p:cNvPr id="37" name="Text 35"/>
          <p:cNvSpPr/>
          <p:nvPr/>
        </p:nvSpPr>
        <p:spPr>
          <a:xfrm>
            <a:off x="6583680" y="3657600"/>
            <a:ext cx="4617720" cy="320040"/>
          </a:xfrm>
          <a:prstGeom prst="rect">
            <a:avLst/>
          </a:prstGeom>
          <a:noFill/>
          <a:ln/>
        </p:spPr>
        <p:txBody>
          <a:bodyPr wrap="square" lIns="0" tIns="0" rIns="0" bIns="0" rtlCol="0" anchor="ctr"/>
          <a:lstStyle/>
          <a:p>
            <a:pPr marL="0" indent="0">
              <a:buNone/>
            </a:pPr>
            <a:r>
              <a:rPr lang="en-US" sz="1100" i="1" dirty="0">
                <a:solidFill>
                  <a:srgbClr val="5D6B8C"/>
                </a:solidFill>
                <a:latin typeface="Calibri" pitchFamily="34" charset="0"/>
                <a:ea typeface="Calibri" pitchFamily="34" charset="-122"/>
                <a:cs typeface="Calibri" pitchFamily="34" charset="-120"/>
              </a:rPr>
              <a:t>+ 12 recipes (the tool packs) — a recipe reuses the kitchen:</a:t>
            </a:r>
            <a:endParaRPr lang="en-US" sz="1100" dirty="0"/>
          </a:p>
        </p:txBody>
      </p:sp>
      <p:sp>
        <p:nvSpPr>
          <p:cNvPr id="38" name="Shape 36"/>
          <p:cNvSpPr/>
          <p:nvPr/>
        </p:nvSpPr>
        <p:spPr>
          <a:xfrm>
            <a:off x="6583680"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39" name="Text 37"/>
          <p:cNvSpPr/>
          <p:nvPr/>
        </p:nvSpPr>
        <p:spPr>
          <a:xfrm>
            <a:off x="6583680"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1</a:t>
            </a:r>
            <a:endParaRPr lang="en-US" sz="900" dirty="0"/>
          </a:p>
        </p:txBody>
      </p:sp>
      <p:sp>
        <p:nvSpPr>
          <p:cNvPr id="40" name="Shape 38"/>
          <p:cNvSpPr/>
          <p:nvPr/>
        </p:nvSpPr>
        <p:spPr>
          <a:xfrm>
            <a:off x="6967728"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41" name="Text 39"/>
          <p:cNvSpPr/>
          <p:nvPr/>
        </p:nvSpPr>
        <p:spPr>
          <a:xfrm>
            <a:off x="6967728"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2</a:t>
            </a:r>
            <a:endParaRPr lang="en-US" sz="900" dirty="0"/>
          </a:p>
        </p:txBody>
      </p:sp>
      <p:sp>
        <p:nvSpPr>
          <p:cNvPr id="42" name="Shape 40"/>
          <p:cNvSpPr/>
          <p:nvPr/>
        </p:nvSpPr>
        <p:spPr>
          <a:xfrm>
            <a:off x="7351776"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43" name="Text 41"/>
          <p:cNvSpPr/>
          <p:nvPr/>
        </p:nvSpPr>
        <p:spPr>
          <a:xfrm>
            <a:off x="7351776"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3</a:t>
            </a:r>
            <a:endParaRPr lang="en-US" sz="900" dirty="0"/>
          </a:p>
        </p:txBody>
      </p:sp>
      <p:sp>
        <p:nvSpPr>
          <p:cNvPr id="44" name="Shape 42"/>
          <p:cNvSpPr/>
          <p:nvPr/>
        </p:nvSpPr>
        <p:spPr>
          <a:xfrm>
            <a:off x="7735824"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45" name="Text 43"/>
          <p:cNvSpPr/>
          <p:nvPr/>
        </p:nvSpPr>
        <p:spPr>
          <a:xfrm>
            <a:off x="7735824"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4</a:t>
            </a:r>
            <a:endParaRPr lang="en-US" sz="900" dirty="0"/>
          </a:p>
        </p:txBody>
      </p:sp>
      <p:sp>
        <p:nvSpPr>
          <p:cNvPr id="46" name="Shape 44"/>
          <p:cNvSpPr/>
          <p:nvPr/>
        </p:nvSpPr>
        <p:spPr>
          <a:xfrm>
            <a:off x="8119872"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47" name="Text 45"/>
          <p:cNvSpPr/>
          <p:nvPr/>
        </p:nvSpPr>
        <p:spPr>
          <a:xfrm>
            <a:off x="8119872"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5</a:t>
            </a:r>
            <a:endParaRPr lang="en-US" sz="900" dirty="0"/>
          </a:p>
        </p:txBody>
      </p:sp>
      <p:sp>
        <p:nvSpPr>
          <p:cNvPr id="48" name="Shape 46"/>
          <p:cNvSpPr/>
          <p:nvPr/>
        </p:nvSpPr>
        <p:spPr>
          <a:xfrm>
            <a:off x="8503920"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49" name="Text 47"/>
          <p:cNvSpPr/>
          <p:nvPr/>
        </p:nvSpPr>
        <p:spPr>
          <a:xfrm>
            <a:off x="8503920"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6</a:t>
            </a:r>
            <a:endParaRPr lang="en-US" sz="900" dirty="0"/>
          </a:p>
        </p:txBody>
      </p:sp>
      <p:sp>
        <p:nvSpPr>
          <p:cNvPr id="50" name="Shape 48"/>
          <p:cNvSpPr/>
          <p:nvPr/>
        </p:nvSpPr>
        <p:spPr>
          <a:xfrm>
            <a:off x="8887968"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51" name="Text 49"/>
          <p:cNvSpPr/>
          <p:nvPr/>
        </p:nvSpPr>
        <p:spPr>
          <a:xfrm>
            <a:off x="8887968"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7</a:t>
            </a:r>
            <a:endParaRPr lang="en-US" sz="900" dirty="0"/>
          </a:p>
        </p:txBody>
      </p:sp>
      <p:sp>
        <p:nvSpPr>
          <p:cNvPr id="52" name="Shape 50"/>
          <p:cNvSpPr/>
          <p:nvPr/>
        </p:nvSpPr>
        <p:spPr>
          <a:xfrm>
            <a:off x="9272016"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53" name="Text 51"/>
          <p:cNvSpPr/>
          <p:nvPr/>
        </p:nvSpPr>
        <p:spPr>
          <a:xfrm>
            <a:off x="9272016"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8</a:t>
            </a:r>
            <a:endParaRPr lang="en-US" sz="900" dirty="0"/>
          </a:p>
        </p:txBody>
      </p:sp>
      <p:sp>
        <p:nvSpPr>
          <p:cNvPr id="54" name="Shape 52"/>
          <p:cNvSpPr/>
          <p:nvPr/>
        </p:nvSpPr>
        <p:spPr>
          <a:xfrm>
            <a:off x="9656064"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55" name="Text 53"/>
          <p:cNvSpPr/>
          <p:nvPr/>
        </p:nvSpPr>
        <p:spPr>
          <a:xfrm>
            <a:off x="9656064"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9</a:t>
            </a:r>
            <a:endParaRPr lang="en-US" sz="900" dirty="0"/>
          </a:p>
        </p:txBody>
      </p:sp>
      <p:sp>
        <p:nvSpPr>
          <p:cNvPr id="56" name="Shape 54"/>
          <p:cNvSpPr/>
          <p:nvPr/>
        </p:nvSpPr>
        <p:spPr>
          <a:xfrm>
            <a:off x="10040112"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57" name="Text 55"/>
          <p:cNvSpPr/>
          <p:nvPr/>
        </p:nvSpPr>
        <p:spPr>
          <a:xfrm>
            <a:off x="10040112"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10</a:t>
            </a:r>
            <a:endParaRPr lang="en-US" sz="900" dirty="0"/>
          </a:p>
        </p:txBody>
      </p:sp>
      <p:sp>
        <p:nvSpPr>
          <p:cNvPr id="58" name="Shape 56"/>
          <p:cNvSpPr/>
          <p:nvPr/>
        </p:nvSpPr>
        <p:spPr>
          <a:xfrm>
            <a:off x="10424160"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59" name="Text 57"/>
          <p:cNvSpPr/>
          <p:nvPr/>
        </p:nvSpPr>
        <p:spPr>
          <a:xfrm>
            <a:off x="10424160"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11</a:t>
            </a:r>
            <a:endParaRPr lang="en-US" sz="900" dirty="0"/>
          </a:p>
        </p:txBody>
      </p:sp>
      <p:sp>
        <p:nvSpPr>
          <p:cNvPr id="60" name="Shape 58"/>
          <p:cNvSpPr/>
          <p:nvPr/>
        </p:nvSpPr>
        <p:spPr>
          <a:xfrm>
            <a:off x="10808208" y="4023360"/>
            <a:ext cx="347472" cy="384048"/>
          </a:xfrm>
          <a:prstGeom prst="roundRect">
            <a:avLst>
              <a:gd name="adj" fmla="val 15789"/>
            </a:avLst>
          </a:prstGeom>
          <a:solidFill>
            <a:srgbClr val="FFFFFF"/>
          </a:solidFill>
          <a:ln w="12700">
            <a:solidFill>
              <a:srgbClr val="9B6BFF"/>
            </a:solidFill>
            <a:prstDash val="solid"/>
          </a:ln>
        </p:spPr>
        <p:txBody>
          <a:bodyPr/>
          <a:lstStyle/>
          <a:p>
            <a:endParaRPr/>
          </a:p>
        </p:txBody>
      </p:sp>
      <p:sp>
        <p:nvSpPr>
          <p:cNvPr id="61" name="Text 59"/>
          <p:cNvSpPr/>
          <p:nvPr/>
        </p:nvSpPr>
        <p:spPr>
          <a:xfrm>
            <a:off x="10808208" y="4023360"/>
            <a:ext cx="347472" cy="384048"/>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12</a:t>
            </a:r>
            <a:endParaRPr lang="en-US" sz="900" dirty="0"/>
          </a:p>
        </p:txBody>
      </p:sp>
      <p:sp>
        <p:nvSpPr>
          <p:cNvPr id="62" name="Text 60"/>
          <p:cNvSpPr/>
          <p:nvPr/>
        </p:nvSpPr>
        <p:spPr>
          <a:xfrm>
            <a:off x="6583680" y="4526280"/>
            <a:ext cx="4617720" cy="365760"/>
          </a:xfrm>
          <a:prstGeom prst="rect">
            <a:avLst/>
          </a:prstGeom>
          <a:noFill/>
          <a:ln/>
        </p:spPr>
        <p:txBody>
          <a:bodyPr wrap="square" lIns="0" tIns="0" rIns="0" bIns="0" rtlCol="0" anchor="ctr"/>
          <a:lstStyle/>
          <a:p>
            <a:pPr marL="0" indent="0">
              <a:buNone/>
            </a:pPr>
            <a:r>
              <a:rPr lang="en-US" sz="1100" i="1" dirty="0">
                <a:solidFill>
                  <a:srgbClr val="5D6B8C"/>
                </a:solidFill>
                <a:latin typeface="Calibri" pitchFamily="34" charset="0"/>
                <a:ea typeface="Calibri" pitchFamily="34" charset="-122"/>
                <a:cs typeface="Calibri" pitchFamily="34" charset="-120"/>
              </a:rPr>
              <a:t>recipes reuse the one kitchen — they aren't new kitchens</a:t>
            </a:r>
            <a:endParaRPr lang="en-US" sz="1100" dirty="0"/>
          </a:p>
        </p:txBody>
      </p:sp>
      <p:sp>
        <p:nvSpPr>
          <p:cNvPr id="63" name="Text 61"/>
          <p:cNvSpPr/>
          <p:nvPr/>
        </p:nvSpPr>
        <p:spPr>
          <a:xfrm>
            <a:off x="914400" y="5212080"/>
            <a:ext cx="1188720" cy="640080"/>
          </a:xfrm>
          <a:prstGeom prst="rect">
            <a:avLst/>
          </a:prstGeom>
          <a:noFill/>
          <a:ln/>
        </p:spPr>
        <p:txBody>
          <a:bodyPr wrap="square" lIns="0" tIns="0" rIns="0" bIns="0" rtlCol="0" anchor="ctr"/>
          <a:lstStyle/>
          <a:p>
            <a:pPr marL="0" indent="0">
              <a:buNone/>
            </a:pPr>
            <a:r>
              <a:rPr lang="en-US" sz="3800" b="1" dirty="0">
                <a:solidFill>
                  <a:srgbClr val="E2574C"/>
                </a:solidFill>
                <a:latin typeface="Cambria" pitchFamily="34" charset="0"/>
                <a:ea typeface="Cambria" pitchFamily="34" charset="-122"/>
                <a:cs typeface="Cambria" pitchFamily="34" charset="-120"/>
              </a:rPr>
              <a:t>84</a:t>
            </a:r>
            <a:endParaRPr lang="en-US" sz="3800" dirty="0"/>
          </a:p>
        </p:txBody>
      </p:sp>
      <p:sp>
        <p:nvSpPr>
          <p:cNvPr id="64" name="Text 62"/>
          <p:cNvSpPr/>
          <p:nvPr/>
        </p:nvSpPr>
        <p:spPr>
          <a:xfrm>
            <a:off x="2057400" y="5358384"/>
            <a:ext cx="3657600" cy="365760"/>
          </a:xfrm>
          <a:prstGeom prst="rect">
            <a:avLst/>
          </a:prstGeom>
          <a:noFill/>
          <a:ln/>
        </p:spPr>
        <p:txBody>
          <a:bodyPr wrap="square" lIns="0" tIns="0" rIns="0" bIns="0" rtlCol="0" anchor="ctr"/>
          <a:lstStyle/>
          <a:p>
            <a:pPr marL="0" indent="0">
              <a:buNone/>
            </a:pPr>
            <a:r>
              <a:rPr lang="en-US" sz="1200" dirty="0">
                <a:solidFill>
                  <a:srgbClr val="5D6B8C"/>
                </a:solidFill>
                <a:latin typeface="Calibri" pitchFamily="34" charset="0"/>
                <a:ea typeface="Calibri" pitchFamily="34" charset="-122"/>
                <a:cs typeface="Calibri" pitchFamily="34" charset="-120"/>
              </a:rPr>
              <a:t>subsystems to build &amp; run</a:t>
            </a:r>
            <a:endParaRPr lang="en-US" sz="1200" dirty="0"/>
          </a:p>
        </p:txBody>
      </p:sp>
      <p:sp>
        <p:nvSpPr>
          <p:cNvPr id="65" name="Text 63"/>
          <p:cNvSpPr/>
          <p:nvPr/>
        </p:nvSpPr>
        <p:spPr>
          <a:xfrm>
            <a:off x="6537960" y="5212080"/>
            <a:ext cx="1188720" cy="640080"/>
          </a:xfrm>
          <a:prstGeom prst="rect">
            <a:avLst/>
          </a:prstGeom>
          <a:noFill/>
          <a:ln/>
        </p:spPr>
        <p:txBody>
          <a:bodyPr wrap="square" lIns="0" tIns="0" rIns="0" bIns="0" rtlCol="0" anchor="ctr"/>
          <a:lstStyle/>
          <a:p>
            <a:pPr marL="0" indent="0">
              <a:buNone/>
            </a:pPr>
            <a:r>
              <a:rPr lang="en-US" sz="3800" b="1" dirty="0">
                <a:solidFill>
                  <a:srgbClr val="0E9E80"/>
                </a:solidFill>
                <a:latin typeface="Cambria" pitchFamily="34" charset="0"/>
                <a:ea typeface="Cambria" pitchFamily="34" charset="-122"/>
                <a:cs typeface="Cambria" pitchFamily="34" charset="-120"/>
              </a:rPr>
              <a:t>19</a:t>
            </a:r>
            <a:endParaRPr lang="en-US" sz="3800" dirty="0"/>
          </a:p>
        </p:txBody>
      </p:sp>
      <p:sp>
        <p:nvSpPr>
          <p:cNvPr id="66" name="Text 64"/>
          <p:cNvSpPr/>
          <p:nvPr/>
        </p:nvSpPr>
        <p:spPr>
          <a:xfrm>
            <a:off x="7680960" y="5358384"/>
            <a:ext cx="3840480" cy="365760"/>
          </a:xfrm>
          <a:prstGeom prst="rect">
            <a:avLst/>
          </a:prstGeom>
          <a:noFill/>
          <a:ln/>
        </p:spPr>
        <p:txBody>
          <a:bodyPr wrap="square" lIns="0" tIns="0" rIns="0" bIns="0" rtlCol="0" anchor="ctr"/>
          <a:lstStyle/>
          <a:p>
            <a:pPr marL="0" indent="0">
              <a:buNone/>
            </a:pPr>
            <a:r>
              <a:rPr lang="en-US" sz="1200" dirty="0">
                <a:solidFill>
                  <a:srgbClr val="5D6B8C"/>
                </a:solidFill>
                <a:latin typeface="Calibri" pitchFamily="34" charset="0"/>
                <a:ea typeface="Calibri" pitchFamily="34" charset="-122"/>
                <a:cs typeface="Calibri" pitchFamily="34" charset="-120"/>
              </a:rPr>
              <a:t>things to run (7 shared + 12 recipes)</a:t>
            </a:r>
            <a:endParaRPr lang="en-US" sz="1200" dirty="0"/>
          </a:p>
        </p:txBody>
      </p:sp>
      <p:sp>
        <p:nvSpPr>
          <p:cNvPr id="67" name="Text 65"/>
          <p:cNvSpPr/>
          <p:nvPr/>
        </p:nvSpPr>
        <p:spPr>
          <a:xfrm>
            <a:off x="640080" y="5989320"/>
            <a:ext cx="10911535" cy="365760"/>
          </a:xfrm>
          <a:prstGeom prst="rect">
            <a:avLst/>
          </a:prstGeom>
          <a:noFill/>
          <a:ln/>
        </p:spPr>
        <p:txBody>
          <a:bodyPr wrap="square" lIns="0" tIns="0" rIns="0" bIns="0" rtlCol="0" anchor="ctr"/>
          <a:lstStyle/>
          <a:p>
            <a:pPr marL="0" indent="0">
              <a:buNone/>
            </a:pPr>
            <a:r>
              <a:rPr lang="en-US" sz="1300" i="1" dirty="0">
                <a:solidFill>
                  <a:srgbClr val="0E9E80"/>
                </a:solidFill>
                <a:latin typeface="Calibri" pitchFamily="34" charset="0"/>
                <a:ea typeface="Calibri" pitchFamily="34" charset="-122"/>
                <a:cs typeface="Calibri" pitchFamily="34" charset="-120"/>
              </a:rPr>
              <a:t>Same 12 meals — one kitchen, not twelve. Build the hard 90% once; each new dish is just a recipe. That is UNAI.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THE PROBLEM</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Agent sprawl: cost that scales with the number of agents</a:t>
            </a:r>
            <a:endParaRPr lang="en-US" sz="3000" dirty="0"/>
          </a:p>
        </p:txBody>
      </p:sp>
      <p:sp>
        <p:nvSpPr>
          <p:cNvPr id="5" name="Text 3"/>
          <p:cNvSpPr/>
          <p:nvPr/>
        </p:nvSpPr>
        <p:spPr>
          <a:xfrm>
            <a:off x="640080" y="1600200"/>
            <a:ext cx="10911535" cy="731520"/>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The common pattern today is a new specialist agent for every task. Each one re-builds the same plumbing, re-maps every system it touches, and must be wired to the others — so cost, risk and latency grow with the count of agents, not the value delivered.</a:t>
            </a:r>
            <a:endParaRPr lang="en-US" sz="1500" dirty="0"/>
          </a:p>
        </p:txBody>
      </p:sp>
      <p:sp>
        <p:nvSpPr>
          <p:cNvPr id="6" name="Shape 4"/>
          <p:cNvSpPr/>
          <p:nvPr/>
        </p:nvSpPr>
        <p:spPr>
          <a:xfrm>
            <a:off x="640080" y="2514600"/>
            <a:ext cx="2522144" cy="3108960"/>
          </a:xfrm>
          <a:prstGeom prst="roundRect">
            <a:avLst>
              <a:gd name="adj" fmla="val 3263"/>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Shape 5"/>
          <p:cNvSpPr/>
          <p:nvPr/>
        </p:nvSpPr>
        <p:spPr>
          <a:xfrm>
            <a:off x="914400" y="2788920"/>
            <a:ext cx="457200" cy="457200"/>
          </a:xfrm>
          <a:prstGeom prst="ellipse">
            <a:avLst/>
          </a:prstGeom>
          <a:solidFill>
            <a:srgbClr val="FCE9E7"/>
          </a:solidFill>
          <a:ln/>
        </p:spPr>
        <p:txBody>
          <a:bodyPr/>
          <a:lstStyle/>
          <a:p>
            <a:endParaRPr/>
          </a:p>
        </p:txBody>
      </p:sp>
      <p:sp>
        <p:nvSpPr>
          <p:cNvPr id="8" name="Text 6"/>
          <p:cNvSpPr/>
          <p:nvPr/>
        </p:nvSpPr>
        <p:spPr>
          <a:xfrm>
            <a:off x="914400" y="2788920"/>
            <a:ext cx="457200" cy="457200"/>
          </a:xfrm>
          <a:prstGeom prst="rect">
            <a:avLst/>
          </a:prstGeom>
          <a:noFill/>
          <a:ln/>
        </p:spPr>
        <p:txBody>
          <a:bodyPr wrap="square" lIns="0" tIns="0" rIns="0" bIns="0" rtlCol="0" anchor="ctr"/>
          <a:lstStyle/>
          <a:p>
            <a:pPr marL="0" indent="0" algn="ctr">
              <a:buNone/>
            </a:pPr>
            <a:r>
              <a:rPr lang="en-US" sz="1800" b="1" dirty="0">
                <a:solidFill>
                  <a:srgbClr val="E2574C"/>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914400" y="3383280"/>
            <a:ext cx="1973504" cy="64008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7 layers, rebuilt N times</a:t>
            </a:r>
            <a:endParaRPr lang="en-US" sz="1500" dirty="0"/>
          </a:p>
        </p:txBody>
      </p:sp>
      <p:sp>
        <p:nvSpPr>
          <p:cNvPr id="10" name="Text 8"/>
          <p:cNvSpPr/>
          <p:nvPr/>
        </p:nvSpPr>
        <p:spPr>
          <a:xfrm>
            <a:off x="914400" y="4023360"/>
            <a:ext cx="1973504" cy="1463040"/>
          </a:xfrm>
          <a:prstGeom prst="rect">
            <a:avLst/>
          </a:prstGeom>
          <a:noFill/>
          <a:ln/>
        </p:spPr>
        <p:txBody>
          <a:bodyPr wrap="square" lIns="0" tIns="0" rIns="0" bIns="0" rtlCol="0" anchor="ctr"/>
          <a:lstStyle/>
          <a:p>
            <a:pPr marL="0" indent="0">
              <a:lnSpc>
                <a:spcPct val="104000"/>
              </a:lnSpc>
              <a:buNone/>
            </a:pPr>
            <a:r>
              <a:rPr lang="en-US" sz="1200" dirty="0">
                <a:solidFill>
                  <a:srgbClr val="5D6B8C"/>
                </a:solidFill>
                <a:latin typeface="Calibri" pitchFamily="34" charset="0"/>
                <a:ea typeface="Calibri" pitchFamily="34" charset="-122"/>
                <a:cs typeface="Calibri" pitchFamily="34" charset="-120"/>
              </a:rPr>
              <a:t>Every agent re-implements perception, memory, reasoning, evidence, action, collaboration and explainability — the expensive 90%, duplicated.</a:t>
            </a:r>
            <a:endParaRPr lang="en-US" sz="1200" dirty="0"/>
          </a:p>
        </p:txBody>
      </p:sp>
      <p:sp>
        <p:nvSpPr>
          <p:cNvPr id="11" name="Shape 9"/>
          <p:cNvSpPr/>
          <p:nvPr/>
        </p:nvSpPr>
        <p:spPr>
          <a:xfrm>
            <a:off x="3436544" y="2514600"/>
            <a:ext cx="2522144" cy="3108960"/>
          </a:xfrm>
          <a:prstGeom prst="roundRect">
            <a:avLst>
              <a:gd name="adj" fmla="val 3263"/>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2" name="Shape 10"/>
          <p:cNvSpPr/>
          <p:nvPr/>
        </p:nvSpPr>
        <p:spPr>
          <a:xfrm>
            <a:off x="3710864" y="2788920"/>
            <a:ext cx="457200" cy="457200"/>
          </a:xfrm>
          <a:prstGeom prst="ellipse">
            <a:avLst/>
          </a:prstGeom>
          <a:solidFill>
            <a:srgbClr val="FCE9E7"/>
          </a:solidFill>
          <a:ln/>
        </p:spPr>
        <p:txBody>
          <a:bodyPr/>
          <a:lstStyle/>
          <a:p>
            <a:endParaRPr/>
          </a:p>
        </p:txBody>
      </p:sp>
      <p:sp>
        <p:nvSpPr>
          <p:cNvPr id="13" name="Text 11"/>
          <p:cNvSpPr/>
          <p:nvPr/>
        </p:nvSpPr>
        <p:spPr>
          <a:xfrm>
            <a:off x="3710864" y="2788920"/>
            <a:ext cx="457200" cy="457200"/>
          </a:xfrm>
          <a:prstGeom prst="rect">
            <a:avLst/>
          </a:prstGeom>
          <a:noFill/>
          <a:ln/>
        </p:spPr>
        <p:txBody>
          <a:bodyPr wrap="square" lIns="0" tIns="0" rIns="0" bIns="0" rtlCol="0" anchor="ctr"/>
          <a:lstStyle/>
          <a:p>
            <a:pPr marL="0" indent="0" algn="ctr">
              <a:buNone/>
            </a:pPr>
            <a:r>
              <a:rPr lang="en-US" sz="1800" b="1" dirty="0">
                <a:solidFill>
                  <a:srgbClr val="E2574C"/>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3710864" y="3383280"/>
            <a:ext cx="1973504" cy="64008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Integration grows as N²</a:t>
            </a:r>
            <a:endParaRPr lang="en-US" sz="1500" dirty="0"/>
          </a:p>
        </p:txBody>
      </p:sp>
      <p:sp>
        <p:nvSpPr>
          <p:cNvPr id="15" name="Text 13"/>
          <p:cNvSpPr/>
          <p:nvPr/>
        </p:nvSpPr>
        <p:spPr>
          <a:xfrm>
            <a:off x="3710864" y="4023360"/>
            <a:ext cx="1973504" cy="1463040"/>
          </a:xfrm>
          <a:prstGeom prst="rect">
            <a:avLst/>
          </a:prstGeom>
          <a:noFill/>
          <a:ln/>
        </p:spPr>
        <p:txBody>
          <a:bodyPr wrap="square" lIns="0" tIns="0" rIns="0" bIns="0" rtlCol="0" anchor="ctr"/>
          <a:lstStyle/>
          <a:p>
            <a:pPr marL="0" indent="0">
              <a:lnSpc>
                <a:spcPct val="104000"/>
              </a:lnSpc>
              <a:buNone/>
            </a:pPr>
            <a:r>
              <a:rPr lang="en-US" sz="1200" dirty="0">
                <a:solidFill>
                  <a:srgbClr val="5D6B8C"/>
                </a:solidFill>
                <a:latin typeface="Calibri" pitchFamily="34" charset="0"/>
                <a:ea typeface="Calibri" pitchFamily="34" charset="-122"/>
                <a:cs typeface="Calibri" pitchFamily="34" charset="-120"/>
              </a:rPr>
              <a:t>Point-to-point coordination between agents scales as N(N-1)/2 — 10 agents means 45 connections to build and maintain.</a:t>
            </a:r>
            <a:endParaRPr lang="en-US" sz="1200" dirty="0"/>
          </a:p>
        </p:txBody>
      </p:sp>
      <p:sp>
        <p:nvSpPr>
          <p:cNvPr id="16" name="Shape 14"/>
          <p:cNvSpPr/>
          <p:nvPr/>
        </p:nvSpPr>
        <p:spPr>
          <a:xfrm>
            <a:off x="6233008" y="2514600"/>
            <a:ext cx="2522144" cy="3108960"/>
          </a:xfrm>
          <a:prstGeom prst="roundRect">
            <a:avLst>
              <a:gd name="adj" fmla="val 3263"/>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7" name="Shape 15"/>
          <p:cNvSpPr/>
          <p:nvPr/>
        </p:nvSpPr>
        <p:spPr>
          <a:xfrm>
            <a:off x="6507328" y="2788920"/>
            <a:ext cx="457200" cy="457200"/>
          </a:xfrm>
          <a:prstGeom prst="ellipse">
            <a:avLst/>
          </a:prstGeom>
          <a:solidFill>
            <a:srgbClr val="FCE9E7"/>
          </a:solidFill>
          <a:ln/>
        </p:spPr>
        <p:txBody>
          <a:bodyPr/>
          <a:lstStyle/>
          <a:p>
            <a:endParaRPr/>
          </a:p>
        </p:txBody>
      </p:sp>
      <p:sp>
        <p:nvSpPr>
          <p:cNvPr id="18" name="Text 16"/>
          <p:cNvSpPr/>
          <p:nvPr/>
        </p:nvSpPr>
        <p:spPr>
          <a:xfrm>
            <a:off x="6507328" y="2788920"/>
            <a:ext cx="457200" cy="457200"/>
          </a:xfrm>
          <a:prstGeom prst="rect">
            <a:avLst/>
          </a:prstGeom>
          <a:noFill/>
          <a:ln/>
        </p:spPr>
        <p:txBody>
          <a:bodyPr wrap="square" lIns="0" tIns="0" rIns="0" bIns="0" rtlCol="0" anchor="ctr"/>
          <a:lstStyle/>
          <a:p>
            <a:pPr marL="0" indent="0" algn="ctr">
              <a:buNone/>
            </a:pPr>
            <a:r>
              <a:rPr lang="en-US" sz="1800" b="1" dirty="0">
                <a:solidFill>
                  <a:srgbClr val="E2574C"/>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6507328" y="3383280"/>
            <a:ext cx="1973504" cy="64008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Re-mapping on every hop</a:t>
            </a:r>
            <a:endParaRPr lang="en-US" sz="1500" dirty="0"/>
          </a:p>
        </p:txBody>
      </p:sp>
      <p:sp>
        <p:nvSpPr>
          <p:cNvPr id="20" name="Text 18"/>
          <p:cNvSpPr/>
          <p:nvPr/>
        </p:nvSpPr>
        <p:spPr>
          <a:xfrm>
            <a:off x="6507328" y="4023360"/>
            <a:ext cx="1973504" cy="1463040"/>
          </a:xfrm>
          <a:prstGeom prst="rect">
            <a:avLst/>
          </a:prstGeom>
          <a:noFill/>
          <a:ln/>
        </p:spPr>
        <p:txBody>
          <a:bodyPr wrap="square" lIns="0" tIns="0" rIns="0" bIns="0" rtlCol="0" anchor="ctr"/>
          <a:lstStyle/>
          <a:p>
            <a:pPr marL="0" indent="0">
              <a:lnSpc>
                <a:spcPct val="104000"/>
              </a:lnSpc>
              <a:buNone/>
            </a:pPr>
            <a:r>
              <a:rPr lang="en-US" sz="1200" dirty="0">
                <a:solidFill>
                  <a:srgbClr val="5D6B8C"/>
                </a:solidFill>
                <a:latin typeface="Calibri" pitchFamily="34" charset="0"/>
                <a:ea typeface="Calibri" pitchFamily="34" charset="-122"/>
                <a:cs typeface="Calibri" pitchFamily="34" charset="-120"/>
              </a:rPr>
              <a:t>Each agent re-maps each system's schema itself, so moving across SAP / lakehouse / ITSM costs integration effort again and again.</a:t>
            </a:r>
            <a:endParaRPr lang="en-US" sz="1200" dirty="0"/>
          </a:p>
        </p:txBody>
      </p:sp>
      <p:sp>
        <p:nvSpPr>
          <p:cNvPr id="21" name="Shape 19"/>
          <p:cNvSpPr/>
          <p:nvPr/>
        </p:nvSpPr>
        <p:spPr>
          <a:xfrm>
            <a:off x="9029471" y="2514600"/>
            <a:ext cx="2522144" cy="3108960"/>
          </a:xfrm>
          <a:prstGeom prst="roundRect">
            <a:avLst>
              <a:gd name="adj" fmla="val 3263"/>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2" name="Shape 20"/>
          <p:cNvSpPr/>
          <p:nvPr/>
        </p:nvSpPr>
        <p:spPr>
          <a:xfrm>
            <a:off x="9303791" y="2788920"/>
            <a:ext cx="457200" cy="457200"/>
          </a:xfrm>
          <a:prstGeom prst="ellipse">
            <a:avLst/>
          </a:prstGeom>
          <a:solidFill>
            <a:srgbClr val="FCE9E7"/>
          </a:solidFill>
          <a:ln/>
        </p:spPr>
        <p:txBody>
          <a:bodyPr/>
          <a:lstStyle/>
          <a:p>
            <a:endParaRPr/>
          </a:p>
        </p:txBody>
      </p:sp>
      <p:sp>
        <p:nvSpPr>
          <p:cNvPr id="23" name="Text 21"/>
          <p:cNvSpPr/>
          <p:nvPr/>
        </p:nvSpPr>
        <p:spPr>
          <a:xfrm>
            <a:off x="9303791" y="2788920"/>
            <a:ext cx="457200" cy="457200"/>
          </a:xfrm>
          <a:prstGeom prst="rect">
            <a:avLst/>
          </a:prstGeom>
          <a:noFill/>
          <a:ln/>
        </p:spPr>
        <p:txBody>
          <a:bodyPr wrap="square" lIns="0" tIns="0" rIns="0" bIns="0" rtlCol="0" anchor="ctr"/>
          <a:lstStyle/>
          <a:p>
            <a:pPr marL="0" indent="0" algn="ctr">
              <a:buNone/>
            </a:pPr>
            <a:r>
              <a:rPr lang="en-US" sz="1800" b="1" dirty="0">
                <a:solidFill>
                  <a:srgbClr val="E2574C"/>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9303791" y="3383280"/>
            <a:ext cx="1973504" cy="64008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Scattered governance &amp; logs</a:t>
            </a:r>
            <a:endParaRPr lang="en-US" sz="1500" dirty="0"/>
          </a:p>
        </p:txBody>
      </p:sp>
      <p:sp>
        <p:nvSpPr>
          <p:cNvPr id="25" name="Text 23"/>
          <p:cNvSpPr/>
          <p:nvPr/>
        </p:nvSpPr>
        <p:spPr>
          <a:xfrm>
            <a:off x="9303791" y="4023360"/>
            <a:ext cx="1973504" cy="1463040"/>
          </a:xfrm>
          <a:prstGeom prst="rect">
            <a:avLst/>
          </a:prstGeom>
          <a:noFill/>
          <a:ln/>
        </p:spPr>
        <p:txBody>
          <a:bodyPr wrap="square" lIns="0" tIns="0" rIns="0" bIns="0" rtlCol="0" anchor="ctr"/>
          <a:lstStyle/>
          <a:p>
            <a:pPr marL="0" indent="0">
              <a:lnSpc>
                <a:spcPct val="104000"/>
              </a:lnSpc>
              <a:buNone/>
            </a:pPr>
            <a:r>
              <a:rPr lang="en-US" sz="1200" dirty="0">
                <a:solidFill>
                  <a:srgbClr val="5D6B8C"/>
                </a:solidFill>
                <a:latin typeface="Calibri" pitchFamily="34" charset="0"/>
                <a:ea typeface="Calibri" pitchFamily="34" charset="-122"/>
                <a:cs typeface="Calibri" pitchFamily="34" charset="-120"/>
              </a:rPr>
              <a:t>Telemetry, audit and guardrails are re-done per agent — inconsistent autonomy and a compliance headache.</a:t>
            </a:r>
            <a:endParaRPr lang="en-US" sz="1200" dirty="0"/>
          </a:p>
        </p:txBody>
      </p:sp>
      <p:sp>
        <p:nvSpPr>
          <p:cNvPr id="26" name="Text 24"/>
          <p:cNvSpPr/>
          <p:nvPr/>
        </p:nvSpPr>
        <p:spPr>
          <a:xfrm>
            <a:off x="640080" y="5852160"/>
            <a:ext cx="10058400" cy="365760"/>
          </a:xfrm>
          <a:prstGeom prst="rect">
            <a:avLst/>
          </a:prstGeom>
          <a:noFill/>
          <a:ln/>
        </p:spPr>
        <p:txBody>
          <a:bodyPr wrap="square" lIns="0" tIns="0" rIns="0" bIns="0" rtlCol="0" anchor="ctr"/>
          <a:lstStyle/>
          <a:p>
            <a:pPr marL="0" indent="0">
              <a:buNone/>
            </a:pPr>
            <a:r>
              <a:rPr lang="en-US" sz="1300" i="1" dirty="0">
                <a:solidFill>
                  <a:srgbClr val="E2574C"/>
                </a:solidFill>
                <a:latin typeface="Calibri" pitchFamily="34" charset="0"/>
                <a:ea typeface="Calibri" pitchFamily="34" charset="-122"/>
                <a:cs typeface="Calibri" pitchFamily="34" charset="-120"/>
              </a:rPr>
              <a:t>Result: pilots multiply, but unit economics get worse as you scale.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THE APPROACH</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Build the seven layers once. Add capability as configuration.</a:t>
            </a:r>
            <a:endParaRPr lang="en-US" sz="3000" dirty="0"/>
          </a:p>
        </p:txBody>
      </p:sp>
      <p:sp>
        <p:nvSpPr>
          <p:cNvPr id="5" name="Text 3"/>
          <p:cNvSpPr/>
          <p:nvPr/>
        </p:nvSpPr>
        <p:spPr>
          <a:xfrm>
            <a:off x="640080" y="1600200"/>
            <a:ext cx="10911535" cy="777240"/>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UNAI implements the seven shared layers a single time and adds each new business capability as a lightweight “tool pack,” not a new agent. A canonical ontology lets it read and write any system in one shared language — so context-switching across systems costs nothing.</a:t>
            </a:r>
            <a:endParaRPr lang="en-US" sz="1500" dirty="0"/>
          </a:p>
        </p:txBody>
      </p:sp>
      <p:sp>
        <p:nvSpPr>
          <p:cNvPr id="6" name="Shape 4"/>
          <p:cNvSpPr/>
          <p:nvPr/>
        </p:nvSpPr>
        <p:spPr>
          <a:xfrm>
            <a:off x="640080" y="2560320"/>
            <a:ext cx="5486400" cy="3566160"/>
          </a:xfrm>
          <a:prstGeom prst="roundRect">
            <a:avLst>
              <a:gd name="adj" fmla="val 2308"/>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Text 5"/>
          <p:cNvSpPr/>
          <p:nvPr/>
        </p:nvSpPr>
        <p:spPr>
          <a:xfrm>
            <a:off x="960120" y="2743200"/>
            <a:ext cx="4846320" cy="365760"/>
          </a:xfrm>
          <a:prstGeom prst="rect">
            <a:avLst/>
          </a:prstGeom>
          <a:noFill/>
          <a:ln/>
        </p:spPr>
        <p:txBody>
          <a:bodyPr wrap="square" lIns="0" tIns="0" rIns="0" bIns="0" rtlCol="0" anchor="ctr"/>
          <a:lstStyle/>
          <a:p>
            <a:pPr marL="0" indent="0">
              <a:buNone/>
            </a:pPr>
            <a:r>
              <a:rPr lang="en-US" sz="1600" b="1" dirty="0">
                <a:solidFill>
                  <a:srgbClr val="14233F"/>
                </a:solidFill>
                <a:latin typeface="Cambria" pitchFamily="34" charset="0"/>
                <a:ea typeface="Cambria" pitchFamily="34" charset="-122"/>
                <a:cs typeface="Cambria" pitchFamily="34" charset="-120"/>
              </a:rPr>
              <a:t>The substitution principle</a:t>
            </a:r>
            <a:endParaRPr lang="en-US" sz="1600" dirty="0"/>
          </a:p>
        </p:txBody>
      </p:sp>
      <p:sp>
        <p:nvSpPr>
          <p:cNvPr id="8" name="Shape 6"/>
          <p:cNvSpPr/>
          <p:nvPr/>
        </p:nvSpPr>
        <p:spPr>
          <a:xfrm>
            <a:off x="960120" y="3246120"/>
            <a:ext cx="640080" cy="640080"/>
          </a:xfrm>
          <a:prstGeom prst="roundRect">
            <a:avLst>
              <a:gd name="adj" fmla="val 8571"/>
            </a:avLst>
          </a:prstGeom>
          <a:solidFill>
            <a:srgbClr val="E2FBF3"/>
          </a:solidFill>
          <a:ln w="12700">
            <a:solidFill>
              <a:srgbClr val="22D3AA"/>
            </a:solidFill>
            <a:prstDash val="solid"/>
          </a:ln>
        </p:spPr>
        <p:txBody>
          <a:bodyPr/>
          <a:lstStyle/>
          <a:p>
            <a:endParaRPr/>
          </a:p>
        </p:txBody>
      </p:sp>
      <p:sp>
        <p:nvSpPr>
          <p:cNvPr id="9" name="Text 7"/>
          <p:cNvSpPr/>
          <p:nvPr/>
        </p:nvSpPr>
        <p:spPr>
          <a:xfrm>
            <a:off x="960120" y="3310128"/>
            <a:ext cx="640080" cy="274320"/>
          </a:xfrm>
          <a:prstGeom prst="rect">
            <a:avLst/>
          </a:prstGeom>
          <a:noFill/>
          <a:ln/>
        </p:spPr>
        <p:txBody>
          <a:bodyPr wrap="square" lIns="0" tIns="0" rIns="0" bIns="0" rtlCol="0" anchor="ctr"/>
          <a:lstStyle/>
          <a:p>
            <a:pPr marL="0" indent="0" algn="ctr">
              <a:buNone/>
            </a:pPr>
            <a:r>
              <a:rPr lang="en-US" sz="1100" b="1" dirty="0">
                <a:solidFill>
                  <a:srgbClr val="0E9E80"/>
                </a:solidFill>
                <a:latin typeface="Calibri" pitchFamily="34" charset="0"/>
                <a:ea typeface="Calibri" pitchFamily="34" charset="-122"/>
                <a:cs typeface="Calibri" pitchFamily="34" charset="-120"/>
              </a:rPr>
              <a:t>L1</a:t>
            </a:r>
            <a:endParaRPr lang="en-US" sz="1100" dirty="0"/>
          </a:p>
        </p:txBody>
      </p:sp>
      <p:sp>
        <p:nvSpPr>
          <p:cNvPr id="10" name="Text 8"/>
          <p:cNvSpPr/>
          <p:nvPr/>
        </p:nvSpPr>
        <p:spPr>
          <a:xfrm>
            <a:off x="914400" y="3566160"/>
            <a:ext cx="731520" cy="27432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Perception</a:t>
            </a:r>
            <a:endParaRPr lang="en-US" sz="750" dirty="0"/>
          </a:p>
        </p:txBody>
      </p:sp>
      <p:sp>
        <p:nvSpPr>
          <p:cNvPr id="11" name="Shape 9"/>
          <p:cNvSpPr/>
          <p:nvPr/>
        </p:nvSpPr>
        <p:spPr>
          <a:xfrm>
            <a:off x="1655064" y="3246120"/>
            <a:ext cx="640080" cy="640080"/>
          </a:xfrm>
          <a:prstGeom prst="roundRect">
            <a:avLst>
              <a:gd name="adj" fmla="val 8571"/>
            </a:avLst>
          </a:prstGeom>
          <a:solidFill>
            <a:srgbClr val="E2FBF3"/>
          </a:solidFill>
          <a:ln w="12700">
            <a:solidFill>
              <a:srgbClr val="22D3AA"/>
            </a:solidFill>
            <a:prstDash val="solid"/>
          </a:ln>
        </p:spPr>
        <p:txBody>
          <a:bodyPr/>
          <a:lstStyle/>
          <a:p>
            <a:endParaRPr/>
          </a:p>
        </p:txBody>
      </p:sp>
      <p:sp>
        <p:nvSpPr>
          <p:cNvPr id="12" name="Text 10"/>
          <p:cNvSpPr/>
          <p:nvPr/>
        </p:nvSpPr>
        <p:spPr>
          <a:xfrm>
            <a:off x="1655064" y="3310128"/>
            <a:ext cx="640080" cy="274320"/>
          </a:xfrm>
          <a:prstGeom prst="rect">
            <a:avLst/>
          </a:prstGeom>
          <a:noFill/>
          <a:ln/>
        </p:spPr>
        <p:txBody>
          <a:bodyPr wrap="square" lIns="0" tIns="0" rIns="0" bIns="0" rtlCol="0" anchor="ctr"/>
          <a:lstStyle/>
          <a:p>
            <a:pPr marL="0" indent="0" algn="ctr">
              <a:buNone/>
            </a:pPr>
            <a:r>
              <a:rPr lang="en-US" sz="1100" b="1" dirty="0">
                <a:solidFill>
                  <a:srgbClr val="0E9E80"/>
                </a:solidFill>
                <a:latin typeface="Calibri" pitchFamily="34" charset="0"/>
                <a:ea typeface="Calibri" pitchFamily="34" charset="-122"/>
                <a:cs typeface="Calibri" pitchFamily="34" charset="-120"/>
              </a:rPr>
              <a:t>L2</a:t>
            </a:r>
            <a:endParaRPr lang="en-US" sz="1100" dirty="0"/>
          </a:p>
        </p:txBody>
      </p:sp>
      <p:sp>
        <p:nvSpPr>
          <p:cNvPr id="13" name="Text 11"/>
          <p:cNvSpPr/>
          <p:nvPr/>
        </p:nvSpPr>
        <p:spPr>
          <a:xfrm>
            <a:off x="1609344" y="3566160"/>
            <a:ext cx="731520" cy="27432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Memory</a:t>
            </a:r>
            <a:endParaRPr lang="en-US" sz="750" dirty="0"/>
          </a:p>
        </p:txBody>
      </p:sp>
      <p:sp>
        <p:nvSpPr>
          <p:cNvPr id="14" name="Shape 12"/>
          <p:cNvSpPr/>
          <p:nvPr/>
        </p:nvSpPr>
        <p:spPr>
          <a:xfrm>
            <a:off x="2350008" y="3246120"/>
            <a:ext cx="640080" cy="640080"/>
          </a:xfrm>
          <a:prstGeom prst="roundRect">
            <a:avLst>
              <a:gd name="adj" fmla="val 8571"/>
            </a:avLst>
          </a:prstGeom>
          <a:solidFill>
            <a:srgbClr val="E2FBF3"/>
          </a:solidFill>
          <a:ln w="12700">
            <a:solidFill>
              <a:srgbClr val="22D3AA"/>
            </a:solidFill>
            <a:prstDash val="solid"/>
          </a:ln>
        </p:spPr>
        <p:txBody>
          <a:bodyPr/>
          <a:lstStyle/>
          <a:p>
            <a:endParaRPr/>
          </a:p>
        </p:txBody>
      </p:sp>
      <p:sp>
        <p:nvSpPr>
          <p:cNvPr id="15" name="Text 13"/>
          <p:cNvSpPr/>
          <p:nvPr/>
        </p:nvSpPr>
        <p:spPr>
          <a:xfrm>
            <a:off x="2350008" y="3310128"/>
            <a:ext cx="640080" cy="274320"/>
          </a:xfrm>
          <a:prstGeom prst="rect">
            <a:avLst/>
          </a:prstGeom>
          <a:noFill/>
          <a:ln/>
        </p:spPr>
        <p:txBody>
          <a:bodyPr wrap="square" lIns="0" tIns="0" rIns="0" bIns="0" rtlCol="0" anchor="ctr"/>
          <a:lstStyle/>
          <a:p>
            <a:pPr marL="0" indent="0" algn="ctr">
              <a:buNone/>
            </a:pPr>
            <a:r>
              <a:rPr lang="en-US" sz="1100" b="1" dirty="0">
                <a:solidFill>
                  <a:srgbClr val="0E9E80"/>
                </a:solidFill>
                <a:latin typeface="Calibri" pitchFamily="34" charset="0"/>
                <a:ea typeface="Calibri" pitchFamily="34" charset="-122"/>
                <a:cs typeface="Calibri" pitchFamily="34" charset="-120"/>
              </a:rPr>
              <a:t>L3</a:t>
            </a:r>
            <a:endParaRPr lang="en-US" sz="1100" dirty="0"/>
          </a:p>
        </p:txBody>
      </p:sp>
      <p:sp>
        <p:nvSpPr>
          <p:cNvPr id="16" name="Text 14"/>
          <p:cNvSpPr/>
          <p:nvPr/>
        </p:nvSpPr>
        <p:spPr>
          <a:xfrm>
            <a:off x="2304288" y="3566160"/>
            <a:ext cx="731520" cy="27432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Reasoning</a:t>
            </a:r>
            <a:endParaRPr lang="en-US" sz="750" dirty="0"/>
          </a:p>
        </p:txBody>
      </p:sp>
      <p:sp>
        <p:nvSpPr>
          <p:cNvPr id="17" name="Shape 15"/>
          <p:cNvSpPr/>
          <p:nvPr/>
        </p:nvSpPr>
        <p:spPr>
          <a:xfrm>
            <a:off x="3044952" y="3246120"/>
            <a:ext cx="640080" cy="640080"/>
          </a:xfrm>
          <a:prstGeom prst="roundRect">
            <a:avLst>
              <a:gd name="adj" fmla="val 8571"/>
            </a:avLst>
          </a:prstGeom>
          <a:solidFill>
            <a:srgbClr val="E2FBF3"/>
          </a:solidFill>
          <a:ln w="12700">
            <a:solidFill>
              <a:srgbClr val="22D3AA"/>
            </a:solidFill>
            <a:prstDash val="solid"/>
          </a:ln>
        </p:spPr>
        <p:txBody>
          <a:bodyPr/>
          <a:lstStyle/>
          <a:p>
            <a:endParaRPr/>
          </a:p>
        </p:txBody>
      </p:sp>
      <p:sp>
        <p:nvSpPr>
          <p:cNvPr id="18" name="Text 16"/>
          <p:cNvSpPr/>
          <p:nvPr/>
        </p:nvSpPr>
        <p:spPr>
          <a:xfrm>
            <a:off x="3044952" y="3310128"/>
            <a:ext cx="640080" cy="274320"/>
          </a:xfrm>
          <a:prstGeom prst="rect">
            <a:avLst/>
          </a:prstGeom>
          <a:noFill/>
          <a:ln/>
        </p:spPr>
        <p:txBody>
          <a:bodyPr wrap="square" lIns="0" tIns="0" rIns="0" bIns="0" rtlCol="0" anchor="ctr"/>
          <a:lstStyle/>
          <a:p>
            <a:pPr marL="0" indent="0" algn="ctr">
              <a:buNone/>
            </a:pPr>
            <a:r>
              <a:rPr lang="en-US" sz="1100" b="1" dirty="0">
                <a:solidFill>
                  <a:srgbClr val="0E9E80"/>
                </a:solidFill>
                <a:latin typeface="Calibri" pitchFamily="34" charset="0"/>
                <a:ea typeface="Calibri" pitchFamily="34" charset="-122"/>
                <a:cs typeface="Calibri" pitchFamily="34" charset="-120"/>
              </a:rPr>
              <a:t>L4</a:t>
            </a:r>
            <a:endParaRPr lang="en-US" sz="1100" dirty="0"/>
          </a:p>
        </p:txBody>
      </p:sp>
      <p:sp>
        <p:nvSpPr>
          <p:cNvPr id="19" name="Text 17"/>
          <p:cNvSpPr/>
          <p:nvPr/>
        </p:nvSpPr>
        <p:spPr>
          <a:xfrm>
            <a:off x="2999232" y="3566160"/>
            <a:ext cx="731520" cy="27432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Evidence</a:t>
            </a:r>
            <a:endParaRPr lang="en-US" sz="750" dirty="0"/>
          </a:p>
        </p:txBody>
      </p:sp>
      <p:sp>
        <p:nvSpPr>
          <p:cNvPr id="20" name="Shape 18"/>
          <p:cNvSpPr/>
          <p:nvPr/>
        </p:nvSpPr>
        <p:spPr>
          <a:xfrm>
            <a:off x="3739896" y="3246120"/>
            <a:ext cx="640080" cy="640080"/>
          </a:xfrm>
          <a:prstGeom prst="roundRect">
            <a:avLst>
              <a:gd name="adj" fmla="val 8571"/>
            </a:avLst>
          </a:prstGeom>
          <a:solidFill>
            <a:srgbClr val="E2FBF3"/>
          </a:solidFill>
          <a:ln w="12700">
            <a:solidFill>
              <a:srgbClr val="22D3AA"/>
            </a:solidFill>
            <a:prstDash val="solid"/>
          </a:ln>
        </p:spPr>
        <p:txBody>
          <a:bodyPr/>
          <a:lstStyle/>
          <a:p>
            <a:endParaRPr/>
          </a:p>
        </p:txBody>
      </p:sp>
      <p:sp>
        <p:nvSpPr>
          <p:cNvPr id="21" name="Text 19"/>
          <p:cNvSpPr/>
          <p:nvPr/>
        </p:nvSpPr>
        <p:spPr>
          <a:xfrm>
            <a:off x="3739896" y="3310128"/>
            <a:ext cx="640080" cy="274320"/>
          </a:xfrm>
          <a:prstGeom prst="rect">
            <a:avLst/>
          </a:prstGeom>
          <a:noFill/>
          <a:ln/>
        </p:spPr>
        <p:txBody>
          <a:bodyPr wrap="square" lIns="0" tIns="0" rIns="0" bIns="0" rtlCol="0" anchor="ctr"/>
          <a:lstStyle/>
          <a:p>
            <a:pPr marL="0" indent="0" algn="ctr">
              <a:buNone/>
            </a:pPr>
            <a:r>
              <a:rPr lang="en-US" sz="1100" b="1" dirty="0">
                <a:solidFill>
                  <a:srgbClr val="0E9E80"/>
                </a:solidFill>
                <a:latin typeface="Calibri" pitchFamily="34" charset="0"/>
                <a:ea typeface="Calibri" pitchFamily="34" charset="-122"/>
                <a:cs typeface="Calibri" pitchFamily="34" charset="-120"/>
              </a:rPr>
              <a:t>L5</a:t>
            </a:r>
            <a:endParaRPr lang="en-US" sz="1100" dirty="0"/>
          </a:p>
        </p:txBody>
      </p:sp>
      <p:sp>
        <p:nvSpPr>
          <p:cNvPr id="22" name="Text 20"/>
          <p:cNvSpPr/>
          <p:nvPr/>
        </p:nvSpPr>
        <p:spPr>
          <a:xfrm>
            <a:off x="3694176" y="3566160"/>
            <a:ext cx="731520" cy="27432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Action</a:t>
            </a:r>
            <a:endParaRPr lang="en-US" sz="750" dirty="0"/>
          </a:p>
        </p:txBody>
      </p:sp>
      <p:sp>
        <p:nvSpPr>
          <p:cNvPr id="23" name="Shape 21"/>
          <p:cNvSpPr/>
          <p:nvPr/>
        </p:nvSpPr>
        <p:spPr>
          <a:xfrm>
            <a:off x="4434840" y="3246120"/>
            <a:ext cx="640080" cy="640080"/>
          </a:xfrm>
          <a:prstGeom prst="roundRect">
            <a:avLst>
              <a:gd name="adj" fmla="val 8571"/>
            </a:avLst>
          </a:prstGeom>
          <a:solidFill>
            <a:srgbClr val="E2FBF3"/>
          </a:solidFill>
          <a:ln w="12700">
            <a:solidFill>
              <a:srgbClr val="22D3AA"/>
            </a:solidFill>
            <a:prstDash val="solid"/>
          </a:ln>
        </p:spPr>
        <p:txBody>
          <a:bodyPr/>
          <a:lstStyle/>
          <a:p>
            <a:endParaRPr/>
          </a:p>
        </p:txBody>
      </p:sp>
      <p:sp>
        <p:nvSpPr>
          <p:cNvPr id="24" name="Text 22"/>
          <p:cNvSpPr/>
          <p:nvPr/>
        </p:nvSpPr>
        <p:spPr>
          <a:xfrm>
            <a:off x="4434840" y="3310128"/>
            <a:ext cx="640080" cy="274320"/>
          </a:xfrm>
          <a:prstGeom prst="rect">
            <a:avLst/>
          </a:prstGeom>
          <a:noFill/>
          <a:ln/>
        </p:spPr>
        <p:txBody>
          <a:bodyPr wrap="square" lIns="0" tIns="0" rIns="0" bIns="0" rtlCol="0" anchor="ctr"/>
          <a:lstStyle/>
          <a:p>
            <a:pPr marL="0" indent="0" algn="ctr">
              <a:buNone/>
            </a:pPr>
            <a:r>
              <a:rPr lang="en-US" sz="1100" b="1" dirty="0">
                <a:solidFill>
                  <a:srgbClr val="0E9E80"/>
                </a:solidFill>
                <a:latin typeface="Calibri" pitchFamily="34" charset="0"/>
                <a:ea typeface="Calibri" pitchFamily="34" charset="-122"/>
                <a:cs typeface="Calibri" pitchFamily="34" charset="-120"/>
              </a:rPr>
              <a:t>L6</a:t>
            </a:r>
            <a:endParaRPr lang="en-US" sz="1100" dirty="0"/>
          </a:p>
        </p:txBody>
      </p:sp>
      <p:sp>
        <p:nvSpPr>
          <p:cNvPr id="25" name="Text 23"/>
          <p:cNvSpPr/>
          <p:nvPr/>
        </p:nvSpPr>
        <p:spPr>
          <a:xfrm>
            <a:off x="4389120" y="3566160"/>
            <a:ext cx="731520" cy="27432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Collab.</a:t>
            </a:r>
            <a:endParaRPr lang="en-US" sz="750" dirty="0"/>
          </a:p>
        </p:txBody>
      </p:sp>
      <p:sp>
        <p:nvSpPr>
          <p:cNvPr id="26" name="Shape 24"/>
          <p:cNvSpPr/>
          <p:nvPr/>
        </p:nvSpPr>
        <p:spPr>
          <a:xfrm>
            <a:off x="5129784" y="3246120"/>
            <a:ext cx="640080" cy="640080"/>
          </a:xfrm>
          <a:prstGeom prst="roundRect">
            <a:avLst>
              <a:gd name="adj" fmla="val 8571"/>
            </a:avLst>
          </a:prstGeom>
          <a:solidFill>
            <a:srgbClr val="E2FBF3"/>
          </a:solidFill>
          <a:ln w="12700">
            <a:solidFill>
              <a:srgbClr val="22D3AA"/>
            </a:solidFill>
            <a:prstDash val="solid"/>
          </a:ln>
        </p:spPr>
        <p:txBody>
          <a:bodyPr/>
          <a:lstStyle/>
          <a:p>
            <a:endParaRPr/>
          </a:p>
        </p:txBody>
      </p:sp>
      <p:sp>
        <p:nvSpPr>
          <p:cNvPr id="27" name="Text 25"/>
          <p:cNvSpPr/>
          <p:nvPr/>
        </p:nvSpPr>
        <p:spPr>
          <a:xfrm>
            <a:off x="5129784" y="3310128"/>
            <a:ext cx="640080" cy="274320"/>
          </a:xfrm>
          <a:prstGeom prst="rect">
            <a:avLst/>
          </a:prstGeom>
          <a:noFill/>
          <a:ln/>
        </p:spPr>
        <p:txBody>
          <a:bodyPr wrap="square" lIns="0" tIns="0" rIns="0" bIns="0" rtlCol="0" anchor="ctr"/>
          <a:lstStyle/>
          <a:p>
            <a:pPr marL="0" indent="0" algn="ctr">
              <a:buNone/>
            </a:pPr>
            <a:r>
              <a:rPr lang="en-US" sz="1100" b="1" dirty="0">
                <a:solidFill>
                  <a:srgbClr val="0E9E80"/>
                </a:solidFill>
                <a:latin typeface="Calibri" pitchFamily="34" charset="0"/>
                <a:ea typeface="Calibri" pitchFamily="34" charset="-122"/>
                <a:cs typeface="Calibri" pitchFamily="34" charset="-120"/>
              </a:rPr>
              <a:t>L7</a:t>
            </a:r>
            <a:endParaRPr lang="en-US" sz="1100" dirty="0"/>
          </a:p>
        </p:txBody>
      </p:sp>
      <p:sp>
        <p:nvSpPr>
          <p:cNvPr id="28" name="Text 26"/>
          <p:cNvSpPr/>
          <p:nvPr/>
        </p:nvSpPr>
        <p:spPr>
          <a:xfrm>
            <a:off x="5084064" y="3566160"/>
            <a:ext cx="731520" cy="27432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Explain</a:t>
            </a:r>
            <a:endParaRPr lang="en-US" sz="750" dirty="0"/>
          </a:p>
        </p:txBody>
      </p:sp>
      <p:sp>
        <p:nvSpPr>
          <p:cNvPr id="29" name="Text 27"/>
          <p:cNvSpPr/>
          <p:nvPr/>
        </p:nvSpPr>
        <p:spPr>
          <a:xfrm>
            <a:off x="960120" y="3977640"/>
            <a:ext cx="4846320" cy="274320"/>
          </a:xfrm>
          <a:prstGeom prst="rect">
            <a:avLst/>
          </a:prstGeom>
          <a:noFill/>
          <a:ln/>
        </p:spPr>
        <p:txBody>
          <a:bodyPr wrap="square" lIns="0" tIns="0" rIns="0" bIns="0" rtlCol="0" anchor="ctr"/>
          <a:lstStyle/>
          <a:p>
            <a:pPr marL="0" indent="0">
              <a:buNone/>
            </a:pPr>
            <a:r>
              <a:rPr lang="en-US" sz="1050" i="1" dirty="0">
                <a:solidFill>
                  <a:srgbClr val="5D6B8C"/>
                </a:solidFill>
                <a:latin typeface="Calibri" pitchFamily="34" charset="0"/>
                <a:ea typeface="Calibri" pitchFamily="34" charset="-122"/>
                <a:cs typeface="Calibri" pitchFamily="34" charset="-120"/>
              </a:rPr>
              <a:t>Seven shared layers — built once, reused by every capability</a:t>
            </a:r>
            <a:endParaRPr lang="en-US" sz="1050" dirty="0"/>
          </a:p>
        </p:txBody>
      </p:sp>
      <p:sp>
        <p:nvSpPr>
          <p:cNvPr id="30" name="Shape 28"/>
          <p:cNvSpPr/>
          <p:nvPr/>
        </p:nvSpPr>
        <p:spPr>
          <a:xfrm>
            <a:off x="960120" y="4389120"/>
            <a:ext cx="914400" cy="457200"/>
          </a:xfrm>
          <a:prstGeom prst="roundRect">
            <a:avLst>
              <a:gd name="adj" fmla="val 16000"/>
            </a:avLst>
          </a:prstGeom>
          <a:solidFill>
            <a:srgbClr val="EFE7FF"/>
          </a:solidFill>
          <a:ln w="12700">
            <a:solidFill>
              <a:srgbClr val="9B6BFF"/>
            </a:solidFill>
            <a:prstDash val="solid"/>
          </a:ln>
        </p:spPr>
        <p:txBody>
          <a:bodyPr/>
          <a:lstStyle/>
          <a:p>
            <a:endParaRPr/>
          </a:p>
        </p:txBody>
      </p:sp>
      <p:sp>
        <p:nvSpPr>
          <p:cNvPr id="31" name="Text 29"/>
          <p:cNvSpPr/>
          <p:nvPr/>
        </p:nvSpPr>
        <p:spPr>
          <a:xfrm>
            <a:off x="960120" y="4389120"/>
            <a:ext cx="914400" cy="457200"/>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Disruption</a:t>
            </a:r>
            <a:endParaRPr lang="en-US" sz="900" dirty="0"/>
          </a:p>
        </p:txBody>
      </p:sp>
      <p:sp>
        <p:nvSpPr>
          <p:cNvPr id="32" name="Shape 30"/>
          <p:cNvSpPr/>
          <p:nvPr/>
        </p:nvSpPr>
        <p:spPr>
          <a:xfrm>
            <a:off x="1938528" y="4389120"/>
            <a:ext cx="914400" cy="457200"/>
          </a:xfrm>
          <a:prstGeom prst="roundRect">
            <a:avLst>
              <a:gd name="adj" fmla="val 16000"/>
            </a:avLst>
          </a:prstGeom>
          <a:solidFill>
            <a:srgbClr val="EFE7FF"/>
          </a:solidFill>
          <a:ln w="12700">
            <a:solidFill>
              <a:srgbClr val="9B6BFF"/>
            </a:solidFill>
            <a:prstDash val="solid"/>
          </a:ln>
        </p:spPr>
        <p:txBody>
          <a:bodyPr/>
          <a:lstStyle/>
          <a:p>
            <a:endParaRPr/>
          </a:p>
        </p:txBody>
      </p:sp>
      <p:sp>
        <p:nvSpPr>
          <p:cNvPr id="33" name="Text 31"/>
          <p:cNvSpPr/>
          <p:nvPr/>
        </p:nvSpPr>
        <p:spPr>
          <a:xfrm>
            <a:off x="1938528" y="4389120"/>
            <a:ext cx="914400" cy="457200"/>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Demand</a:t>
            </a:r>
            <a:endParaRPr lang="en-US" sz="900" dirty="0"/>
          </a:p>
        </p:txBody>
      </p:sp>
      <p:sp>
        <p:nvSpPr>
          <p:cNvPr id="34" name="Shape 32"/>
          <p:cNvSpPr/>
          <p:nvPr/>
        </p:nvSpPr>
        <p:spPr>
          <a:xfrm>
            <a:off x="2916936" y="4389120"/>
            <a:ext cx="914400" cy="457200"/>
          </a:xfrm>
          <a:prstGeom prst="roundRect">
            <a:avLst>
              <a:gd name="adj" fmla="val 16000"/>
            </a:avLst>
          </a:prstGeom>
          <a:solidFill>
            <a:srgbClr val="EFE7FF"/>
          </a:solidFill>
          <a:ln w="12700">
            <a:solidFill>
              <a:srgbClr val="9B6BFF"/>
            </a:solidFill>
            <a:prstDash val="solid"/>
          </a:ln>
        </p:spPr>
        <p:txBody>
          <a:bodyPr/>
          <a:lstStyle/>
          <a:p>
            <a:endParaRPr/>
          </a:p>
        </p:txBody>
      </p:sp>
      <p:sp>
        <p:nvSpPr>
          <p:cNvPr id="35" name="Text 33"/>
          <p:cNvSpPr/>
          <p:nvPr/>
        </p:nvSpPr>
        <p:spPr>
          <a:xfrm>
            <a:off x="2916936" y="4389120"/>
            <a:ext cx="914400" cy="457200"/>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Inventory</a:t>
            </a:r>
            <a:endParaRPr lang="en-US" sz="900" dirty="0"/>
          </a:p>
        </p:txBody>
      </p:sp>
      <p:sp>
        <p:nvSpPr>
          <p:cNvPr id="36" name="Shape 34"/>
          <p:cNvSpPr/>
          <p:nvPr/>
        </p:nvSpPr>
        <p:spPr>
          <a:xfrm>
            <a:off x="3895344" y="4389120"/>
            <a:ext cx="914400" cy="457200"/>
          </a:xfrm>
          <a:prstGeom prst="roundRect">
            <a:avLst>
              <a:gd name="adj" fmla="val 16000"/>
            </a:avLst>
          </a:prstGeom>
          <a:solidFill>
            <a:srgbClr val="EFE7FF"/>
          </a:solidFill>
          <a:ln w="12700">
            <a:solidFill>
              <a:srgbClr val="9B6BFF"/>
            </a:solidFill>
            <a:prstDash val="solid"/>
          </a:ln>
        </p:spPr>
        <p:txBody>
          <a:bodyPr/>
          <a:lstStyle/>
          <a:p>
            <a:endParaRPr/>
          </a:p>
        </p:txBody>
      </p:sp>
      <p:sp>
        <p:nvSpPr>
          <p:cNvPr id="37" name="Text 35"/>
          <p:cNvSpPr/>
          <p:nvPr/>
        </p:nvSpPr>
        <p:spPr>
          <a:xfrm>
            <a:off x="3895344" y="4389120"/>
            <a:ext cx="914400" cy="457200"/>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Spares</a:t>
            </a:r>
            <a:endParaRPr lang="en-US" sz="900" dirty="0"/>
          </a:p>
        </p:txBody>
      </p:sp>
      <p:sp>
        <p:nvSpPr>
          <p:cNvPr id="38" name="Shape 36"/>
          <p:cNvSpPr/>
          <p:nvPr/>
        </p:nvSpPr>
        <p:spPr>
          <a:xfrm>
            <a:off x="4873752" y="4389120"/>
            <a:ext cx="914400" cy="457200"/>
          </a:xfrm>
          <a:prstGeom prst="roundRect">
            <a:avLst>
              <a:gd name="adj" fmla="val 16000"/>
            </a:avLst>
          </a:prstGeom>
          <a:solidFill>
            <a:srgbClr val="EFE7FF"/>
          </a:solidFill>
          <a:ln w="12700">
            <a:solidFill>
              <a:srgbClr val="9B6BFF"/>
            </a:solidFill>
            <a:prstDash val="solid"/>
          </a:ln>
        </p:spPr>
        <p:txBody>
          <a:bodyPr/>
          <a:lstStyle/>
          <a:p>
            <a:endParaRPr/>
          </a:p>
        </p:txBody>
      </p:sp>
      <p:sp>
        <p:nvSpPr>
          <p:cNvPr id="39" name="Text 37"/>
          <p:cNvSpPr/>
          <p:nvPr/>
        </p:nvSpPr>
        <p:spPr>
          <a:xfrm>
            <a:off x="4873752" y="4389120"/>
            <a:ext cx="914400" cy="457200"/>
          </a:xfrm>
          <a:prstGeom prst="rect">
            <a:avLst/>
          </a:prstGeom>
          <a:noFill/>
          <a:ln/>
        </p:spPr>
        <p:txBody>
          <a:bodyPr wrap="square" lIns="0" tIns="0" rIns="0" bIns="0" rtlCol="0" anchor="ctr"/>
          <a:lstStyle/>
          <a:p>
            <a:pPr marL="0" indent="0" algn="ctr">
              <a:buNone/>
            </a:pPr>
            <a:r>
              <a:rPr lang="en-US" sz="900" b="1" dirty="0">
                <a:solidFill>
                  <a:srgbClr val="5B3FA8"/>
                </a:solidFill>
                <a:latin typeface="Calibri" pitchFamily="34" charset="0"/>
                <a:ea typeface="Calibri" pitchFamily="34" charset="-122"/>
                <a:cs typeface="Calibri" pitchFamily="34" charset="-120"/>
              </a:rPr>
              <a:t>RMA</a:t>
            </a:r>
            <a:endParaRPr lang="en-US" sz="900" dirty="0"/>
          </a:p>
        </p:txBody>
      </p:sp>
      <p:sp>
        <p:nvSpPr>
          <p:cNvPr id="40" name="Text 38"/>
          <p:cNvSpPr/>
          <p:nvPr/>
        </p:nvSpPr>
        <p:spPr>
          <a:xfrm>
            <a:off x="960120" y="4937760"/>
            <a:ext cx="4846320" cy="274320"/>
          </a:xfrm>
          <a:prstGeom prst="rect">
            <a:avLst/>
          </a:prstGeom>
          <a:noFill/>
          <a:ln/>
        </p:spPr>
        <p:txBody>
          <a:bodyPr wrap="square" lIns="0" tIns="0" rIns="0" bIns="0" rtlCol="0" anchor="ctr"/>
          <a:lstStyle/>
          <a:p>
            <a:pPr marL="0" indent="0">
              <a:buNone/>
            </a:pPr>
            <a:r>
              <a:rPr lang="en-US" sz="1050" i="1" dirty="0">
                <a:solidFill>
                  <a:srgbClr val="5D6B8C"/>
                </a:solidFill>
                <a:latin typeface="Calibri" pitchFamily="34" charset="0"/>
                <a:ea typeface="Calibri" pitchFamily="34" charset="-122"/>
                <a:cs typeface="Calibri" pitchFamily="34" charset="-120"/>
              </a:rPr>
              <a:t>Lightweight tool packs — the only domain-specific code</a:t>
            </a:r>
            <a:endParaRPr lang="en-US" sz="1050" dirty="0"/>
          </a:p>
        </p:txBody>
      </p:sp>
      <p:sp>
        <p:nvSpPr>
          <p:cNvPr id="41" name="Shape 39"/>
          <p:cNvSpPr/>
          <p:nvPr/>
        </p:nvSpPr>
        <p:spPr>
          <a:xfrm>
            <a:off x="960120" y="5349240"/>
            <a:ext cx="4846320" cy="502920"/>
          </a:xfrm>
          <a:prstGeom prst="roundRect">
            <a:avLst>
              <a:gd name="adj" fmla="val 14545"/>
            </a:avLst>
          </a:prstGeom>
          <a:solidFill>
            <a:srgbClr val="FBEFD6"/>
          </a:solidFill>
          <a:ln w="12700">
            <a:solidFill>
              <a:srgbClr val="E6A52B"/>
            </a:solidFill>
            <a:prstDash val="solid"/>
          </a:ln>
        </p:spPr>
        <p:txBody>
          <a:bodyPr/>
          <a:lstStyle/>
          <a:p>
            <a:endParaRPr/>
          </a:p>
        </p:txBody>
      </p:sp>
      <p:sp>
        <p:nvSpPr>
          <p:cNvPr id="42" name="Text 40"/>
          <p:cNvSpPr/>
          <p:nvPr/>
        </p:nvSpPr>
        <p:spPr>
          <a:xfrm>
            <a:off x="960120" y="5349240"/>
            <a:ext cx="4846320" cy="502920"/>
          </a:xfrm>
          <a:prstGeom prst="rect">
            <a:avLst/>
          </a:prstGeom>
          <a:noFill/>
          <a:ln/>
        </p:spPr>
        <p:txBody>
          <a:bodyPr wrap="square" lIns="0" tIns="0" rIns="0" bIns="0" rtlCol="0" anchor="ctr"/>
          <a:lstStyle/>
          <a:p>
            <a:pPr marL="0" indent="0" algn="ctr">
              <a:buNone/>
            </a:pPr>
            <a:r>
              <a:rPr lang="en-US" sz="1100" b="1" dirty="0">
                <a:solidFill>
                  <a:srgbClr val="6B4708"/>
                </a:solidFill>
                <a:latin typeface="Calibri" pitchFamily="34" charset="0"/>
                <a:ea typeface="Calibri" pitchFamily="34" charset="-122"/>
                <a:cs typeface="Calibri" pitchFamily="34" charset="-120"/>
              </a:rPr>
              <a:t>Canonical ontology  ·  MATNR→sku · EBELN→purchase_order</a:t>
            </a:r>
            <a:endParaRPr lang="en-US" sz="1100" dirty="0"/>
          </a:p>
        </p:txBody>
      </p:sp>
      <p:sp>
        <p:nvSpPr>
          <p:cNvPr id="43" name="Shape 41"/>
          <p:cNvSpPr/>
          <p:nvPr/>
        </p:nvSpPr>
        <p:spPr>
          <a:xfrm>
            <a:off x="6400800" y="2560320"/>
            <a:ext cx="5150815" cy="1078992"/>
          </a:xfrm>
          <a:prstGeom prst="roundRect">
            <a:avLst>
              <a:gd name="adj" fmla="val 7627"/>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44" name="Shape 42"/>
          <p:cNvSpPr/>
          <p:nvPr/>
        </p:nvSpPr>
        <p:spPr>
          <a:xfrm>
            <a:off x="6629400" y="2816352"/>
            <a:ext cx="548640" cy="548640"/>
          </a:xfrm>
          <a:prstGeom prst="ellipse">
            <a:avLst/>
          </a:prstGeom>
          <a:solidFill>
            <a:srgbClr val="13203A"/>
          </a:solidFill>
          <a:ln/>
        </p:spPr>
        <p:txBody>
          <a:bodyPr/>
          <a:lstStyle/>
          <a:p>
            <a:endParaRPr/>
          </a:p>
        </p:txBody>
      </p:sp>
      <p:sp>
        <p:nvSpPr>
          <p:cNvPr id="45" name="Text 43"/>
          <p:cNvSpPr/>
          <p:nvPr/>
        </p:nvSpPr>
        <p:spPr>
          <a:xfrm>
            <a:off x="6629400" y="2816352"/>
            <a:ext cx="548640" cy="548640"/>
          </a:xfrm>
          <a:prstGeom prst="rect">
            <a:avLst/>
          </a:prstGeom>
          <a:noFill/>
          <a:ln/>
        </p:spPr>
        <p:txBody>
          <a:bodyPr wrap="square" lIns="0" tIns="0" rIns="0" bIns="0" rtlCol="0" anchor="ctr"/>
          <a:lstStyle/>
          <a:p>
            <a:pPr marL="0" indent="0" algn="ctr">
              <a:buNone/>
            </a:pPr>
            <a:r>
              <a:rPr lang="en-US" sz="1800" b="1" dirty="0">
                <a:solidFill>
                  <a:srgbClr val="22D3AA"/>
                </a:solidFill>
                <a:latin typeface="Cambria" pitchFamily="34" charset="0"/>
                <a:ea typeface="Cambria" pitchFamily="34" charset="-122"/>
                <a:cs typeface="Cambria" pitchFamily="34" charset="-120"/>
              </a:rPr>
              <a:t>1</a:t>
            </a:r>
            <a:endParaRPr lang="en-US" sz="1800" dirty="0"/>
          </a:p>
        </p:txBody>
      </p:sp>
      <p:sp>
        <p:nvSpPr>
          <p:cNvPr id="46" name="Text 44"/>
          <p:cNvSpPr/>
          <p:nvPr/>
        </p:nvSpPr>
        <p:spPr>
          <a:xfrm>
            <a:off x="7360920" y="2706624"/>
            <a:ext cx="402336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One agent, many jobs</a:t>
            </a:r>
            <a:endParaRPr lang="en-US" sz="1500" dirty="0"/>
          </a:p>
        </p:txBody>
      </p:sp>
      <p:sp>
        <p:nvSpPr>
          <p:cNvPr id="47" name="Text 45"/>
          <p:cNvSpPr/>
          <p:nvPr/>
        </p:nvSpPr>
        <p:spPr>
          <a:xfrm>
            <a:off x="7360920" y="3035808"/>
            <a:ext cx="4069080" cy="548640"/>
          </a:xfrm>
          <a:prstGeom prst="rect">
            <a:avLst/>
          </a:prstGeom>
          <a:noFill/>
          <a:ln/>
        </p:spPr>
        <p:txBody>
          <a:bodyPr wrap="square" lIns="0" tIns="0" rIns="0" bIns="0" rtlCol="0" anchor="ctr"/>
          <a:lstStyle/>
          <a:p>
            <a:pPr marL="0" indent="0">
              <a:lnSpc>
                <a:spcPct val="102000"/>
              </a:lnSpc>
              <a:buNone/>
            </a:pPr>
            <a:r>
              <a:rPr lang="en-US" sz="1150" dirty="0">
                <a:solidFill>
                  <a:srgbClr val="5D6B8C"/>
                </a:solidFill>
                <a:latin typeface="Calibri" pitchFamily="34" charset="0"/>
                <a:ea typeface="Calibri" pitchFamily="34" charset="-122"/>
                <a:cs typeface="Calibri" pitchFamily="34" charset="-120"/>
              </a:rPr>
              <a:t>A single substrate runs every use case — the work of many specialist agents.</a:t>
            </a:r>
            <a:endParaRPr lang="en-US" sz="1150" dirty="0"/>
          </a:p>
        </p:txBody>
      </p:sp>
      <p:sp>
        <p:nvSpPr>
          <p:cNvPr id="48" name="Shape 46"/>
          <p:cNvSpPr/>
          <p:nvPr/>
        </p:nvSpPr>
        <p:spPr>
          <a:xfrm>
            <a:off x="6400800" y="3776472"/>
            <a:ext cx="5150815" cy="1078992"/>
          </a:xfrm>
          <a:prstGeom prst="roundRect">
            <a:avLst>
              <a:gd name="adj" fmla="val 7627"/>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49" name="Shape 47"/>
          <p:cNvSpPr/>
          <p:nvPr/>
        </p:nvSpPr>
        <p:spPr>
          <a:xfrm>
            <a:off x="6629400" y="4032504"/>
            <a:ext cx="548640" cy="548640"/>
          </a:xfrm>
          <a:prstGeom prst="ellipse">
            <a:avLst/>
          </a:prstGeom>
          <a:solidFill>
            <a:srgbClr val="13203A"/>
          </a:solidFill>
          <a:ln/>
        </p:spPr>
        <p:txBody>
          <a:bodyPr/>
          <a:lstStyle/>
          <a:p>
            <a:endParaRPr/>
          </a:p>
        </p:txBody>
      </p:sp>
      <p:sp>
        <p:nvSpPr>
          <p:cNvPr id="50" name="Text 48"/>
          <p:cNvSpPr/>
          <p:nvPr/>
        </p:nvSpPr>
        <p:spPr>
          <a:xfrm>
            <a:off x="6629400" y="4032504"/>
            <a:ext cx="548640" cy="548640"/>
          </a:xfrm>
          <a:prstGeom prst="rect">
            <a:avLst/>
          </a:prstGeom>
          <a:noFill/>
          <a:ln/>
        </p:spPr>
        <p:txBody>
          <a:bodyPr wrap="square" lIns="0" tIns="0" rIns="0" bIns="0" rtlCol="0" anchor="ctr"/>
          <a:lstStyle/>
          <a:p>
            <a:pPr marL="0" indent="0" algn="ctr">
              <a:buNone/>
            </a:pPr>
            <a:r>
              <a:rPr lang="en-US" sz="1800" b="1" dirty="0">
                <a:solidFill>
                  <a:srgbClr val="22D3AA"/>
                </a:solidFill>
                <a:latin typeface="Cambria" pitchFamily="34" charset="0"/>
                <a:ea typeface="Cambria" pitchFamily="34" charset="-122"/>
                <a:cs typeface="Cambria" pitchFamily="34" charset="-120"/>
              </a:rPr>
              <a:t>2</a:t>
            </a:r>
            <a:endParaRPr lang="en-US" sz="1800" dirty="0"/>
          </a:p>
        </p:txBody>
      </p:sp>
      <p:sp>
        <p:nvSpPr>
          <p:cNvPr id="51" name="Text 49"/>
          <p:cNvSpPr/>
          <p:nvPr/>
        </p:nvSpPr>
        <p:spPr>
          <a:xfrm>
            <a:off x="7360920" y="3922776"/>
            <a:ext cx="402336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Cloud- &amp; model-neutral</a:t>
            </a:r>
            <a:endParaRPr lang="en-US" sz="1500" dirty="0"/>
          </a:p>
        </p:txBody>
      </p:sp>
      <p:sp>
        <p:nvSpPr>
          <p:cNvPr id="52" name="Text 50"/>
          <p:cNvSpPr/>
          <p:nvPr/>
        </p:nvSpPr>
        <p:spPr>
          <a:xfrm>
            <a:off x="7360920" y="4251960"/>
            <a:ext cx="4069080" cy="548640"/>
          </a:xfrm>
          <a:prstGeom prst="rect">
            <a:avLst/>
          </a:prstGeom>
          <a:noFill/>
          <a:ln/>
        </p:spPr>
        <p:txBody>
          <a:bodyPr wrap="square" lIns="0" tIns="0" rIns="0" bIns="0" rtlCol="0" anchor="ctr"/>
          <a:lstStyle/>
          <a:p>
            <a:pPr marL="0" indent="0">
              <a:lnSpc>
                <a:spcPct val="102000"/>
              </a:lnSpc>
              <a:buNone/>
            </a:pPr>
            <a:r>
              <a:rPr lang="en-US" sz="1150" dirty="0">
                <a:solidFill>
                  <a:srgbClr val="5D6B8C"/>
                </a:solidFill>
                <a:latin typeface="Calibri" pitchFamily="34" charset="0"/>
                <a:ea typeface="Calibri" pitchFamily="34" charset="-122"/>
                <a:cs typeface="Calibri" pitchFamily="34" charset="-120"/>
              </a:rPr>
              <a:t>Open-weight models (e.g. Mistral) self-hostable in your perimeter; runs on Snowflake, Databricks or OSS lakehouse via one adapter.</a:t>
            </a:r>
            <a:endParaRPr lang="en-US" sz="1150" dirty="0"/>
          </a:p>
        </p:txBody>
      </p:sp>
      <p:sp>
        <p:nvSpPr>
          <p:cNvPr id="53" name="Shape 51"/>
          <p:cNvSpPr/>
          <p:nvPr/>
        </p:nvSpPr>
        <p:spPr>
          <a:xfrm>
            <a:off x="6400800" y="4992624"/>
            <a:ext cx="5150815" cy="1078992"/>
          </a:xfrm>
          <a:prstGeom prst="roundRect">
            <a:avLst>
              <a:gd name="adj" fmla="val 7627"/>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54" name="Shape 52"/>
          <p:cNvSpPr/>
          <p:nvPr/>
        </p:nvSpPr>
        <p:spPr>
          <a:xfrm>
            <a:off x="6629400" y="5248656"/>
            <a:ext cx="548640" cy="548640"/>
          </a:xfrm>
          <a:prstGeom prst="ellipse">
            <a:avLst/>
          </a:prstGeom>
          <a:solidFill>
            <a:srgbClr val="13203A"/>
          </a:solidFill>
          <a:ln/>
        </p:spPr>
        <p:txBody>
          <a:bodyPr/>
          <a:lstStyle/>
          <a:p>
            <a:endParaRPr/>
          </a:p>
        </p:txBody>
      </p:sp>
      <p:sp>
        <p:nvSpPr>
          <p:cNvPr id="55" name="Text 53"/>
          <p:cNvSpPr/>
          <p:nvPr/>
        </p:nvSpPr>
        <p:spPr>
          <a:xfrm>
            <a:off x="6629400" y="5248656"/>
            <a:ext cx="548640" cy="548640"/>
          </a:xfrm>
          <a:prstGeom prst="rect">
            <a:avLst/>
          </a:prstGeom>
          <a:noFill/>
          <a:ln/>
        </p:spPr>
        <p:txBody>
          <a:bodyPr wrap="square" lIns="0" tIns="0" rIns="0" bIns="0" rtlCol="0" anchor="ctr"/>
          <a:lstStyle/>
          <a:p>
            <a:pPr marL="0" indent="0" algn="ctr">
              <a:buNone/>
            </a:pPr>
            <a:r>
              <a:rPr lang="en-US" sz="1800" b="1" dirty="0">
                <a:solidFill>
                  <a:srgbClr val="22D3AA"/>
                </a:solidFill>
                <a:latin typeface="Cambria" pitchFamily="34" charset="0"/>
                <a:ea typeface="Cambria" pitchFamily="34" charset="-122"/>
                <a:cs typeface="Cambria" pitchFamily="34" charset="-120"/>
              </a:rPr>
              <a:t>3</a:t>
            </a:r>
            <a:endParaRPr lang="en-US" sz="1800" dirty="0"/>
          </a:p>
        </p:txBody>
      </p:sp>
      <p:sp>
        <p:nvSpPr>
          <p:cNvPr id="56" name="Text 54"/>
          <p:cNvSpPr/>
          <p:nvPr/>
        </p:nvSpPr>
        <p:spPr>
          <a:xfrm>
            <a:off x="7360920" y="5138928"/>
            <a:ext cx="402336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Accountable autonomy</a:t>
            </a:r>
            <a:endParaRPr lang="en-US" sz="1500" dirty="0"/>
          </a:p>
        </p:txBody>
      </p:sp>
      <p:sp>
        <p:nvSpPr>
          <p:cNvPr id="57" name="Text 55"/>
          <p:cNvSpPr/>
          <p:nvPr/>
        </p:nvSpPr>
        <p:spPr>
          <a:xfrm>
            <a:off x="7360920" y="5468112"/>
            <a:ext cx="4069080" cy="548640"/>
          </a:xfrm>
          <a:prstGeom prst="rect">
            <a:avLst/>
          </a:prstGeom>
          <a:noFill/>
          <a:ln/>
        </p:spPr>
        <p:txBody>
          <a:bodyPr wrap="square" lIns="0" tIns="0" rIns="0" bIns="0" rtlCol="0" anchor="ctr"/>
          <a:lstStyle/>
          <a:p>
            <a:pPr marL="0" indent="0">
              <a:lnSpc>
                <a:spcPct val="102000"/>
              </a:lnSpc>
              <a:buNone/>
            </a:pPr>
            <a:r>
              <a:rPr lang="en-US" sz="1150" dirty="0">
                <a:solidFill>
                  <a:srgbClr val="5D6B8C"/>
                </a:solidFill>
                <a:latin typeface="Calibri" pitchFamily="34" charset="0"/>
                <a:ea typeface="Calibri" pitchFamily="34" charset="-122"/>
                <a:cs typeface="Calibri" pitchFamily="34" charset="-120"/>
              </a:rPr>
              <a:t>Every decision carries confidence, attribution and a plain-English rationale; value/confidence gates route the rest to humans.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THE UPGRADE</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A shared cognitive runtime — cognition once, thin executors on top</a:t>
            </a:r>
          </a:p>
        </p:txBody>
      </p:sp>
      <p:sp>
        <p:nvSpPr>
          <p:cNvPr id="5" name="TextBox 4"/>
          <p:cNvSpPr txBox="1"/>
          <p:nvPr/>
        </p:nvSpPr>
        <p:spPr>
          <a:xfrm>
            <a:off x="640080" y="1938528"/>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The recommended evolution of the architecture: provide perception, memory, ontology, evidence and planning ONCE per goal; lightweight domain executors sit on top. Like an OS with shared services and lightweight workers — not N agents each re-doing cognition.</a:t>
            </a:r>
          </a:p>
        </p:txBody>
      </p:sp>
      <p:sp>
        <p:nvSpPr>
          <p:cNvPr id="6" name="Rounded Rectangle 5"/>
          <p:cNvSpPr/>
          <p:nvPr/>
        </p:nvSpPr>
        <p:spPr>
          <a:xfrm>
            <a:off x="640080" y="2880360"/>
            <a:ext cx="5257800" cy="3246120"/>
          </a:xfrm>
          <a:prstGeom prst="roundRect">
            <a:avLst/>
          </a:prstGeom>
          <a:solidFill>
            <a:srgbClr val="FFFFFF"/>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3063240"/>
            <a:ext cx="4754880" cy="365760"/>
          </a:xfrm>
          <a:prstGeom prst="rect">
            <a:avLst/>
          </a:prstGeom>
          <a:noFill/>
        </p:spPr>
        <p:txBody>
          <a:bodyPr wrap="square" lIns="0" tIns="0" rIns="0" bIns="0" anchor="t"/>
          <a:lstStyle/>
          <a:p>
            <a:pPr algn="l"/>
            <a:r>
              <a:rPr sz="1600" b="1">
                <a:solidFill>
                  <a:srgbClr val="14233F"/>
                </a:solidFill>
                <a:latin typeface="Cambria"/>
              </a:rPr>
              <a:t>Cognitive view — how one agent thinks</a:t>
            </a:r>
          </a:p>
        </p:txBody>
      </p:sp>
      <p:sp>
        <p:nvSpPr>
          <p:cNvPr id="8" name="TextBox 7"/>
          <p:cNvSpPr txBox="1"/>
          <p:nvPr/>
        </p:nvSpPr>
        <p:spPr>
          <a:xfrm>
            <a:off x="960120" y="3602736"/>
            <a:ext cx="3017520" cy="292608"/>
          </a:xfrm>
          <a:prstGeom prst="rect">
            <a:avLst/>
          </a:prstGeom>
          <a:noFill/>
        </p:spPr>
        <p:txBody>
          <a:bodyPr wrap="square" lIns="0" tIns="0" rIns="0" bIns="0" anchor="ctr"/>
          <a:lstStyle/>
          <a:p>
            <a:pPr algn="l"/>
            <a:r>
              <a:rPr sz="1250" b="1">
                <a:solidFill>
                  <a:srgbClr val="14233F"/>
                </a:solidFill>
                <a:latin typeface="Calibri"/>
              </a:rPr>
              <a:t>Perception</a:t>
            </a:r>
          </a:p>
        </p:txBody>
      </p:sp>
      <p:sp>
        <p:nvSpPr>
          <p:cNvPr id="9" name="Rounded Rectangle 8"/>
          <p:cNvSpPr/>
          <p:nvPr/>
        </p:nvSpPr>
        <p:spPr>
          <a:xfrm>
            <a:off x="4160520" y="3584448"/>
            <a:ext cx="1600200" cy="310896"/>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60520" y="3602736"/>
            <a:ext cx="1600200" cy="274320"/>
          </a:xfrm>
          <a:prstGeom prst="rect">
            <a:avLst/>
          </a:prstGeom>
          <a:noFill/>
        </p:spPr>
        <p:txBody>
          <a:bodyPr wrap="square" lIns="0" tIns="0" rIns="0" bIns="0" anchor="ctr"/>
          <a:lstStyle/>
          <a:p>
            <a:pPr algn="ctr"/>
            <a:r>
              <a:rPr sz="1050" b="1">
                <a:solidFill>
                  <a:srgbClr val="0E9E80"/>
                </a:solidFill>
                <a:latin typeface="Calibri"/>
              </a:rPr>
              <a:t>shared · once</a:t>
            </a:r>
          </a:p>
        </p:txBody>
      </p:sp>
      <p:sp>
        <p:nvSpPr>
          <p:cNvPr id="11" name="TextBox 10"/>
          <p:cNvSpPr txBox="1"/>
          <p:nvPr/>
        </p:nvSpPr>
        <p:spPr>
          <a:xfrm>
            <a:off x="960120" y="4009644"/>
            <a:ext cx="3017520" cy="292608"/>
          </a:xfrm>
          <a:prstGeom prst="rect">
            <a:avLst/>
          </a:prstGeom>
          <a:noFill/>
        </p:spPr>
        <p:txBody>
          <a:bodyPr wrap="square" lIns="0" tIns="0" rIns="0" bIns="0" anchor="ctr"/>
          <a:lstStyle/>
          <a:p>
            <a:pPr algn="l"/>
            <a:r>
              <a:rPr sz="1250" b="1">
                <a:solidFill>
                  <a:srgbClr val="14233F"/>
                </a:solidFill>
                <a:latin typeface="Calibri"/>
              </a:rPr>
              <a:t>Memory</a:t>
            </a:r>
          </a:p>
        </p:txBody>
      </p:sp>
      <p:sp>
        <p:nvSpPr>
          <p:cNvPr id="12" name="Rounded Rectangle 11"/>
          <p:cNvSpPr/>
          <p:nvPr/>
        </p:nvSpPr>
        <p:spPr>
          <a:xfrm>
            <a:off x="4160520" y="3991356"/>
            <a:ext cx="1600200" cy="310896"/>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60520" y="4009644"/>
            <a:ext cx="1600200" cy="274320"/>
          </a:xfrm>
          <a:prstGeom prst="rect">
            <a:avLst/>
          </a:prstGeom>
          <a:noFill/>
        </p:spPr>
        <p:txBody>
          <a:bodyPr wrap="square" lIns="0" tIns="0" rIns="0" bIns="0" anchor="ctr"/>
          <a:lstStyle/>
          <a:p>
            <a:pPr algn="ctr"/>
            <a:r>
              <a:rPr sz="1050" b="1">
                <a:solidFill>
                  <a:srgbClr val="0E9E80"/>
                </a:solidFill>
                <a:latin typeface="Calibri"/>
              </a:rPr>
              <a:t>shared</a:t>
            </a:r>
          </a:p>
        </p:txBody>
      </p:sp>
      <p:sp>
        <p:nvSpPr>
          <p:cNvPr id="14" name="TextBox 13"/>
          <p:cNvSpPr txBox="1"/>
          <p:nvPr/>
        </p:nvSpPr>
        <p:spPr>
          <a:xfrm>
            <a:off x="960120" y="4416552"/>
            <a:ext cx="3017520" cy="292608"/>
          </a:xfrm>
          <a:prstGeom prst="rect">
            <a:avLst/>
          </a:prstGeom>
          <a:noFill/>
        </p:spPr>
        <p:txBody>
          <a:bodyPr wrap="square" lIns="0" tIns="0" rIns="0" bIns="0" anchor="ctr"/>
          <a:lstStyle/>
          <a:p>
            <a:pPr algn="l"/>
            <a:r>
              <a:rPr sz="1250" b="1">
                <a:solidFill>
                  <a:srgbClr val="14233F"/>
                </a:solidFill>
                <a:latin typeface="Calibri"/>
              </a:rPr>
              <a:t>Reasoning / Planner</a:t>
            </a:r>
          </a:p>
        </p:txBody>
      </p:sp>
      <p:sp>
        <p:nvSpPr>
          <p:cNvPr id="15" name="Rounded Rectangle 14"/>
          <p:cNvSpPr/>
          <p:nvPr/>
        </p:nvSpPr>
        <p:spPr>
          <a:xfrm>
            <a:off x="4160520" y="4398264"/>
            <a:ext cx="1600200" cy="310896"/>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60520" y="4416552"/>
            <a:ext cx="1600200" cy="274320"/>
          </a:xfrm>
          <a:prstGeom prst="rect">
            <a:avLst/>
          </a:prstGeom>
          <a:noFill/>
        </p:spPr>
        <p:txBody>
          <a:bodyPr wrap="square" lIns="0" tIns="0" rIns="0" bIns="0" anchor="ctr"/>
          <a:lstStyle/>
          <a:p>
            <a:pPr algn="ctr"/>
            <a:r>
              <a:rPr sz="1050" b="1">
                <a:solidFill>
                  <a:srgbClr val="0E9E80"/>
                </a:solidFill>
                <a:latin typeface="Calibri"/>
              </a:rPr>
              <a:t>plan once</a:t>
            </a:r>
          </a:p>
        </p:txBody>
      </p:sp>
      <p:sp>
        <p:nvSpPr>
          <p:cNvPr id="17" name="TextBox 16"/>
          <p:cNvSpPr txBox="1"/>
          <p:nvPr/>
        </p:nvSpPr>
        <p:spPr>
          <a:xfrm>
            <a:off x="960120" y="4823460"/>
            <a:ext cx="3017520" cy="292608"/>
          </a:xfrm>
          <a:prstGeom prst="rect">
            <a:avLst/>
          </a:prstGeom>
          <a:noFill/>
        </p:spPr>
        <p:txBody>
          <a:bodyPr wrap="square" lIns="0" tIns="0" rIns="0" bIns="0" anchor="ctr"/>
          <a:lstStyle/>
          <a:p>
            <a:pPr algn="l"/>
            <a:r>
              <a:rPr sz="1250" b="1">
                <a:solidFill>
                  <a:srgbClr val="14233F"/>
                </a:solidFill>
                <a:latin typeface="Calibri"/>
              </a:rPr>
              <a:t>Evidence</a:t>
            </a:r>
          </a:p>
        </p:txBody>
      </p:sp>
      <p:sp>
        <p:nvSpPr>
          <p:cNvPr id="18" name="Rounded Rectangle 17"/>
          <p:cNvSpPr/>
          <p:nvPr/>
        </p:nvSpPr>
        <p:spPr>
          <a:xfrm>
            <a:off x="4160520" y="4805172"/>
            <a:ext cx="1600200" cy="310896"/>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0520" y="4823460"/>
            <a:ext cx="1600200" cy="274320"/>
          </a:xfrm>
          <a:prstGeom prst="rect">
            <a:avLst/>
          </a:prstGeom>
          <a:noFill/>
        </p:spPr>
        <p:txBody>
          <a:bodyPr wrap="square" lIns="0" tIns="0" rIns="0" bIns="0" anchor="ctr"/>
          <a:lstStyle/>
          <a:p>
            <a:pPr algn="ctr"/>
            <a:r>
              <a:rPr sz="1050" b="1">
                <a:solidFill>
                  <a:srgbClr val="5D6B8C"/>
                </a:solidFill>
                <a:latin typeface="Calibri"/>
              </a:rPr>
              <a:t>per executor</a:t>
            </a:r>
          </a:p>
        </p:txBody>
      </p:sp>
      <p:sp>
        <p:nvSpPr>
          <p:cNvPr id="20" name="TextBox 19"/>
          <p:cNvSpPr txBox="1"/>
          <p:nvPr/>
        </p:nvSpPr>
        <p:spPr>
          <a:xfrm>
            <a:off x="960120" y="5230368"/>
            <a:ext cx="3017520" cy="292608"/>
          </a:xfrm>
          <a:prstGeom prst="rect">
            <a:avLst/>
          </a:prstGeom>
          <a:noFill/>
        </p:spPr>
        <p:txBody>
          <a:bodyPr wrap="square" lIns="0" tIns="0" rIns="0" bIns="0" anchor="ctr"/>
          <a:lstStyle/>
          <a:p>
            <a:pPr algn="l"/>
            <a:r>
              <a:rPr sz="1250" b="1">
                <a:solidFill>
                  <a:srgbClr val="14233F"/>
                </a:solidFill>
                <a:latin typeface="Calibri"/>
              </a:rPr>
              <a:t>Action / Collaboration</a:t>
            </a:r>
          </a:p>
        </p:txBody>
      </p:sp>
      <p:sp>
        <p:nvSpPr>
          <p:cNvPr id="21" name="Rounded Rectangle 20"/>
          <p:cNvSpPr/>
          <p:nvPr/>
        </p:nvSpPr>
        <p:spPr>
          <a:xfrm>
            <a:off x="4160520" y="5212080"/>
            <a:ext cx="1600200" cy="310896"/>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60520" y="5230368"/>
            <a:ext cx="1600200" cy="274320"/>
          </a:xfrm>
          <a:prstGeom prst="rect">
            <a:avLst/>
          </a:prstGeom>
          <a:noFill/>
        </p:spPr>
        <p:txBody>
          <a:bodyPr wrap="square" lIns="0" tIns="0" rIns="0" bIns="0" anchor="ctr"/>
          <a:lstStyle/>
          <a:p>
            <a:pPr algn="ctr"/>
            <a:r>
              <a:rPr sz="1050" b="1">
                <a:solidFill>
                  <a:srgbClr val="5D6B8C"/>
                </a:solidFill>
                <a:latin typeface="Calibri"/>
              </a:rPr>
              <a:t>per executor</a:t>
            </a:r>
          </a:p>
        </p:txBody>
      </p:sp>
      <p:sp>
        <p:nvSpPr>
          <p:cNvPr id="23" name="TextBox 22"/>
          <p:cNvSpPr txBox="1"/>
          <p:nvPr/>
        </p:nvSpPr>
        <p:spPr>
          <a:xfrm>
            <a:off x="960120" y="5637276"/>
            <a:ext cx="3017520" cy="292608"/>
          </a:xfrm>
          <a:prstGeom prst="rect">
            <a:avLst/>
          </a:prstGeom>
          <a:noFill/>
        </p:spPr>
        <p:txBody>
          <a:bodyPr wrap="square" lIns="0" tIns="0" rIns="0" bIns="0" anchor="ctr"/>
          <a:lstStyle/>
          <a:p>
            <a:pPr algn="l"/>
            <a:r>
              <a:rPr sz="1250" b="1">
                <a:solidFill>
                  <a:srgbClr val="14233F"/>
                </a:solidFill>
                <a:latin typeface="Calibri"/>
              </a:rPr>
              <a:t>Explainability</a:t>
            </a:r>
          </a:p>
        </p:txBody>
      </p:sp>
      <p:sp>
        <p:nvSpPr>
          <p:cNvPr id="24" name="Rounded Rectangle 23"/>
          <p:cNvSpPr/>
          <p:nvPr/>
        </p:nvSpPr>
        <p:spPr>
          <a:xfrm>
            <a:off x="4160520" y="5618988"/>
            <a:ext cx="1600200" cy="310896"/>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60520" y="5637276"/>
            <a:ext cx="1600200" cy="274320"/>
          </a:xfrm>
          <a:prstGeom prst="rect">
            <a:avLst/>
          </a:prstGeom>
          <a:noFill/>
        </p:spPr>
        <p:txBody>
          <a:bodyPr wrap="square" lIns="0" tIns="0" rIns="0" bIns="0" anchor="ctr"/>
          <a:lstStyle/>
          <a:p>
            <a:pPr algn="ctr"/>
            <a:r>
              <a:rPr sz="1050" b="1">
                <a:solidFill>
                  <a:srgbClr val="5D6B8C"/>
                </a:solidFill>
                <a:latin typeface="Calibri"/>
              </a:rPr>
              <a:t>per executor</a:t>
            </a:r>
          </a:p>
        </p:txBody>
      </p:sp>
      <p:sp>
        <p:nvSpPr>
          <p:cNvPr id="26" name="Rounded Rectangle 25"/>
          <p:cNvSpPr/>
          <p:nvPr/>
        </p:nvSpPr>
        <p:spPr>
          <a:xfrm>
            <a:off x="6108192" y="2880360"/>
            <a:ext cx="5440680" cy="3246120"/>
          </a:xfrm>
          <a:prstGeom prst="roundRect">
            <a:avLst/>
          </a:prstGeom>
          <a:solidFill>
            <a:srgbClr val="F3F7FC"/>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0" y="3063240"/>
            <a:ext cx="4937760" cy="365760"/>
          </a:xfrm>
          <a:prstGeom prst="rect">
            <a:avLst/>
          </a:prstGeom>
          <a:noFill/>
        </p:spPr>
        <p:txBody>
          <a:bodyPr wrap="square" lIns="0" tIns="0" rIns="0" bIns="0" anchor="t"/>
          <a:lstStyle/>
          <a:p>
            <a:pPr algn="l"/>
            <a:r>
              <a:rPr sz="1600" b="1">
                <a:solidFill>
                  <a:srgbClr val="14233F"/>
                </a:solidFill>
                <a:latin typeface="Cambria"/>
              </a:rPr>
              <a:t>Platform view — how the system is built</a:t>
            </a:r>
          </a:p>
        </p:txBody>
      </p:sp>
      <p:sp>
        <p:nvSpPr>
          <p:cNvPr id="28" name="Rounded Rectangle 27"/>
          <p:cNvSpPr/>
          <p:nvPr/>
        </p:nvSpPr>
        <p:spPr>
          <a:xfrm>
            <a:off x="6400800" y="3511296"/>
            <a:ext cx="292608" cy="292608"/>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3529584"/>
            <a:ext cx="292608" cy="256032"/>
          </a:xfrm>
          <a:prstGeom prst="rect">
            <a:avLst/>
          </a:prstGeom>
          <a:noFill/>
        </p:spPr>
        <p:txBody>
          <a:bodyPr wrap="square" lIns="0" tIns="0" rIns="0" bIns="0" anchor="ctr"/>
          <a:lstStyle/>
          <a:p>
            <a:pPr algn="ctr"/>
            <a:r>
              <a:rPr sz="1600" b="1">
                <a:solidFill>
                  <a:srgbClr val="FFFFFF"/>
                </a:solidFill>
                <a:latin typeface="Calibri"/>
              </a:rPr>
              <a:t>1</a:t>
            </a:r>
          </a:p>
        </p:txBody>
      </p:sp>
      <p:sp>
        <p:nvSpPr>
          <p:cNvPr id="30" name="TextBox 29"/>
          <p:cNvSpPr txBox="1"/>
          <p:nvPr/>
        </p:nvSpPr>
        <p:spPr>
          <a:xfrm>
            <a:off x="6839712" y="3520439"/>
            <a:ext cx="4572000" cy="292608"/>
          </a:xfrm>
          <a:prstGeom prst="rect">
            <a:avLst/>
          </a:prstGeom>
          <a:noFill/>
        </p:spPr>
        <p:txBody>
          <a:bodyPr wrap="square" lIns="0" tIns="0" rIns="0" bIns="0" anchor="ctr"/>
          <a:lstStyle/>
          <a:p>
            <a:pPr algn="l"/>
            <a:r>
              <a:rPr sz="1100" b="0">
                <a:solidFill>
                  <a:srgbClr val="5D6B8C"/>
                </a:solidFill>
                <a:latin typeface="Calibri"/>
              </a:rPr>
              <a:t>Conversation</a:t>
            </a:r>
          </a:p>
        </p:txBody>
      </p:sp>
      <p:sp>
        <p:nvSpPr>
          <p:cNvPr id="31" name="Rounded Rectangle 30"/>
          <p:cNvSpPr/>
          <p:nvPr/>
        </p:nvSpPr>
        <p:spPr>
          <a:xfrm>
            <a:off x="6400800" y="3835908"/>
            <a:ext cx="292608" cy="292608"/>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3854196"/>
            <a:ext cx="292608" cy="256032"/>
          </a:xfrm>
          <a:prstGeom prst="rect">
            <a:avLst/>
          </a:prstGeom>
          <a:noFill/>
        </p:spPr>
        <p:txBody>
          <a:bodyPr wrap="square" lIns="0" tIns="0" rIns="0" bIns="0" anchor="ctr"/>
          <a:lstStyle/>
          <a:p>
            <a:pPr algn="ctr"/>
            <a:r>
              <a:rPr sz="1600" b="1">
                <a:solidFill>
                  <a:srgbClr val="FFFFFF"/>
                </a:solidFill>
                <a:latin typeface="Calibri"/>
              </a:rPr>
              <a:t>2</a:t>
            </a:r>
          </a:p>
        </p:txBody>
      </p:sp>
      <p:sp>
        <p:nvSpPr>
          <p:cNvPr id="33" name="TextBox 32"/>
          <p:cNvSpPr txBox="1"/>
          <p:nvPr/>
        </p:nvSpPr>
        <p:spPr>
          <a:xfrm>
            <a:off x="6839712" y="3845052"/>
            <a:ext cx="4572000" cy="292608"/>
          </a:xfrm>
          <a:prstGeom prst="rect">
            <a:avLst/>
          </a:prstGeom>
          <a:noFill/>
        </p:spPr>
        <p:txBody>
          <a:bodyPr wrap="square" lIns="0" tIns="0" rIns="0" bIns="0" anchor="ctr"/>
          <a:lstStyle/>
          <a:p>
            <a:pPr algn="l"/>
            <a:r>
              <a:rPr sz="1100" b="1">
                <a:solidFill>
                  <a:srgbClr val="14233F"/>
                </a:solidFill>
                <a:latin typeface="Calibri"/>
              </a:rPr>
              <a:t>Planner</a:t>
            </a:r>
          </a:p>
        </p:txBody>
      </p:sp>
      <p:sp>
        <p:nvSpPr>
          <p:cNvPr id="34" name="Rounded Rectangle 33"/>
          <p:cNvSpPr/>
          <p:nvPr/>
        </p:nvSpPr>
        <p:spPr>
          <a:xfrm>
            <a:off x="6400800" y="4160520"/>
            <a:ext cx="292608" cy="292608"/>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4178808"/>
            <a:ext cx="292608" cy="256032"/>
          </a:xfrm>
          <a:prstGeom prst="rect">
            <a:avLst/>
          </a:prstGeom>
          <a:noFill/>
        </p:spPr>
        <p:txBody>
          <a:bodyPr wrap="square" lIns="0" tIns="0" rIns="0" bIns="0" anchor="ctr"/>
          <a:lstStyle/>
          <a:p>
            <a:pPr algn="ctr"/>
            <a:r>
              <a:rPr sz="1600" b="1">
                <a:solidFill>
                  <a:srgbClr val="FFFFFF"/>
                </a:solidFill>
                <a:latin typeface="Calibri"/>
              </a:rPr>
              <a:t>3</a:t>
            </a:r>
          </a:p>
        </p:txBody>
      </p:sp>
      <p:sp>
        <p:nvSpPr>
          <p:cNvPr id="36" name="TextBox 35"/>
          <p:cNvSpPr txBox="1"/>
          <p:nvPr/>
        </p:nvSpPr>
        <p:spPr>
          <a:xfrm>
            <a:off x="6839712" y="4169664"/>
            <a:ext cx="4572000" cy="292608"/>
          </a:xfrm>
          <a:prstGeom prst="rect">
            <a:avLst/>
          </a:prstGeom>
          <a:noFill/>
        </p:spPr>
        <p:txBody>
          <a:bodyPr wrap="square" lIns="0" tIns="0" rIns="0" bIns="0" anchor="ctr"/>
          <a:lstStyle/>
          <a:p>
            <a:pPr algn="l"/>
            <a:r>
              <a:rPr sz="1100" b="1">
                <a:solidFill>
                  <a:srgbClr val="14233F"/>
                </a:solidFill>
                <a:latin typeface="Calibri"/>
              </a:rPr>
              <a:t>Ontology  (shared meaning)</a:t>
            </a:r>
          </a:p>
        </p:txBody>
      </p:sp>
      <p:sp>
        <p:nvSpPr>
          <p:cNvPr id="37" name="Rounded Rectangle 36"/>
          <p:cNvSpPr/>
          <p:nvPr/>
        </p:nvSpPr>
        <p:spPr>
          <a:xfrm>
            <a:off x="6400800" y="4485132"/>
            <a:ext cx="292608" cy="292608"/>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0" y="4503420"/>
            <a:ext cx="292608" cy="256032"/>
          </a:xfrm>
          <a:prstGeom prst="rect">
            <a:avLst/>
          </a:prstGeom>
          <a:noFill/>
        </p:spPr>
        <p:txBody>
          <a:bodyPr wrap="square" lIns="0" tIns="0" rIns="0" bIns="0" anchor="ctr"/>
          <a:lstStyle/>
          <a:p>
            <a:pPr algn="ctr"/>
            <a:r>
              <a:rPr sz="1600" b="1">
                <a:solidFill>
                  <a:srgbClr val="FFFFFF"/>
                </a:solidFill>
                <a:latin typeface="Calibri"/>
              </a:rPr>
              <a:t>4</a:t>
            </a:r>
          </a:p>
        </p:txBody>
      </p:sp>
      <p:sp>
        <p:nvSpPr>
          <p:cNvPr id="39" name="TextBox 38"/>
          <p:cNvSpPr txBox="1"/>
          <p:nvPr/>
        </p:nvSpPr>
        <p:spPr>
          <a:xfrm>
            <a:off x="6839712" y="4494276"/>
            <a:ext cx="4572000" cy="292608"/>
          </a:xfrm>
          <a:prstGeom prst="rect">
            <a:avLst/>
          </a:prstGeom>
          <a:noFill/>
        </p:spPr>
        <p:txBody>
          <a:bodyPr wrap="square" lIns="0" tIns="0" rIns="0" bIns="0" anchor="ctr"/>
          <a:lstStyle/>
          <a:p>
            <a:pPr algn="l"/>
            <a:r>
              <a:rPr sz="1100" b="0">
                <a:solidFill>
                  <a:srgbClr val="5D6B8C"/>
                </a:solidFill>
                <a:latin typeface="Calibri"/>
              </a:rPr>
              <a:t>Knowledge / Evidence</a:t>
            </a:r>
          </a:p>
        </p:txBody>
      </p:sp>
      <p:sp>
        <p:nvSpPr>
          <p:cNvPr id="40" name="Rounded Rectangle 39"/>
          <p:cNvSpPr/>
          <p:nvPr/>
        </p:nvSpPr>
        <p:spPr>
          <a:xfrm>
            <a:off x="6400800" y="4809744"/>
            <a:ext cx="292608" cy="292608"/>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4828032"/>
            <a:ext cx="292608" cy="256032"/>
          </a:xfrm>
          <a:prstGeom prst="rect">
            <a:avLst/>
          </a:prstGeom>
          <a:noFill/>
        </p:spPr>
        <p:txBody>
          <a:bodyPr wrap="square" lIns="0" tIns="0" rIns="0" bIns="0" anchor="ctr"/>
          <a:lstStyle/>
          <a:p>
            <a:pPr algn="ctr"/>
            <a:r>
              <a:rPr sz="1600" b="1">
                <a:solidFill>
                  <a:srgbClr val="FFFFFF"/>
                </a:solidFill>
                <a:latin typeface="Calibri"/>
              </a:rPr>
              <a:t>5</a:t>
            </a:r>
          </a:p>
        </p:txBody>
      </p:sp>
      <p:sp>
        <p:nvSpPr>
          <p:cNvPr id="42" name="TextBox 41"/>
          <p:cNvSpPr txBox="1"/>
          <p:nvPr/>
        </p:nvSpPr>
        <p:spPr>
          <a:xfrm>
            <a:off x="6839712" y="4818888"/>
            <a:ext cx="4572000" cy="292608"/>
          </a:xfrm>
          <a:prstGeom prst="rect">
            <a:avLst/>
          </a:prstGeom>
          <a:noFill/>
        </p:spPr>
        <p:txBody>
          <a:bodyPr wrap="square" lIns="0" tIns="0" rIns="0" bIns="0" anchor="ctr"/>
          <a:lstStyle/>
          <a:p>
            <a:pPr algn="l"/>
            <a:r>
              <a:rPr sz="1100" b="0">
                <a:solidFill>
                  <a:srgbClr val="5D6B8C"/>
                </a:solidFill>
                <a:latin typeface="Calibri"/>
              </a:rPr>
              <a:t>Specialized executors</a:t>
            </a:r>
          </a:p>
        </p:txBody>
      </p:sp>
      <p:sp>
        <p:nvSpPr>
          <p:cNvPr id="43" name="Rounded Rectangle 42"/>
          <p:cNvSpPr/>
          <p:nvPr/>
        </p:nvSpPr>
        <p:spPr>
          <a:xfrm>
            <a:off x="6400800" y="5134356"/>
            <a:ext cx="292608" cy="292608"/>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0" y="5152644"/>
            <a:ext cx="292608" cy="256032"/>
          </a:xfrm>
          <a:prstGeom prst="rect">
            <a:avLst/>
          </a:prstGeom>
          <a:noFill/>
        </p:spPr>
        <p:txBody>
          <a:bodyPr wrap="square" lIns="0" tIns="0" rIns="0" bIns="0" anchor="ctr"/>
          <a:lstStyle/>
          <a:p>
            <a:pPr algn="ctr"/>
            <a:r>
              <a:rPr sz="1600" b="1">
                <a:solidFill>
                  <a:srgbClr val="FFFFFF"/>
                </a:solidFill>
                <a:latin typeface="Calibri"/>
              </a:rPr>
              <a:t>6</a:t>
            </a:r>
          </a:p>
        </p:txBody>
      </p:sp>
      <p:sp>
        <p:nvSpPr>
          <p:cNvPr id="45" name="TextBox 44"/>
          <p:cNvSpPr txBox="1"/>
          <p:nvPr/>
        </p:nvSpPr>
        <p:spPr>
          <a:xfrm>
            <a:off x="6839712" y="5143500"/>
            <a:ext cx="4572000" cy="292608"/>
          </a:xfrm>
          <a:prstGeom prst="rect">
            <a:avLst/>
          </a:prstGeom>
          <a:noFill/>
        </p:spPr>
        <p:txBody>
          <a:bodyPr wrap="square" lIns="0" tIns="0" rIns="0" bIns="0" anchor="ctr"/>
          <a:lstStyle/>
          <a:p>
            <a:pPr algn="l"/>
            <a:r>
              <a:rPr sz="1100" b="0">
                <a:solidFill>
                  <a:srgbClr val="5D6B8C"/>
                </a:solidFill>
                <a:latin typeface="Calibri"/>
              </a:rPr>
              <a:t>Optimization / solvers</a:t>
            </a:r>
          </a:p>
        </p:txBody>
      </p:sp>
      <p:sp>
        <p:nvSpPr>
          <p:cNvPr id="46" name="Rounded Rectangle 45"/>
          <p:cNvSpPr/>
          <p:nvPr/>
        </p:nvSpPr>
        <p:spPr>
          <a:xfrm>
            <a:off x="6400800" y="5458968"/>
            <a:ext cx="292608" cy="292608"/>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00800" y="5477256"/>
            <a:ext cx="292608" cy="256032"/>
          </a:xfrm>
          <a:prstGeom prst="rect">
            <a:avLst/>
          </a:prstGeom>
          <a:noFill/>
        </p:spPr>
        <p:txBody>
          <a:bodyPr wrap="square" lIns="0" tIns="0" rIns="0" bIns="0" anchor="ctr"/>
          <a:lstStyle/>
          <a:p>
            <a:pPr algn="ctr"/>
            <a:r>
              <a:rPr sz="1600" b="1">
                <a:solidFill>
                  <a:srgbClr val="FFFFFF"/>
                </a:solidFill>
                <a:latin typeface="Calibri"/>
              </a:rPr>
              <a:t>7</a:t>
            </a:r>
          </a:p>
        </p:txBody>
      </p:sp>
      <p:sp>
        <p:nvSpPr>
          <p:cNvPr id="48" name="TextBox 47"/>
          <p:cNvSpPr txBox="1"/>
          <p:nvPr/>
        </p:nvSpPr>
        <p:spPr>
          <a:xfrm>
            <a:off x="6839712" y="5468112"/>
            <a:ext cx="4572000" cy="292608"/>
          </a:xfrm>
          <a:prstGeom prst="rect">
            <a:avLst/>
          </a:prstGeom>
          <a:noFill/>
        </p:spPr>
        <p:txBody>
          <a:bodyPr wrap="square" lIns="0" tIns="0" rIns="0" bIns="0" anchor="ctr"/>
          <a:lstStyle/>
          <a:p>
            <a:pPr algn="l"/>
            <a:r>
              <a:rPr sz="1100" b="0">
                <a:solidFill>
                  <a:srgbClr val="5D6B8C"/>
                </a:solidFill>
                <a:latin typeface="Calibri"/>
              </a:rPr>
              <a:t>Enterprise systems · SAP · lakehouse · ServiceNow</a:t>
            </a:r>
          </a:p>
        </p:txBody>
      </p:sp>
      <p:sp>
        <p:nvSpPr>
          <p:cNvPr id="49" name="TextBox 48"/>
          <p:cNvSpPr txBox="1"/>
          <p:nvPr/>
        </p:nvSpPr>
        <p:spPr>
          <a:xfrm>
            <a:off x="6400800" y="5815584"/>
            <a:ext cx="5029200" cy="256032"/>
          </a:xfrm>
          <a:prstGeom prst="rect">
            <a:avLst/>
          </a:prstGeom>
          <a:noFill/>
        </p:spPr>
        <p:txBody>
          <a:bodyPr wrap="square" lIns="0" tIns="0" rIns="0" bIns="0" anchor="t"/>
          <a:lstStyle/>
          <a:p>
            <a:pPr algn="l"/>
            <a:r>
              <a:rPr sz="1050" b="1">
                <a:solidFill>
                  <a:srgbClr val="0E9E80"/>
                </a:solidFill>
                <a:latin typeface="Calibri"/>
              </a:rPr>
              <a:t>All inside the Cognitive Runtime (UNAI); governance is cross-cutting.</a:t>
            </a:r>
          </a:p>
        </p:txBody>
      </p:sp>
      <p:sp>
        <p:nvSpPr>
          <p:cNvPr id="50" name="Rounded Rectangle 49"/>
          <p:cNvSpPr/>
          <p:nvPr/>
        </p:nvSpPr>
        <p:spPr>
          <a:xfrm>
            <a:off x="640080" y="6291072"/>
            <a:ext cx="10908792" cy="438912"/>
          </a:xfrm>
          <a:prstGeom prst="roundRect">
            <a:avLst/>
          </a:prstGeom>
          <a:solidFill>
            <a:srgbClr val="FB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8680" y="6309360"/>
            <a:ext cx="10515600" cy="402336"/>
          </a:xfrm>
          <a:prstGeom prst="rect">
            <a:avLst/>
          </a:prstGeom>
          <a:noFill/>
        </p:spPr>
        <p:txBody>
          <a:bodyPr wrap="square" lIns="0" tIns="0" rIns="0" bIns="0" anchor="ctr"/>
          <a:lstStyle/>
          <a:p>
            <a:pPr algn="l"/>
            <a:r>
              <a:rPr sz="1050" b="0">
                <a:solidFill>
                  <a:srgbClr val="7A5B12"/>
                </a:solidFill>
                <a:latin typeface="Calibri"/>
              </a:rPr>
              <a:t>Honest framing: the seven layers are our reference architecture — not an industry standard (real ones run 4–10+). This eliminates duplicated retrieval &amp; reasoning; it is not a fixed 1/N token cut.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THE SAVINGS</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What the upgrade buys — measured on the demonstrator</a:t>
            </a:r>
          </a:p>
        </p:txBody>
      </p:sp>
      <p:sp>
        <p:nvSpPr>
          <p:cNvPr id="5" name="TextBox 4"/>
          <p:cNvSpPr txBox="1"/>
          <p:nvPr/>
        </p:nvSpPr>
        <p:spPr>
          <a:xfrm>
            <a:off x="640080" y="1627632"/>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The cognition base (ontology context + one plan) is paid once per goal instead of once per specialist, and context is retrieved once then reused from cache. Savings scale with how many specialists share the work.</a:t>
            </a:r>
          </a:p>
        </p:txBody>
      </p:sp>
      <p:sp>
        <p:nvSpPr>
          <p:cNvPr id="6" name="Rounded Rectangle 5"/>
          <p:cNvSpPr/>
          <p:nvPr/>
        </p:nvSpPr>
        <p:spPr>
          <a:xfrm>
            <a:off x="640080" y="2606040"/>
            <a:ext cx="2615184" cy="1234440"/>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2724912"/>
            <a:ext cx="2286000" cy="548640"/>
          </a:xfrm>
          <a:prstGeom prst="rect">
            <a:avLst/>
          </a:prstGeom>
          <a:noFill/>
        </p:spPr>
        <p:txBody>
          <a:bodyPr wrap="square" lIns="0" tIns="0" rIns="0" bIns="0" anchor="t"/>
          <a:lstStyle/>
          <a:p>
            <a:pPr algn="l"/>
            <a:r>
              <a:rPr sz="3000" b="1">
                <a:solidFill>
                  <a:srgbClr val="0E9E80"/>
                </a:solidFill>
                <a:latin typeface="Cambria"/>
              </a:rPr>
              <a:t>58%–80%</a:t>
            </a:r>
          </a:p>
        </p:txBody>
      </p:sp>
      <p:sp>
        <p:nvSpPr>
          <p:cNvPr id="8" name="TextBox 7"/>
          <p:cNvSpPr txBox="1"/>
          <p:nvPr/>
        </p:nvSpPr>
        <p:spPr>
          <a:xfrm>
            <a:off x="822959" y="3310128"/>
            <a:ext cx="2286000" cy="457200"/>
          </a:xfrm>
          <a:prstGeom prst="rect">
            <a:avLst/>
          </a:prstGeom>
          <a:noFill/>
        </p:spPr>
        <p:txBody>
          <a:bodyPr wrap="square" lIns="0" tIns="0" rIns="0" bIns="0" anchor="t"/>
          <a:lstStyle/>
          <a:p>
            <a:pPr algn="l">
              <a:lnSpc>
                <a:spcPct val="100000"/>
              </a:lnSpc>
            </a:pPr>
            <a:r>
              <a:rPr sz="1100" b="0">
                <a:solidFill>
                  <a:srgbClr val="5D6B8C"/>
                </a:solidFill>
                <a:latin typeface="Calibri"/>
              </a:rPr>
              <a:t>fewer tokens / run</a:t>
            </a:r>
          </a:p>
        </p:txBody>
      </p:sp>
      <p:sp>
        <p:nvSpPr>
          <p:cNvPr id="9" name="Rounded Rectangle 8"/>
          <p:cNvSpPr/>
          <p:nvPr/>
        </p:nvSpPr>
        <p:spPr>
          <a:xfrm>
            <a:off x="3419856" y="2606040"/>
            <a:ext cx="2615184" cy="1234440"/>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02736" y="2724912"/>
            <a:ext cx="2286000" cy="548640"/>
          </a:xfrm>
          <a:prstGeom prst="rect">
            <a:avLst/>
          </a:prstGeom>
          <a:noFill/>
        </p:spPr>
        <p:txBody>
          <a:bodyPr wrap="square" lIns="0" tIns="0" rIns="0" bIns="0" anchor="t"/>
          <a:lstStyle/>
          <a:p>
            <a:pPr algn="l"/>
            <a:r>
              <a:rPr sz="3000" b="1">
                <a:solidFill>
                  <a:srgbClr val="0E9E80"/>
                </a:solidFill>
                <a:latin typeface="Cambria"/>
              </a:rPr>
              <a:t>once</a:t>
            </a:r>
          </a:p>
        </p:txBody>
      </p:sp>
      <p:sp>
        <p:nvSpPr>
          <p:cNvPr id="11" name="TextBox 10"/>
          <p:cNvSpPr txBox="1"/>
          <p:nvPr/>
        </p:nvSpPr>
        <p:spPr>
          <a:xfrm>
            <a:off x="3602736" y="3310128"/>
            <a:ext cx="2286000" cy="457200"/>
          </a:xfrm>
          <a:prstGeom prst="rect">
            <a:avLst/>
          </a:prstGeom>
          <a:noFill/>
        </p:spPr>
        <p:txBody>
          <a:bodyPr wrap="square" lIns="0" tIns="0" rIns="0" bIns="0" anchor="t"/>
          <a:lstStyle/>
          <a:p>
            <a:pPr algn="l">
              <a:lnSpc>
                <a:spcPct val="100000"/>
              </a:lnSpc>
            </a:pPr>
            <a:r>
              <a:rPr sz="1100" b="0">
                <a:solidFill>
                  <a:srgbClr val="5D6B8C"/>
                </a:solidFill>
                <a:latin typeface="Calibri"/>
              </a:rPr>
              <a:t>cognition base paid per goal</a:t>
            </a:r>
          </a:p>
        </p:txBody>
      </p:sp>
      <p:sp>
        <p:nvSpPr>
          <p:cNvPr id="12" name="Rounded Rectangle 11"/>
          <p:cNvSpPr/>
          <p:nvPr/>
        </p:nvSpPr>
        <p:spPr>
          <a:xfrm>
            <a:off x="6199632" y="2606040"/>
            <a:ext cx="2615184" cy="123444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2724912"/>
            <a:ext cx="2286000" cy="548640"/>
          </a:xfrm>
          <a:prstGeom prst="rect">
            <a:avLst/>
          </a:prstGeom>
          <a:noFill/>
        </p:spPr>
        <p:txBody>
          <a:bodyPr wrap="square" lIns="0" tIns="0" rIns="0" bIns="0" anchor="t"/>
          <a:lstStyle/>
          <a:p>
            <a:pPr algn="l"/>
            <a:r>
              <a:rPr sz="3000" b="1">
                <a:solidFill>
                  <a:srgbClr val="14233F"/>
                </a:solidFill>
                <a:latin typeface="Cambria"/>
              </a:rPr>
              <a:t>1 plan</a:t>
            </a:r>
          </a:p>
        </p:txBody>
      </p:sp>
      <p:sp>
        <p:nvSpPr>
          <p:cNvPr id="14" name="TextBox 13"/>
          <p:cNvSpPr txBox="1"/>
          <p:nvPr/>
        </p:nvSpPr>
        <p:spPr>
          <a:xfrm>
            <a:off x="6382512" y="3310128"/>
            <a:ext cx="2286000" cy="457200"/>
          </a:xfrm>
          <a:prstGeom prst="rect">
            <a:avLst/>
          </a:prstGeom>
          <a:noFill/>
        </p:spPr>
        <p:txBody>
          <a:bodyPr wrap="square" lIns="0" tIns="0" rIns="0" bIns="0" anchor="t"/>
          <a:lstStyle/>
          <a:p>
            <a:pPr algn="l">
              <a:lnSpc>
                <a:spcPct val="100000"/>
              </a:lnSpc>
            </a:pPr>
            <a:r>
              <a:rPr sz="1100" b="0">
                <a:solidFill>
                  <a:srgbClr val="5D6B8C"/>
                </a:solidFill>
                <a:latin typeface="Calibri"/>
              </a:rPr>
              <a:t>built per goal · context reused</a:t>
            </a:r>
          </a:p>
        </p:txBody>
      </p:sp>
      <p:sp>
        <p:nvSpPr>
          <p:cNvPr id="15" name="Rounded Rectangle 14"/>
          <p:cNvSpPr/>
          <p:nvPr/>
        </p:nvSpPr>
        <p:spPr>
          <a:xfrm>
            <a:off x="8979408" y="2606040"/>
            <a:ext cx="2615184" cy="1234440"/>
          </a:xfrm>
          <a:prstGeom prst="roundRect">
            <a:avLst/>
          </a:prstGeom>
          <a:solidFill>
            <a:srgbClr val="FB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62288" y="2724912"/>
            <a:ext cx="2286000" cy="548640"/>
          </a:xfrm>
          <a:prstGeom prst="rect">
            <a:avLst/>
          </a:prstGeom>
          <a:noFill/>
        </p:spPr>
        <p:txBody>
          <a:bodyPr wrap="square" lIns="0" tIns="0" rIns="0" bIns="0" anchor="t"/>
          <a:lstStyle/>
          <a:p>
            <a:pPr algn="l"/>
            <a:r>
              <a:rPr sz="3000" b="1">
                <a:solidFill>
                  <a:srgbClr val="7A5B12"/>
                </a:solidFill>
                <a:latin typeface="Cambria"/>
              </a:rPr>
              <a:t>+caching</a:t>
            </a:r>
          </a:p>
        </p:txBody>
      </p:sp>
      <p:sp>
        <p:nvSpPr>
          <p:cNvPr id="17" name="TextBox 16"/>
          <p:cNvSpPr txBox="1"/>
          <p:nvPr/>
        </p:nvSpPr>
        <p:spPr>
          <a:xfrm>
            <a:off x="9162288" y="3310128"/>
            <a:ext cx="2286000" cy="457200"/>
          </a:xfrm>
          <a:prstGeom prst="rect">
            <a:avLst/>
          </a:prstGeom>
          <a:noFill/>
        </p:spPr>
        <p:txBody>
          <a:bodyPr wrap="square" lIns="0" tIns="0" rIns="0" bIns="0" anchor="t"/>
          <a:lstStyle/>
          <a:p>
            <a:pPr algn="l">
              <a:lnSpc>
                <a:spcPct val="100000"/>
              </a:lnSpc>
            </a:pPr>
            <a:r>
              <a:rPr sz="1100" b="0">
                <a:solidFill>
                  <a:srgbClr val="5D6B8C"/>
                </a:solidFill>
                <a:latin typeface="Calibri"/>
              </a:rPr>
              <a:t>prefix billed once, then cheap reads</a:t>
            </a:r>
          </a:p>
        </p:txBody>
      </p:sp>
      <p:sp>
        <p:nvSpPr>
          <p:cNvPr id="18" name="TextBox 17"/>
          <p:cNvSpPr txBox="1"/>
          <p:nvPr/>
        </p:nvSpPr>
        <p:spPr>
          <a:xfrm>
            <a:off x="640080" y="4069080"/>
            <a:ext cx="10881360" cy="320040"/>
          </a:xfrm>
          <a:prstGeom prst="rect">
            <a:avLst/>
          </a:prstGeom>
          <a:noFill/>
        </p:spPr>
        <p:txBody>
          <a:bodyPr wrap="square" lIns="0" tIns="0" rIns="0" bIns="0" anchor="t"/>
          <a:lstStyle/>
          <a:p>
            <a:pPr algn="l"/>
            <a:r>
              <a:rPr sz="1250" b="1">
                <a:solidFill>
                  <a:srgbClr val="14233F"/>
                </a:solidFill>
                <a:latin typeface="Calibri"/>
              </a:rPr>
              <a:t>Naive (one agent per specialist)  vs  UNAI shared runtime — tokens / run (modeled by the engine)</a:t>
            </a:r>
          </a:p>
        </p:txBody>
      </p:sp>
      <p:sp>
        <p:nvSpPr>
          <p:cNvPr id="19" name="TextBox 18"/>
          <p:cNvSpPr txBox="1"/>
          <p:nvPr/>
        </p:nvSpPr>
        <p:spPr>
          <a:xfrm>
            <a:off x="640080" y="4507992"/>
            <a:ext cx="2103120" cy="274320"/>
          </a:xfrm>
          <a:prstGeom prst="rect">
            <a:avLst/>
          </a:prstGeom>
          <a:noFill/>
        </p:spPr>
        <p:txBody>
          <a:bodyPr wrap="square" lIns="0" tIns="0" rIns="0" bIns="0" anchor="t"/>
          <a:lstStyle/>
          <a:p>
            <a:pPr algn="l"/>
            <a:r>
              <a:rPr sz="1050" b="0">
                <a:solidFill>
                  <a:srgbClr val="5D6B8C"/>
                </a:solidFill>
                <a:latin typeface="Calibri"/>
              </a:rPr>
              <a:t>Disruption · 4 agents</a:t>
            </a:r>
          </a:p>
        </p:txBody>
      </p:sp>
      <p:sp>
        <p:nvSpPr>
          <p:cNvPr id="20" name="Rectangle 19"/>
          <p:cNvSpPr/>
          <p:nvPr/>
        </p:nvSpPr>
        <p:spPr>
          <a:xfrm>
            <a:off x="2788920" y="4526280"/>
            <a:ext cx="2509373" cy="201168"/>
          </a:xfrm>
          <a:prstGeom prst="rect">
            <a:avLst/>
          </a:prstGeom>
          <a:solidFill>
            <a:srgbClr val="E257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71445" y="4489704"/>
            <a:ext cx="1188720" cy="274320"/>
          </a:xfrm>
          <a:prstGeom prst="rect">
            <a:avLst/>
          </a:prstGeom>
          <a:noFill/>
        </p:spPr>
        <p:txBody>
          <a:bodyPr wrap="square" lIns="0" tIns="0" rIns="0" bIns="0" anchor="t"/>
          <a:lstStyle/>
          <a:p>
            <a:pPr algn="l"/>
            <a:r>
              <a:rPr sz="950" b="1">
                <a:solidFill>
                  <a:srgbClr val="E2574C"/>
                </a:solidFill>
                <a:latin typeface="Calibri"/>
              </a:rPr>
              <a:t>15,590</a:t>
            </a:r>
          </a:p>
        </p:txBody>
      </p:sp>
      <p:sp>
        <p:nvSpPr>
          <p:cNvPr id="22" name="Rectangle 21"/>
          <p:cNvSpPr/>
          <p:nvPr/>
        </p:nvSpPr>
        <p:spPr>
          <a:xfrm>
            <a:off x="2788920" y="4800600"/>
            <a:ext cx="1062338" cy="201168"/>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24410" y="4764024"/>
            <a:ext cx="1188720" cy="274320"/>
          </a:xfrm>
          <a:prstGeom prst="rect">
            <a:avLst/>
          </a:prstGeom>
          <a:noFill/>
        </p:spPr>
        <p:txBody>
          <a:bodyPr wrap="square" lIns="0" tIns="0" rIns="0" bIns="0" anchor="t"/>
          <a:lstStyle/>
          <a:p>
            <a:pPr algn="l"/>
            <a:r>
              <a:rPr sz="950" b="1">
                <a:solidFill>
                  <a:srgbClr val="0E9E80"/>
                </a:solidFill>
                <a:latin typeface="Calibri"/>
              </a:rPr>
              <a:t>6,600</a:t>
            </a:r>
          </a:p>
        </p:txBody>
      </p:sp>
      <p:sp>
        <p:nvSpPr>
          <p:cNvPr id="24" name="TextBox 23"/>
          <p:cNvSpPr txBox="1"/>
          <p:nvPr/>
        </p:nvSpPr>
        <p:spPr>
          <a:xfrm>
            <a:off x="640080" y="5166360"/>
            <a:ext cx="2103120" cy="274320"/>
          </a:xfrm>
          <a:prstGeom prst="rect">
            <a:avLst/>
          </a:prstGeom>
          <a:noFill/>
        </p:spPr>
        <p:txBody>
          <a:bodyPr wrap="square" lIns="0" tIns="0" rIns="0" bIns="0" anchor="t"/>
          <a:lstStyle/>
          <a:p>
            <a:pPr algn="l"/>
            <a:r>
              <a:rPr sz="1050" b="0">
                <a:solidFill>
                  <a:srgbClr val="5D6B8C"/>
                </a:solidFill>
                <a:latin typeface="Calibri"/>
              </a:rPr>
              <a:t>Spares (IBP) · 12 agents</a:t>
            </a:r>
          </a:p>
        </p:txBody>
      </p:sp>
      <p:sp>
        <p:nvSpPr>
          <p:cNvPr id="25" name="Rectangle 24"/>
          <p:cNvSpPr/>
          <p:nvPr/>
        </p:nvSpPr>
        <p:spPr>
          <a:xfrm>
            <a:off x="2788920" y="5184648"/>
            <a:ext cx="6955100" cy="201168"/>
          </a:xfrm>
          <a:prstGeom prst="rect">
            <a:avLst/>
          </a:prstGeom>
          <a:solidFill>
            <a:srgbClr val="E257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17172" y="5148072"/>
            <a:ext cx="1188720" cy="274320"/>
          </a:xfrm>
          <a:prstGeom prst="rect">
            <a:avLst/>
          </a:prstGeom>
          <a:noFill/>
        </p:spPr>
        <p:txBody>
          <a:bodyPr wrap="square" lIns="0" tIns="0" rIns="0" bIns="0" anchor="t"/>
          <a:lstStyle/>
          <a:p>
            <a:pPr algn="l"/>
            <a:r>
              <a:rPr sz="950" b="1">
                <a:solidFill>
                  <a:srgbClr val="E2574C"/>
                </a:solidFill>
                <a:latin typeface="Calibri"/>
              </a:rPr>
              <a:t>43,210</a:t>
            </a:r>
          </a:p>
        </p:txBody>
      </p:sp>
      <p:sp>
        <p:nvSpPr>
          <p:cNvPr id="27" name="Rectangle 26"/>
          <p:cNvSpPr/>
          <p:nvPr/>
        </p:nvSpPr>
        <p:spPr>
          <a:xfrm>
            <a:off x="2788920" y="5458968"/>
            <a:ext cx="1773784" cy="201168"/>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35856" y="5422392"/>
            <a:ext cx="1188720" cy="274320"/>
          </a:xfrm>
          <a:prstGeom prst="rect">
            <a:avLst/>
          </a:prstGeom>
          <a:noFill/>
        </p:spPr>
        <p:txBody>
          <a:bodyPr wrap="square" lIns="0" tIns="0" rIns="0" bIns="0" anchor="t"/>
          <a:lstStyle/>
          <a:p>
            <a:pPr algn="l"/>
            <a:r>
              <a:rPr sz="950" b="1">
                <a:solidFill>
                  <a:srgbClr val="0E9E80"/>
                </a:solidFill>
                <a:latin typeface="Calibri"/>
              </a:rPr>
              <a:t>11,020</a:t>
            </a:r>
          </a:p>
        </p:txBody>
      </p:sp>
      <p:sp>
        <p:nvSpPr>
          <p:cNvPr id="29" name="TextBox 28"/>
          <p:cNvSpPr txBox="1"/>
          <p:nvPr/>
        </p:nvSpPr>
        <p:spPr>
          <a:xfrm>
            <a:off x="640080" y="5824728"/>
            <a:ext cx="2103120" cy="274320"/>
          </a:xfrm>
          <a:prstGeom prst="rect">
            <a:avLst/>
          </a:prstGeom>
          <a:noFill/>
        </p:spPr>
        <p:txBody>
          <a:bodyPr wrap="square" lIns="0" tIns="0" rIns="0" bIns="0" anchor="t"/>
          <a:lstStyle/>
          <a:p>
            <a:pPr algn="l"/>
            <a:r>
              <a:rPr sz="1050" b="0">
                <a:solidFill>
                  <a:srgbClr val="5D6B8C"/>
                </a:solidFill>
                <a:latin typeface="Calibri"/>
              </a:rPr>
              <a:t>RMA · 15 agents</a:t>
            </a:r>
          </a:p>
        </p:txBody>
      </p:sp>
      <p:sp>
        <p:nvSpPr>
          <p:cNvPr id="30" name="Rectangle 29"/>
          <p:cNvSpPr/>
          <p:nvPr/>
        </p:nvSpPr>
        <p:spPr>
          <a:xfrm>
            <a:off x="2788920" y="5843016"/>
            <a:ext cx="8138160" cy="201168"/>
          </a:xfrm>
          <a:prstGeom prst="rect">
            <a:avLst/>
          </a:prstGeom>
          <a:solidFill>
            <a:srgbClr val="E257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000232" y="5806440"/>
            <a:ext cx="1188720" cy="274320"/>
          </a:xfrm>
          <a:prstGeom prst="rect">
            <a:avLst/>
          </a:prstGeom>
          <a:noFill/>
        </p:spPr>
        <p:txBody>
          <a:bodyPr wrap="square" lIns="0" tIns="0" rIns="0" bIns="0" anchor="t"/>
          <a:lstStyle/>
          <a:p>
            <a:pPr algn="l"/>
            <a:r>
              <a:rPr sz="950" b="1">
                <a:solidFill>
                  <a:srgbClr val="E2574C"/>
                </a:solidFill>
                <a:latin typeface="Calibri"/>
              </a:rPr>
              <a:t>50,560</a:t>
            </a:r>
          </a:p>
        </p:txBody>
      </p:sp>
      <p:sp>
        <p:nvSpPr>
          <p:cNvPr id="32" name="Rectangle 31"/>
          <p:cNvSpPr/>
          <p:nvPr/>
        </p:nvSpPr>
        <p:spPr>
          <a:xfrm>
            <a:off x="2788920" y="6117336"/>
            <a:ext cx="1603166" cy="201168"/>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65238" y="6080759"/>
            <a:ext cx="1188720" cy="274320"/>
          </a:xfrm>
          <a:prstGeom prst="rect">
            <a:avLst/>
          </a:prstGeom>
          <a:noFill/>
        </p:spPr>
        <p:txBody>
          <a:bodyPr wrap="square" lIns="0" tIns="0" rIns="0" bIns="0" anchor="t"/>
          <a:lstStyle/>
          <a:p>
            <a:pPr algn="l"/>
            <a:r>
              <a:rPr sz="950" b="1">
                <a:solidFill>
                  <a:srgbClr val="0E9E80"/>
                </a:solidFill>
                <a:latin typeface="Calibri"/>
              </a:rPr>
              <a:t>9,960</a:t>
            </a:r>
          </a:p>
        </p:txBody>
      </p:sp>
      <p:sp>
        <p:nvSpPr>
          <p:cNvPr id="34" name="TextBox 33"/>
          <p:cNvSpPr txBox="1"/>
          <p:nvPr/>
        </p:nvSpPr>
        <p:spPr>
          <a:xfrm>
            <a:off x="640080" y="6519671"/>
            <a:ext cx="10881360" cy="548640"/>
          </a:xfrm>
          <a:prstGeom prst="rect">
            <a:avLst/>
          </a:prstGeom>
          <a:noFill/>
        </p:spPr>
        <p:txBody>
          <a:bodyPr wrap="square" lIns="0" tIns="0" rIns="0" bIns="0" anchor="t"/>
          <a:lstStyle/>
          <a:p>
            <a:pPr algn="l">
              <a:lnSpc>
                <a:spcPct val="105000"/>
              </a:lnSpc>
            </a:pPr>
            <a:r>
              <a:rPr sz="1050" b="0">
                <a:solidFill>
                  <a:srgbClr val="5D6B8C"/>
                </a:solidFill>
                <a:latin typeface="Calibri"/>
              </a:rPr>
              <a:t>Benchmarked by token_benchmark.py (disruption flow: 3,082 → 1,452 tokens, −53%; prompt caching cuts billed input further). Single-capability goals save little — as expected. Genuine cost reduction on the shared prefix comes from prompt / KV-cache reuse where the model supports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WHERE DOES THE CONTEXT COME FROM?</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Eliminating specialists doesn't lose their knowledge — it re-homes it</a:t>
            </a:r>
            <a:endParaRPr lang="en-US" sz="3000" dirty="0"/>
          </a:p>
        </p:txBody>
      </p:sp>
      <p:sp>
        <p:nvSpPr>
          <p:cNvPr id="5" name="Text 3"/>
          <p:cNvSpPr/>
          <p:nvPr/>
        </p:nvSpPr>
        <p:spPr>
          <a:xfrm>
            <a:off x="640080" y="1554480"/>
            <a:ext cx="10911535" cy="658368"/>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A common question: if you remove the specialist agents, how does one UNAI get the memory and context they had? Because the seven layers are plumbing, not the expertise — and the expertise is preserved as tool packs on one shared, shared-memory substrate.</a:t>
            </a:r>
            <a:endParaRPr lang="en-US" sz="1500" dirty="0"/>
          </a:p>
        </p:txBody>
      </p:sp>
      <p:sp>
        <p:nvSpPr>
          <p:cNvPr id="6" name="Shape 4"/>
          <p:cNvSpPr/>
          <p:nvPr/>
        </p:nvSpPr>
        <p:spPr>
          <a:xfrm>
            <a:off x="640080" y="2331720"/>
            <a:ext cx="5532120" cy="2697480"/>
          </a:xfrm>
          <a:prstGeom prst="roundRect">
            <a:avLst>
              <a:gd name="adj" fmla="val 3051"/>
            </a:avLst>
          </a:prstGeom>
          <a:solidFill>
            <a:srgbClr val="FCEEE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Text 5"/>
          <p:cNvSpPr/>
          <p:nvPr/>
        </p:nvSpPr>
        <p:spPr>
          <a:xfrm>
            <a:off x="960120" y="2487168"/>
            <a:ext cx="493776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Gen-1 specialist =</a:t>
            </a:r>
            <a:endParaRPr lang="en-US" sz="1500" dirty="0"/>
          </a:p>
        </p:txBody>
      </p:sp>
      <p:sp>
        <p:nvSpPr>
          <p:cNvPr id="8" name="Text 6"/>
          <p:cNvSpPr/>
          <p:nvPr/>
        </p:nvSpPr>
        <p:spPr>
          <a:xfrm>
            <a:off x="960120" y="2880360"/>
            <a:ext cx="4937760" cy="731520"/>
          </a:xfrm>
          <a:prstGeom prst="rect">
            <a:avLst/>
          </a:prstGeom>
          <a:noFill/>
          <a:ln/>
        </p:spPr>
        <p:txBody>
          <a:bodyPr wrap="square" lIns="0" tIns="0" rIns="0" bIns="0" rtlCol="0" anchor="ctr"/>
          <a:lstStyle/>
          <a:p>
            <a:pPr marL="0" indent="0">
              <a:lnSpc>
                <a:spcPct val="110000"/>
              </a:lnSpc>
              <a:buNone/>
            </a:pPr>
            <a:r>
              <a:rPr lang="en-US" sz="1300" dirty="0">
                <a:solidFill>
                  <a:srgbClr val="5D6B8C"/>
                </a:solidFill>
                <a:latin typeface="Calibri" pitchFamily="34" charset="0"/>
                <a:ea typeface="Calibri" pitchFamily="34" charset="-122"/>
                <a:cs typeface="Calibri" pitchFamily="34" charset="-120"/>
              </a:rPr>
              <a:t>domain logic  +  its OWN private copy of all 7 layers  +  its OWN memory silo (can't see the others').</a:t>
            </a:r>
            <a:endParaRPr lang="en-US" sz="1300" dirty="0"/>
          </a:p>
        </p:txBody>
      </p:sp>
      <p:sp>
        <p:nvSpPr>
          <p:cNvPr id="9" name="Shape 7"/>
          <p:cNvSpPr/>
          <p:nvPr/>
        </p:nvSpPr>
        <p:spPr>
          <a:xfrm>
            <a:off x="960120" y="3749040"/>
            <a:ext cx="4892040" cy="0"/>
          </a:xfrm>
          <a:prstGeom prst="line">
            <a:avLst/>
          </a:prstGeom>
          <a:noFill/>
          <a:ln w="12700">
            <a:solidFill>
              <a:srgbClr val="DCE6F2"/>
            </a:solidFill>
            <a:prstDash val="solid"/>
          </a:ln>
        </p:spPr>
        <p:txBody>
          <a:bodyPr/>
          <a:lstStyle/>
          <a:p>
            <a:endParaRPr/>
          </a:p>
        </p:txBody>
      </p:sp>
      <p:sp>
        <p:nvSpPr>
          <p:cNvPr id="10" name="Text 8"/>
          <p:cNvSpPr/>
          <p:nvPr/>
        </p:nvSpPr>
        <p:spPr>
          <a:xfrm>
            <a:off x="960120" y="3886200"/>
            <a:ext cx="4937760" cy="365760"/>
          </a:xfrm>
          <a:prstGeom prst="rect">
            <a:avLst/>
          </a:prstGeom>
          <a:noFill/>
          <a:ln/>
        </p:spPr>
        <p:txBody>
          <a:bodyPr wrap="square" lIns="0" tIns="0" rIns="0" bIns="0" rtlCol="0" anchor="ctr"/>
          <a:lstStyle/>
          <a:p>
            <a:pPr marL="0" indent="0">
              <a:buNone/>
            </a:pPr>
            <a:r>
              <a:rPr lang="en-US" sz="1500" b="1" dirty="0">
                <a:solidFill>
                  <a:srgbClr val="0E9E80"/>
                </a:solidFill>
                <a:latin typeface="Cambria" pitchFamily="34" charset="0"/>
                <a:ea typeface="Cambria" pitchFamily="34" charset="-122"/>
                <a:cs typeface="Cambria" pitchFamily="34" charset="-120"/>
              </a:rPr>
              <a:t>UNAI =</a:t>
            </a:r>
            <a:endParaRPr lang="en-US" sz="1500" dirty="0"/>
          </a:p>
        </p:txBody>
      </p:sp>
      <p:sp>
        <p:nvSpPr>
          <p:cNvPr id="11" name="Text 9"/>
          <p:cNvSpPr/>
          <p:nvPr/>
        </p:nvSpPr>
        <p:spPr>
          <a:xfrm>
            <a:off x="960120" y="4279392"/>
            <a:ext cx="4937760" cy="731520"/>
          </a:xfrm>
          <a:prstGeom prst="rect">
            <a:avLst/>
          </a:prstGeom>
          <a:noFill/>
          <a:ln/>
        </p:spPr>
        <p:txBody>
          <a:bodyPr wrap="square" lIns="0" tIns="0" rIns="0" bIns="0" rtlCol="0" anchor="ctr"/>
          <a:lstStyle/>
          <a:p>
            <a:pPr marL="0" indent="0">
              <a:lnSpc>
                <a:spcPct val="110000"/>
              </a:lnSpc>
              <a:buNone/>
            </a:pPr>
            <a:r>
              <a:rPr lang="en-US" sz="1300" dirty="0">
                <a:solidFill>
                  <a:srgbClr val="14233F"/>
                </a:solidFill>
                <a:latin typeface="Calibri" pitchFamily="34" charset="0"/>
                <a:ea typeface="Calibri" pitchFamily="34" charset="-122"/>
                <a:cs typeface="Calibri" pitchFamily="34" charset="-120"/>
              </a:rPr>
              <a:t>ONE shared copy of the 7 layers  +  ONE shared memory  +  the domain logic distilled into small tool packs.</a:t>
            </a:r>
            <a:endParaRPr lang="en-US" sz="1300" dirty="0"/>
          </a:p>
        </p:txBody>
      </p:sp>
      <p:sp>
        <p:nvSpPr>
          <p:cNvPr id="12" name="Shape 10"/>
          <p:cNvSpPr/>
          <p:nvPr/>
        </p:nvSpPr>
        <p:spPr>
          <a:xfrm>
            <a:off x="6583680" y="2331720"/>
            <a:ext cx="4967935" cy="2697480"/>
          </a:xfrm>
          <a:prstGeom prst="roundRect">
            <a:avLst>
              <a:gd name="adj" fmla="val 3051"/>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3" name="Text 11"/>
          <p:cNvSpPr/>
          <p:nvPr/>
        </p:nvSpPr>
        <p:spPr>
          <a:xfrm>
            <a:off x="6858000" y="2487168"/>
            <a:ext cx="457200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So a task's context comes from…</a:t>
            </a:r>
            <a:endParaRPr lang="en-US" sz="1500" dirty="0"/>
          </a:p>
        </p:txBody>
      </p:sp>
      <p:sp>
        <p:nvSpPr>
          <p:cNvPr id="14" name="Shape 12"/>
          <p:cNvSpPr/>
          <p:nvPr/>
        </p:nvSpPr>
        <p:spPr>
          <a:xfrm>
            <a:off x="6858000" y="2944368"/>
            <a:ext cx="146304" cy="146304"/>
          </a:xfrm>
          <a:prstGeom prst="ellipse">
            <a:avLst/>
          </a:prstGeom>
          <a:solidFill>
            <a:srgbClr val="22D3AA"/>
          </a:solidFill>
          <a:ln/>
        </p:spPr>
        <p:txBody>
          <a:bodyPr/>
          <a:lstStyle/>
          <a:p>
            <a:endParaRPr/>
          </a:p>
        </p:txBody>
      </p:sp>
      <p:sp>
        <p:nvSpPr>
          <p:cNvPr id="15" name="Text 13"/>
          <p:cNvSpPr/>
          <p:nvPr/>
        </p:nvSpPr>
        <p:spPr>
          <a:xfrm>
            <a:off x="7114032" y="2871216"/>
            <a:ext cx="4572000" cy="274320"/>
          </a:xfrm>
          <a:prstGeom prst="rect">
            <a:avLst/>
          </a:prstGeom>
          <a:noFill/>
          <a:ln/>
        </p:spPr>
        <p:txBody>
          <a:bodyPr wrap="square" lIns="0" tIns="0" rIns="0" bIns="0" rtlCol="0" anchor="ctr"/>
          <a:lstStyle/>
          <a:p>
            <a:pPr marL="0" indent="0">
              <a:buNone/>
            </a:pPr>
            <a:r>
              <a:rPr lang="en-US" sz="1300" b="1" dirty="0">
                <a:solidFill>
                  <a:srgbClr val="14233F"/>
                </a:solidFill>
                <a:latin typeface="Cambria" pitchFamily="34" charset="0"/>
                <a:ea typeface="Cambria" pitchFamily="34" charset="-122"/>
                <a:cs typeface="Cambria" pitchFamily="34" charset="-120"/>
              </a:rPr>
              <a:t>Perception</a:t>
            </a:r>
            <a:endParaRPr lang="en-US" sz="1300" dirty="0"/>
          </a:p>
        </p:txBody>
      </p:sp>
      <p:sp>
        <p:nvSpPr>
          <p:cNvPr id="16" name="Text 14"/>
          <p:cNvSpPr/>
          <p:nvPr/>
        </p:nvSpPr>
        <p:spPr>
          <a:xfrm>
            <a:off x="7114032" y="3145536"/>
            <a:ext cx="4480560" cy="457200"/>
          </a:xfrm>
          <a:prstGeom prst="rect">
            <a:avLst/>
          </a:prstGeom>
          <a:noFill/>
          <a:ln/>
        </p:spPr>
        <p:txBody>
          <a:bodyPr wrap="square" lIns="0" tIns="0" rIns="0" bIns="0" rtlCol="0" anchor="ctr"/>
          <a:lstStyle/>
          <a:p>
            <a:pPr marL="0" indent="0">
              <a:lnSpc>
                <a:spcPct val="102000"/>
              </a:lnSpc>
              <a:buNone/>
            </a:pPr>
            <a:r>
              <a:rPr lang="en-US" sz="1050" dirty="0">
                <a:solidFill>
                  <a:srgbClr val="5D6B8C"/>
                </a:solidFill>
                <a:latin typeface="Calibri" pitchFamily="34" charset="0"/>
                <a:ea typeface="Calibri" pitchFamily="34" charset="-122"/>
                <a:cs typeface="Calibri" pitchFamily="34" charset="-120"/>
              </a:rPr>
              <a:t>reads your systems via the canonical ontology — one reader, not one per agent</a:t>
            </a:r>
            <a:endParaRPr lang="en-US" sz="1050" dirty="0"/>
          </a:p>
        </p:txBody>
      </p:sp>
      <p:sp>
        <p:nvSpPr>
          <p:cNvPr id="17" name="Shape 15"/>
          <p:cNvSpPr/>
          <p:nvPr/>
        </p:nvSpPr>
        <p:spPr>
          <a:xfrm>
            <a:off x="6858000" y="3602736"/>
            <a:ext cx="146304" cy="146304"/>
          </a:xfrm>
          <a:prstGeom prst="ellipse">
            <a:avLst/>
          </a:prstGeom>
          <a:solidFill>
            <a:srgbClr val="22D3AA"/>
          </a:solidFill>
          <a:ln/>
        </p:spPr>
        <p:txBody>
          <a:bodyPr/>
          <a:lstStyle/>
          <a:p>
            <a:endParaRPr/>
          </a:p>
        </p:txBody>
      </p:sp>
      <p:sp>
        <p:nvSpPr>
          <p:cNvPr id="18" name="Text 16"/>
          <p:cNvSpPr/>
          <p:nvPr/>
        </p:nvSpPr>
        <p:spPr>
          <a:xfrm>
            <a:off x="7114032" y="3529584"/>
            <a:ext cx="4572000" cy="274320"/>
          </a:xfrm>
          <a:prstGeom prst="rect">
            <a:avLst/>
          </a:prstGeom>
          <a:noFill/>
          <a:ln/>
        </p:spPr>
        <p:txBody>
          <a:bodyPr wrap="square" lIns="0" tIns="0" rIns="0" bIns="0" rtlCol="0" anchor="ctr"/>
          <a:lstStyle/>
          <a:p>
            <a:pPr marL="0" indent="0">
              <a:buNone/>
            </a:pPr>
            <a:r>
              <a:rPr lang="en-US" sz="1300" b="1" dirty="0">
                <a:solidFill>
                  <a:srgbClr val="14233F"/>
                </a:solidFill>
                <a:latin typeface="Cambria" pitchFamily="34" charset="0"/>
                <a:ea typeface="Cambria" pitchFamily="34" charset="-122"/>
                <a:cs typeface="Cambria" pitchFamily="34" charset="-120"/>
              </a:rPr>
              <a:t>Shared memory</a:t>
            </a:r>
            <a:endParaRPr lang="en-US" sz="1300" dirty="0"/>
          </a:p>
        </p:txBody>
      </p:sp>
      <p:sp>
        <p:nvSpPr>
          <p:cNvPr id="19" name="Text 17"/>
          <p:cNvSpPr/>
          <p:nvPr/>
        </p:nvSpPr>
        <p:spPr>
          <a:xfrm>
            <a:off x="7114032" y="3803904"/>
            <a:ext cx="4480560" cy="457200"/>
          </a:xfrm>
          <a:prstGeom prst="rect">
            <a:avLst/>
          </a:prstGeom>
          <a:noFill/>
          <a:ln/>
        </p:spPr>
        <p:txBody>
          <a:bodyPr wrap="square" lIns="0" tIns="0" rIns="0" bIns="0" rtlCol="0" anchor="ctr"/>
          <a:lstStyle/>
          <a:p>
            <a:pPr marL="0" indent="0">
              <a:lnSpc>
                <a:spcPct val="102000"/>
              </a:lnSpc>
              <a:buNone/>
            </a:pPr>
            <a:r>
              <a:rPr lang="en-US" sz="1050" dirty="0">
                <a:solidFill>
                  <a:srgbClr val="5D6B8C"/>
                </a:solidFill>
                <a:latin typeface="Calibri" pitchFamily="34" charset="0"/>
                <a:ea typeface="Calibri" pitchFamily="34" charset="-122"/>
                <a:cs typeface="Calibri" pitchFamily="34" charset="-120"/>
              </a:rPr>
              <a:t>one store, so each capability builds on what the others just learned (specialists couldn't)</a:t>
            </a:r>
            <a:endParaRPr lang="en-US" sz="1050" dirty="0"/>
          </a:p>
        </p:txBody>
      </p:sp>
      <p:sp>
        <p:nvSpPr>
          <p:cNvPr id="20" name="Shape 18"/>
          <p:cNvSpPr/>
          <p:nvPr/>
        </p:nvSpPr>
        <p:spPr>
          <a:xfrm>
            <a:off x="6858000" y="4261104"/>
            <a:ext cx="146304" cy="146304"/>
          </a:xfrm>
          <a:prstGeom prst="ellipse">
            <a:avLst/>
          </a:prstGeom>
          <a:solidFill>
            <a:srgbClr val="22D3AA"/>
          </a:solidFill>
          <a:ln/>
        </p:spPr>
        <p:txBody>
          <a:bodyPr/>
          <a:lstStyle/>
          <a:p>
            <a:endParaRPr/>
          </a:p>
        </p:txBody>
      </p:sp>
      <p:sp>
        <p:nvSpPr>
          <p:cNvPr id="21" name="Text 19"/>
          <p:cNvSpPr/>
          <p:nvPr/>
        </p:nvSpPr>
        <p:spPr>
          <a:xfrm>
            <a:off x="7114032" y="4187952"/>
            <a:ext cx="4572000" cy="274320"/>
          </a:xfrm>
          <a:prstGeom prst="rect">
            <a:avLst/>
          </a:prstGeom>
          <a:noFill/>
          <a:ln/>
        </p:spPr>
        <p:txBody>
          <a:bodyPr wrap="square" lIns="0" tIns="0" rIns="0" bIns="0" rtlCol="0" anchor="ctr"/>
          <a:lstStyle/>
          <a:p>
            <a:pPr marL="0" indent="0">
              <a:buNone/>
            </a:pPr>
            <a:r>
              <a:rPr lang="en-US" sz="1300" b="1" dirty="0">
                <a:solidFill>
                  <a:srgbClr val="14233F"/>
                </a:solidFill>
                <a:latin typeface="Cambria" pitchFamily="34" charset="0"/>
                <a:ea typeface="Cambria" pitchFamily="34" charset="-122"/>
                <a:cs typeface="Cambria" pitchFamily="34" charset="-120"/>
              </a:rPr>
              <a:t>Tool pack</a:t>
            </a:r>
            <a:endParaRPr lang="en-US" sz="1300" dirty="0"/>
          </a:p>
        </p:txBody>
      </p:sp>
      <p:sp>
        <p:nvSpPr>
          <p:cNvPr id="22" name="Text 20"/>
          <p:cNvSpPr/>
          <p:nvPr/>
        </p:nvSpPr>
        <p:spPr>
          <a:xfrm>
            <a:off x="7114032" y="4462272"/>
            <a:ext cx="4480560" cy="457200"/>
          </a:xfrm>
          <a:prstGeom prst="rect">
            <a:avLst/>
          </a:prstGeom>
          <a:noFill/>
          <a:ln/>
        </p:spPr>
        <p:txBody>
          <a:bodyPr wrap="square" lIns="0" tIns="0" rIns="0" bIns="0" rtlCol="0" anchor="ctr"/>
          <a:lstStyle/>
          <a:p>
            <a:pPr marL="0" indent="0">
              <a:lnSpc>
                <a:spcPct val="102000"/>
              </a:lnSpc>
              <a:buNone/>
            </a:pPr>
            <a:r>
              <a:rPr lang="en-US" sz="1050" dirty="0">
                <a:solidFill>
                  <a:srgbClr val="5D6B8C"/>
                </a:solidFill>
                <a:latin typeface="Calibri" pitchFamily="34" charset="0"/>
                <a:ea typeface="Calibri" pitchFamily="34" charset="-122"/>
                <a:cs typeface="Calibri" pitchFamily="34" charset="-120"/>
              </a:rPr>
              <a:t>the distilled domain know-how of the former specialist — the “recipe”</a:t>
            </a:r>
            <a:endParaRPr lang="en-US" sz="1050" dirty="0"/>
          </a:p>
        </p:txBody>
      </p:sp>
      <p:sp>
        <p:nvSpPr>
          <p:cNvPr id="23" name="Text 21"/>
          <p:cNvSpPr/>
          <p:nvPr/>
        </p:nvSpPr>
        <p:spPr>
          <a:xfrm>
            <a:off x="640080" y="5212080"/>
            <a:ext cx="10911535" cy="548640"/>
          </a:xfrm>
          <a:prstGeom prst="rect">
            <a:avLst/>
          </a:prstGeom>
          <a:noFill/>
          <a:ln/>
        </p:spPr>
        <p:txBody>
          <a:bodyPr wrap="square" lIns="0" tIns="0" rIns="0" bIns="0" rtlCol="0" anchor="ctr"/>
          <a:lstStyle/>
          <a:p>
            <a:pPr marL="0" indent="0">
              <a:lnSpc>
                <a:spcPct val="105000"/>
              </a:lnSpc>
              <a:buNone/>
            </a:pPr>
            <a:r>
              <a:rPr lang="en-US" sz="1250" i="1" dirty="0">
                <a:solidFill>
                  <a:srgbClr val="0E9E80"/>
                </a:solidFill>
                <a:latin typeface="Calibri" pitchFamily="34" charset="0"/>
                <a:ea typeface="Calibri" pitchFamily="34" charset="-122"/>
                <a:cs typeface="Calibri" pitchFamily="34" charset="-120"/>
              </a:rPr>
              <a:t>Analogy: 12 doctors who each built their own hospital → one hospital with 12 departments that share the records room. The specialties remain; they stop rebuilding the hospital, and can finally read each other's charts.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HOW IT WORKS</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A sense → decide → act → explain loop on a governed substrate</a:t>
            </a:r>
            <a:endParaRPr lang="en-US" sz="3000" dirty="0"/>
          </a:p>
        </p:txBody>
      </p:sp>
      <p:sp>
        <p:nvSpPr>
          <p:cNvPr id="5" name="Shape 3"/>
          <p:cNvSpPr/>
          <p:nvPr/>
        </p:nvSpPr>
        <p:spPr>
          <a:xfrm>
            <a:off x="640080" y="2011680"/>
            <a:ext cx="2453564" cy="3200400"/>
          </a:xfrm>
          <a:prstGeom prst="roundRect">
            <a:avLst>
              <a:gd name="adj" fmla="val 3354"/>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6" name="Shape 4"/>
          <p:cNvSpPr/>
          <p:nvPr/>
        </p:nvSpPr>
        <p:spPr>
          <a:xfrm>
            <a:off x="1546822" y="2286000"/>
            <a:ext cx="640080" cy="640080"/>
          </a:xfrm>
          <a:prstGeom prst="ellipse">
            <a:avLst/>
          </a:prstGeom>
          <a:solidFill>
            <a:srgbClr val="22D3AA"/>
          </a:solidFill>
          <a:ln/>
        </p:spPr>
        <p:txBody>
          <a:bodyPr/>
          <a:lstStyle/>
          <a:p>
            <a:endParaRPr/>
          </a:p>
        </p:txBody>
      </p:sp>
      <p:sp>
        <p:nvSpPr>
          <p:cNvPr id="7" name="Text 5"/>
          <p:cNvSpPr/>
          <p:nvPr/>
        </p:nvSpPr>
        <p:spPr>
          <a:xfrm>
            <a:off x="1546822" y="2286000"/>
            <a:ext cx="640080" cy="640080"/>
          </a:xfrm>
          <a:prstGeom prst="rect">
            <a:avLst/>
          </a:prstGeom>
          <a:noFill/>
          <a:ln/>
        </p:spPr>
        <p:txBody>
          <a:bodyPr wrap="square" lIns="0" tIns="0" rIns="0" bIns="0" rtlCol="0" anchor="ctr"/>
          <a:lstStyle/>
          <a:p>
            <a:pPr marL="0" indent="0" algn="ctr">
              <a:buNone/>
            </a:pPr>
            <a:r>
              <a:rPr lang="en-US" sz="2200" b="1" dirty="0">
                <a:solidFill>
                  <a:srgbClr val="0B1020"/>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868680" y="3108960"/>
            <a:ext cx="1996364" cy="457200"/>
          </a:xfrm>
          <a:prstGeom prst="rect">
            <a:avLst/>
          </a:prstGeom>
          <a:noFill/>
          <a:ln/>
        </p:spPr>
        <p:txBody>
          <a:bodyPr wrap="square" lIns="0" tIns="0" rIns="0" bIns="0" rtlCol="0" anchor="ctr"/>
          <a:lstStyle/>
          <a:p>
            <a:pPr marL="0" indent="0" algn="ctr">
              <a:buNone/>
            </a:pPr>
            <a:r>
              <a:rPr lang="en-US" sz="1500" b="1" dirty="0">
                <a:solidFill>
                  <a:srgbClr val="14233F"/>
                </a:solidFill>
                <a:latin typeface="Cambria" pitchFamily="34" charset="0"/>
                <a:ea typeface="Cambria" pitchFamily="34" charset="-122"/>
                <a:cs typeface="Cambria" pitchFamily="34" charset="-120"/>
              </a:rPr>
              <a:t>Sense &amp; ground</a:t>
            </a:r>
            <a:endParaRPr lang="en-US" sz="1500" dirty="0"/>
          </a:p>
        </p:txBody>
      </p:sp>
      <p:sp>
        <p:nvSpPr>
          <p:cNvPr id="9" name="Text 7"/>
          <p:cNvSpPr/>
          <p:nvPr/>
        </p:nvSpPr>
        <p:spPr>
          <a:xfrm>
            <a:off x="868680" y="3611880"/>
            <a:ext cx="1996364" cy="1554480"/>
          </a:xfrm>
          <a:prstGeom prst="rect">
            <a:avLst/>
          </a:prstGeom>
          <a:noFill/>
          <a:ln/>
        </p:spPr>
        <p:txBody>
          <a:bodyPr wrap="square" lIns="0" tIns="0" rIns="0" bIns="0" rtlCol="0" anchor="ctr"/>
          <a:lstStyle/>
          <a:p>
            <a:pPr marL="0" indent="0" algn="ctr">
              <a:lnSpc>
                <a:spcPct val="105000"/>
              </a:lnSpc>
              <a:buNone/>
            </a:pPr>
            <a:r>
              <a:rPr lang="en-US" sz="1150" dirty="0">
                <a:solidFill>
                  <a:srgbClr val="5D6B8C"/>
                </a:solidFill>
                <a:latin typeface="Calibri" pitchFamily="34" charset="0"/>
                <a:ea typeface="Calibri" pitchFamily="34" charset="-122"/>
                <a:cs typeface="Calibri" pitchFamily="34" charset="-120"/>
              </a:rPr>
              <a:t>Read any ERP / lakehouse / ITSM into canonical concepts via the ontology — one shared language, no per-agent re-mapping.</a:t>
            </a:r>
            <a:endParaRPr lang="en-US" sz="1150" dirty="0"/>
          </a:p>
        </p:txBody>
      </p:sp>
      <p:sp>
        <p:nvSpPr>
          <p:cNvPr id="10" name="Shape 8"/>
          <p:cNvSpPr/>
          <p:nvPr/>
        </p:nvSpPr>
        <p:spPr>
          <a:xfrm>
            <a:off x="3148508" y="2606040"/>
            <a:ext cx="256032" cy="0"/>
          </a:xfrm>
          <a:prstGeom prst="line">
            <a:avLst/>
          </a:prstGeom>
          <a:noFill/>
          <a:ln w="25400">
            <a:solidFill>
              <a:srgbClr val="0E9E80"/>
            </a:solidFill>
            <a:prstDash val="solid"/>
            <a:tailEnd type="triangle"/>
          </a:ln>
        </p:spPr>
        <p:txBody>
          <a:bodyPr/>
          <a:lstStyle/>
          <a:p>
            <a:endParaRPr/>
          </a:p>
        </p:txBody>
      </p:sp>
      <p:sp>
        <p:nvSpPr>
          <p:cNvPr id="11" name="Shape 9"/>
          <p:cNvSpPr/>
          <p:nvPr/>
        </p:nvSpPr>
        <p:spPr>
          <a:xfrm>
            <a:off x="3459404" y="2011680"/>
            <a:ext cx="2453564" cy="3200400"/>
          </a:xfrm>
          <a:prstGeom prst="roundRect">
            <a:avLst>
              <a:gd name="adj" fmla="val 3354"/>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2" name="Shape 10"/>
          <p:cNvSpPr/>
          <p:nvPr/>
        </p:nvSpPr>
        <p:spPr>
          <a:xfrm>
            <a:off x="4366146" y="2286000"/>
            <a:ext cx="640080" cy="640080"/>
          </a:xfrm>
          <a:prstGeom prst="ellipse">
            <a:avLst/>
          </a:prstGeom>
          <a:solidFill>
            <a:srgbClr val="22D3AA"/>
          </a:solidFill>
          <a:ln/>
        </p:spPr>
        <p:txBody>
          <a:bodyPr/>
          <a:lstStyle/>
          <a:p>
            <a:endParaRPr/>
          </a:p>
        </p:txBody>
      </p:sp>
      <p:sp>
        <p:nvSpPr>
          <p:cNvPr id="13" name="Text 11"/>
          <p:cNvSpPr/>
          <p:nvPr/>
        </p:nvSpPr>
        <p:spPr>
          <a:xfrm>
            <a:off x="4366146" y="2286000"/>
            <a:ext cx="640080" cy="640080"/>
          </a:xfrm>
          <a:prstGeom prst="rect">
            <a:avLst/>
          </a:prstGeom>
          <a:noFill/>
          <a:ln/>
        </p:spPr>
        <p:txBody>
          <a:bodyPr wrap="square" lIns="0" tIns="0" rIns="0" bIns="0" rtlCol="0" anchor="ctr"/>
          <a:lstStyle/>
          <a:p>
            <a:pPr marL="0" indent="0" algn="ctr">
              <a:buNone/>
            </a:pPr>
            <a:r>
              <a:rPr lang="en-US" sz="2200" b="1" dirty="0">
                <a:solidFill>
                  <a:srgbClr val="0B1020"/>
                </a:solidFill>
                <a:latin typeface="Cambria" pitchFamily="34" charset="0"/>
                <a:ea typeface="Cambria" pitchFamily="34" charset="-122"/>
                <a:cs typeface="Cambria" pitchFamily="34" charset="-120"/>
              </a:rPr>
              <a:t>2</a:t>
            </a:r>
            <a:endParaRPr lang="en-US" sz="2200" dirty="0"/>
          </a:p>
        </p:txBody>
      </p:sp>
      <p:sp>
        <p:nvSpPr>
          <p:cNvPr id="14" name="Text 12"/>
          <p:cNvSpPr/>
          <p:nvPr/>
        </p:nvSpPr>
        <p:spPr>
          <a:xfrm>
            <a:off x="3688004" y="3108960"/>
            <a:ext cx="1996364" cy="457200"/>
          </a:xfrm>
          <a:prstGeom prst="rect">
            <a:avLst/>
          </a:prstGeom>
          <a:noFill/>
          <a:ln/>
        </p:spPr>
        <p:txBody>
          <a:bodyPr wrap="square" lIns="0" tIns="0" rIns="0" bIns="0" rtlCol="0" anchor="ctr"/>
          <a:lstStyle/>
          <a:p>
            <a:pPr marL="0" indent="0" algn="ctr">
              <a:buNone/>
            </a:pPr>
            <a:r>
              <a:rPr lang="en-US" sz="1500" b="1" dirty="0">
                <a:solidFill>
                  <a:srgbClr val="14233F"/>
                </a:solidFill>
                <a:latin typeface="Cambria" pitchFamily="34" charset="0"/>
                <a:ea typeface="Cambria" pitchFamily="34" charset="-122"/>
                <a:cs typeface="Cambria" pitchFamily="34" charset="-120"/>
              </a:rPr>
              <a:t>Reason &amp; decide</a:t>
            </a:r>
            <a:endParaRPr lang="en-US" sz="1500" dirty="0"/>
          </a:p>
        </p:txBody>
      </p:sp>
      <p:sp>
        <p:nvSpPr>
          <p:cNvPr id="15" name="Text 13"/>
          <p:cNvSpPr/>
          <p:nvPr/>
        </p:nvSpPr>
        <p:spPr>
          <a:xfrm>
            <a:off x="3688004" y="3611880"/>
            <a:ext cx="1996364" cy="1554480"/>
          </a:xfrm>
          <a:prstGeom prst="rect">
            <a:avLst/>
          </a:prstGeom>
          <a:noFill/>
          <a:ln/>
        </p:spPr>
        <p:txBody>
          <a:bodyPr wrap="square" lIns="0" tIns="0" rIns="0" bIns="0" rtlCol="0" anchor="ctr"/>
          <a:lstStyle/>
          <a:p>
            <a:pPr marL="0" indent="0" algn="ctr">
              <a:lnSpc>
                <a:spcPct val="105000"/>
              </a:lnSpc>
              <a:buNone/>
            </a:pPr>
            <a:r>
              <a:rPr lang="en-US" sz="1150" dirty="0">
                <a:solidFill>
                  <a:srgbClr val="5D6B8C"/>
                </a:solidFill>
                <a:latin typeface="Calibri" pitchFamily="34" charset="0"/>
                <a:ea typeface="Calibri" pitchFamily="34" charset="-122"/>
                <a:cs typeface="Calibri" pitchFamily="34" charset="-120"/>
              </a:rPr>
              <a:t>One reasoning pass decomposes the goal and runs the right technique per step — ML, optimization, LLM or rules.</a:t>
            </a:r>
            <a:endParaRPr lang="en-US" sz="1150" dirty="0"/>
          </a:p>
        </p:txBody>
      </p:sp>
      <p:sp>
        <p:nvSpPr>
          <p:cNvPr id="16" name="Shape 14"/>
          <p:cNvSpPr/>
          <p:nvPr/>
        </p:nvSpPr>
        <p:spPr>
          <a:xfrm>
            <a:off x="5967832" y="2606040"/>
            <a:ext cx="256032" cy="0"/>
          </a:xfrm>
          <a:prstGeom prst="line">
            <a:avLst/>
          </a:prstGeom>
          <a:noFill/>
          <a:ln w="25400">
            <a:solidFill>
              <a:srgbClr val="0E9E80"/>
            </a:solidFill>
            <a:prstDash val="solid"/>
            <a:tailEnd type="triangle"/>
          </a:ln>
        </p:spPr>
        <p:txBody>
          <a:bodyPr/>
          <a:lstStyle/>
          <a:p>
            <a:endParaRPr/>
          </a:p>
        </p:txBody>
      </p:sp>
      <p:sp>
        <p:nvSpPr>
          <p:cNvPr id="17" name="Shape 15"/>
          <p:cNvSpPr/>
          <p:nvPr/>
        </p:nvSpPr>
        <p:spPr>
          <a:xfrm>
            <a:off x="6278728" y="2011680"/>
            <a:ext cx="2453564" cy="3200400"/>
          </a:xfrm>
          <a:prstGeom prst="roundRect">
            <a:avLst>
              <a:gd name="adj" fmla="val 3354"/>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8" name="Shape 16"/>
          <p:cNvSpPr/>
          <p:nvPr/>
        </p:nvSpPr>
        <p:spPr>
          <a:xfrm>
            <a:off x="7185470" y="2286000"/>
            <a:ext cx="640080" cy="640080"/>
          </a:xfrm>
          <a:prstGeom prst="ellipse">
            <a:avLst/>
          </a:prstGeom>
          <a:solidFill>
            <a:srgbClr val="22D3AA"/>
          </a:solidFill>
          <a:ln/>
        </p:spPr>
        <p:txBody>
          <a:bodyPr/>
          <a:lstStyle/>
          <a:p>
            <a:endParaRPr/>
          </a:p>
        </p:txBody>
      </p:sp>
      <p:sp>
        <p:nvSpPr>
          <p:cNvPr id="19" name="Text 17"/>
          <p:cNvSpPr/>
          <p:nvPr/>
        </p:nvSpPr>
        <p:spPr>
          <a:xfrm>
            <a:off x="7185470" y="2286000"/>
            <a:ext cx="640080" cy="640080"/>
          </a:xfrm>
          <a:prstGeom prst="rect">
            <a:avLst/>
          </a:prstGeom>
          <a:noFill/>
          <a:ln/>
        </p:spPr>
        <p:txBody>
          <a:bodyPr wrap="square" lIns="0" tIns="0" rIns="0" bIns="0" rtlCol="0" anchor="ctr"/>
          <a:lstStyle/>
          <a:p>
            <a:pPr marL="0" indent="0" algn="ctr">
              <a:buNone/>
            </a:pPr>
            <a:r>
              <a:rPr lang="en-US" sz="2200" b="1" dirty="0">
                <a:solidFill>
                  <a:srgbClr val="0B1020"/>
                </a:solidFill>
                <a:latin typeface="Cambria" pitchFamily="34" charset="0"/>
                <a:ea typeface="Cambria" pitchFamily="34" charset="-122"/>
                <a:cs typeface="Cambria" pitchFamily="34" charset="-120"/>
              </a:rPr>
              <a:t>3</a:t>
            </a:r>
            <a:endParaRPr lang="en-US" sz="2200" dirty="0"/>
          </a:p>
        </p:txBody>
      </p:sp>
      <p:sp>
        <p:nvSpPr>
          <p:cNvPr id="20" name="Text 18"/>
          <p:cNvSpPr/>
          <p:nvPr/>
        </p:nvSpPr>
        <p:spPr>
          <a:xfrm>
            <a:off x="6507328" y="3108960"/>
            <a:ext cx="1996364" cy="457200"/>
          </a:xfrm>
          <a:prstGeom prst="rect">
            <a:avLst/>
          </a:prstGeom>
          <a:noFill/>
          <a:ln/>
        </p:spPr>
        <p:txBody>
          <a:bodyPr wrap="square" lIns="0" tIns="0" rIns="0" bIns="0" rtlCol="0" anchor="ctr"/>
          <a:lstStyle/>
          <a:p>
            <a:pPr marL="0" indent="0" algn="ctr">
              <a:buNone/>
            </a:pPr>
            <a:r>
              <a:rPr lang="en-US" sz="1500" b="1" dirty="0">
                <a:solidFill>
                  <a:srgbClr val="14233F"/>
                </a:solidFill>
                <a:latin typeface="Cambria" pitchFamily="34" charset="0"/>
                <a:ea typeface="Cambria" pitchFamily="34" charset="-122"/>
                <a:cs typeface="Cambria" pitchFamily="34" charset="-120"/>
              </a:rPr>
              <a:t>Act (governed)</a:t>
            </a:r>
            <a:endParaRPr lang="en-US" sz="1500" dirty="0"/>
          </a:p>
        </p:txBody>
      </p:sp>
      <p:sp>
        <p:nvSpPr>
          <p:cNvPr id="21" name="Text 19"/>
          <p:cNvSpPr/>
          <p:nvPr/>
        </p:nvSpPr>
        <p:spPr>
          <a:xfrm>
            <a:off x="6507328" y="3611880"/>
            <a:ext cx="1996364" cy="1554480"/>
          </a:xfrm>
          <a:prstGeom prst="rect">
            <a:avLst/>
          </a:prstGeom>
          <a:noFill/>
          <a:ln/>
        </p:spPr>
        <p:txBody>
          <a:bodyPr wrap="square" lIns="0" tIns="0" rIns="0" bIns="0" rtlCol="0" anchor="ctr"/>
          <a:lstStyle/>
          <a:p>
            <a:pPr marL="0" indent="0" algn="ctr">
              <a:lnSpc>
                <a:spcPct val="105000"/>
              </a:lnSpc>
              <a:buNone/>
            </a:pPr>
            <a:r>
              <a:rPr lang="en-US" sz="1150" dirty="0">
                <a:solidFill>
                  <a:srgbClr val="5D6B8C"/>
                </a:solidFill>
                <a:latin typeface="Calibri" pitchFamily="34" charset="0"/>
                <a:ea typeface="Calibri" pitchFamily="34" charset="-122"/>
                <a:cs typeface="Calibri" pitchFamily="34" charset="-120"/>
              </a:rPr>
              <a:t>Write back to SAP / S4 / ServiceNow through one action bus — autonomous within policy, humans on the exceptions.</a:t>
            </a:r>
            <a:endParaRPr lang="en-US" sz="1150" dirty="0"/>
          </a:p>
        </p:txBody>
      </p:sp>
      <p:sp>
        <p:nvSpPr>
          <p:cNvPr id="22" name="Shape 20"/>
          <p:cNvSpPr/>
          <p:nvPr/>
        </p:nvSpPr>
        <p:spPr>
          <a:xfrm>
            <a:off x="8787155" y="2606040"/>
            <a:ext cx="256032" cy="0"/>
          </a:xfrm>
          <a:prstGeom prst="line">
            <a:avLst/>
          </a:prstGeom>
          <a:noFill/>
          <a:ln w="25400">
            <a:solidFill>
              <a:srgbClr val="0E9E80"/>
            </a:solidFill>
            <a:prstDash val="solid"/>
            <a:tailEnd type="triangle"/>
          </a:ln>
        </p:spPr>
        <p:txBody>
          <a:bodyPr/>
          <a:lstStyle/>
          <a:p>
            <a:endParaRPr/>
          </a:p>
        </p:txBody>
      </p:sp>
      <p:sp>
        <p:nvSpPr>
          <p:cNvPr id="23" name="Shape 21"/>
          <p:cNvSpPr/>
          <p:nvPr/>
        </p:nvSpPr>
        <p:spPr>
          <a:xfrm>
            <a:off x="9098051" y="2011680"/>
            <a:ext cx="2453564" cy="3200400"/>
          </a:xfrm>
          <a:prstGeom prst="roundRect">
            <a:avLst>
              <a:gd name="adj" fmla="val 3354"/>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4" name="Shape 22"/>
          <p:cNvSpPr/>
          <p:nvPr/>
        </p:nvSpPr>
        <p:spPr>
          <a:xfrm>
            <a:off x="10004793" y="2286000"/>
            <a:ext cx="640080" cy="640080"/>
          </a:xfrm>
          <a:prstGeom prst="ellipse">
            <a:avLst/>
          </a:prstGeom>
          <a:solidFill>
            <a:srgbClr val="22D3AA"/>
          </a:solidFill>
          <a:ln/>
        </p:spPr>
        <p:txBody>
          <a:bodyPr/>
          <a:lstStyle/>
          <a:p>
            <a:endParaRPr/>
          </a:p>
        </p:txBody>
      </p:sp>
      <p:sp>
        <p:nvSpPr>
          <p:cNvPr id="25" name="Text 23"/>
          <p:cNvSpPr/>
          <p:nvPr/>
        </p:nvSpPr>
        <p:spPr>
          <a:xfrm>
            <a:off x="10004793" y="2286000"/>
            <a:ext cx="640080" cy="640080"/>
          </a:xfrm>
          <a:prstGeom prst="rect">
            <a:avLst/>
          </a:prstGeom>
          <a:noFill/>
          <a:ln/>
        </p:spPr>
        <p:txBody>
          <a:bodyPr wrap="square" lIns="0" tIns="0" rIns="0" bIns="0" rtlCol="0" anchor="ctr"/>
          <a:lstStyle/>
          <a:p>
            <a:pPr marL="0" indent="0" algn="ctr">
              <a:buNone/>
            </a:pPr>
            <a:r>
              <a:rPr lang="en-US" sz="2200" b="1" dirty="0">
                <a:solidFill>
                  <a:srgbClr val="0B1020"/>
                </a:solidFill>
                <a:latin typeface="Cambria" pitchFamily="34" charset="0"/>
                <a:ea typeface="Cambria" pitchFamily="34" charset="-122"/>
                <a:cs typeface="Cambria" pitchFamily="34" charset="-120"/>
              </a:rPr>
              <a:t>4</a:t>
            </a:r>
            <a:endParaRPr lang="en-US" sz="2200" dirty="0"/>
          </a:p>
        </p:txBody>
      </p:sp>
      <p:sp>
        <p:nvSpPr>
          <p:cNvPr id="26" name="Text 24"/>
          <p:cNvSpPr/>
          <p:nvPr/>
        </p:nvSpPr>
        <p:spPr>
          <a:xfrm>
            <a:off x="9326651" y="3108960"/>
            <a:ext cx="1996364" cy="457200"/>
          </a:xfrm>
          <a:prstGeom prst="rect">
            <a:avLst/>
          </a:prstGeom>
          <a:noFill/>
          <a:ln/>
        </p:spPr>
        <p:txBody>
          <a:bodyPr wrap="square" lIns="0" tIns="0" rIns="0" bIns="0" rtlCol="0" anchor="ctr"/>
          <a:lstStyle/>
          <a:p>
            <a:pPr marL="0" indent="0" algn="ctr">
              <a:buNone/>
            </a:pPr>
            <a:r>
              <a:rPr lang="en-US" sz="1500" b="1" dirty="0">
                <a:solidFill>
                  <a:srgbClr val="14233F"/>
                </a:solidFill>
                <a:latin typeface="Cambria" pitchFamily="34" charset="0"/>
                <a:ea typeface="Cambria" pitchFamily="34" charset="-122"/>
                <a:cs typeface="Cambria" pitchFamily="34" charset="-120"/>
              </a:rPr>
              <a:t>Oversee &amp; explain</a:t>
            </a:r>
            <a:endParaRPr lang="en-US" sz="1500" dirty="0"/>
          </a:p>
        </p:txBody>
      </p:sp>
      <p:sp>
        <p:nvSpPr>
          <p:cNvPr id="27" name="Text 25"/>
          <p:cNvSpPr/>
          <p:nvPr/>
        </p:nvSpPr>
        <p:spPr>
          <a:xfrm>
            <a:off x="9326651" y="3611880"/>
            <a:ext cx="1996364" cy="1554480"/>
          </a:xfrm>
          <a:prstGeom prst="rect">
            <a:avLst/>
          </a:prstGeom>
          <a:noFill/>
          <a:ln/>
        </p:spPr>
        <p:txBody>
          <a:bodyPr wrap="square" lIns="0" tIns="0" rIns="0" bIns="0" rtlCol="0" anchor="ctr"/>
          <a:lstStyle/>
          <a:p>
            <a:pPr marL="0" indent="0" algn="ctr">
              <a:lnSpc>
                <a:spcPct val="105000"/>
              </a:lnSpc>
              <a:buNone/>
            </a:pPr>
            <a:r>
              <a:rPr lang="en-US" sz="1150" dirty="0">
                <a:solidFill>
                  <a:srgbClr val="5D6B8C"/>
                </a:solidFill>
                <a:latin typeface="Calibri" pitchFamily="34" charset="0"/>
                <a:ea typeface="Calibri" pitchFamily="34" charset="-122"/>
                <a:cs typeface="Calibri" pitchFamily="34" charset="-120"/>
              </a:rPr>
              <a:t>One trace, one metric surface, one audit trail; every decision is explainable with confidence and attribution.</a:t>
            </a:r>
            <a:endParaRPr lang="en-US" sz="1150" dirty="0"/>
          </a:p>
        </p:txBody>
      </p:sp>
      <p:sp>
        <p:nvSpPr>
          <p:cNvPr id="28" name="Text 26"/>
          <p:cNvSpPr/>
          <p:nvPr/>
        </p:nvSpPr>
        <p:spPr>
          <a:xfrm>
            <a:off x="640080" y="5532120"/>
            <a:ext cx="10911535" cy="457200"/>
          </a:xfrm>
          <a:prstGeom prst="rect">
            <a:avLst/>
          </a:prstGeom>
          <a:noFill/>
          <a:ln/>
        </p:spPr>
        <p:txBody>
          <a:bodyPr wrap="square" lIns="0" tIns="0" rIns="0" bIns="0" rtlCol="0" anchor="ctr"/>
          <a:lstStyle/>
          <a:p>
            <a:pPr marL="0" indent="0">
              <a:buNone/>
            </a:pPr>
            <a:r>
              <a:rPr lang="en-US" sz="1300" i="1" dirty="0">
                <a:solidFill>
                  <a:srgbClr val="5D6B8C"/>
                </a:solidFill>
                <a:latin typeface="Calibri" pitchFamily="34" charset="0"/>
                <a:ea typeface="Calibri" pitchFamily="34" charset="-122"/>
                <a:cs typeface="Calibri" pitchFamily="34" charset="-120"/>
              </a:rPr>
              <a:t>Built on a memory fabric (vector + cache), an A2A event bus, and a data-residency perimeter — portable across cloud and on-prem.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IN YOUR LANDSCAPE</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How the agent deploys and behaves — from day one</a:t>
            </a:r>
            <a:endParaRPr lang="en-US" sz="3000" dirty="0"/>
          </a:p>
        </p:txBody>
      </p:sp>
      <p:sp>
        <p:nvSpPr>
          <p:cNvPr id="5" name="Text 3"/>
          <p:cNvSpPr/>
          <p:nvPr/>
        </p:nvSpPr>
        <p:spPr>
          <a:xfrm>
            <a:off x="640080" y="1554480"/>
            <a:ext cx="10911535" cy="658368"/>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For a new customer with no agents today: we install one AI worker inside your environment, teach it your data in days, and it runs the process — transparently, within your rules, asking a human whenever it should.</a:t>
            </a:r>
            <a:endParaRPr lang="en-US" sz="1500" dirty="0"/>
          </a:p>
        </p:txBody>
      </p:sp>
      <p:sp>
        <p:nvSpPr>
          <p:cNvPr id="6" name="Shape 4"/>
          <p:cNvSpPr/>
          <p:nvPr/>
        </p:nvSpPr>
        <p:spPr>
          <a:xfrm>
            <a:off x="640080" y="2286000"/>
            <a:ext cx="2487854" cy="3200400"/>
          </a:xfrm>
          <a:prstGeom prst="roundRect">
            <a:avLst>
              <a:gd name="adj" fmla="val 3308"/>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Text 5"/>
          <p:cNvSpPr/>
          <p:nvPr/>
        </p:nvSpPr>
        <p:spPr>
          <a:xfrm>
            <a:off x="896112" y="2514600"/>
            <a:ext cx="2030654" cy="640080"/>
          </a:xfrm>
          <a:prstGeom prst="rect">
            <a:avLst/>
          </a:prstGeom>
          <a:noFill/>
          <a:ln/>
        </p:spPr>
        <p:txBody>
          <a:bodyPr wrap="square" lIns="0" tIns="0" rIns="0" bIns="0" rtlCol="0" anchor="ctr"/>
          <a:lstStyle/>
          <a:p>
            <a:pPr marL="0" indent="0">
              <a:buNone/>
            </a:pPr>
            <a:r>
              <a:rPr lang="en-US" sz="1450" b="1" dirty="0">
                <a:solidFill>
                  <a:srgbClr val="14233F"/>
                </a:solidFill>
                <a:latin typeface="Cambria" pitchFamily="34" charset="0"/>
                <a:ea typeface="Cambria" pitchFamily="34" charset="-122"/>
                <a:cs typeface="Cambria" pitchFamily="34" charset="-120"/>
              </a:rPr>
              <a:t>1 · Lives in your tenant</a:t>
            </a:r>
            <a:endParaRPr lang="en-US" sz="1450" dirty="0"/>
          </a:p>
        </p:txBody>
      </p:sp>
      <p:sp>
        <p:nvSpPr>
          <p:cNvPr id="8" name="Text 6"/>
          <p:cNvSpPr/>
          <p:nvPr/>
        </p:nvSpPr>
        <p:spPr>
          <a:xfrm>
            <a:off x="896112" y="3200400"/>
            <a:ext cx="2030654" cy="2103120"/>
          </a:xfrm>
          <a:prstGeom prst="rect">
            <a:avLst/>
          </a:prstGeom>
          <a:noFill/>
          <a:ln/>
        </p:spPr>
        <p:txBody>
          <a:bodyPr wrap="square" lIns="0" tIns="0" rIns="0" bIns="0" rtlCol="0" anchor="ctr"/>
          <a:lstStyle/>
          <a:p>
            <a:pPr marL="0" indent="0">
              <a:lnSpc>
                <a:spcPct val="106000"/>
              </a:lnSpc>
              <a:buNone/>
            </a:pPr>
            <a:r>
              <a:rPr lang="en-US" sz="1150" dirty="0">
                <a:solidFill>
                  <a:srgbClr val="5D6B8C"/>
                </a:solidFill>
                <a:latin typeface="Calibri" pitchFamily="34" charset="0"/>
                <a:ea typeface="Calibri" pitchFamily="34" charset="-122"/>
                <a:cs typeface="Calibri" pitchFamily="34" charset="-120"/>
              </a:rPr>
              <a:t>Deployed inside your cloud / lakehouse, behind your security. Data never leaves. One agent, not a swarm.</a:t>
            </a:r>
            <a:endParaRPr lang="en-US" sz="1150" dirty="0"/>
          </a:p>
        </p:txBody>
      </p:sp>
      <p:sp>
        <p:nvSpPr>
          <p:cNvPr id="9" name="Shape 7"/>
          <p:cNvSpPr/>
          <p:nvPr/>
        </p:nvSpPr>
        <p:spPr>
          <a:xfrm>
            <a:off x="3447974" y="2286000"/>
            <a:ext cx="2487854" cy="3200400"/>
          </a:xfrm>
          <a:prstGeom prst="roundRect">
            <a:avLst>
              <a:gd name="adj" fmla="val 3308"/>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0" name="Text 8"/>
          <p:cNvSpPr/>
          <p:nvPr/>
        </p:nvSpPr>
        <p:spPr>
          <a:xfrm>
            <a:off x="3704006" y="2514600"/>
            <a:ext cx="2030654" cy="640080"/>
          </a:xfrm>
          <a:prstGeom prst="rect">
            <a:avLst/>
          </a:prstGeom>
          <a:noFill/>
          <a:ln/>
        </p:spPr>
        <p:txBody>
          <a:bodyPr wrap="square" lIns="0" tIns="0" rIns="0" bIns="0" rtlCol="0" anchor="ctr"/>
          <a:lstStyle/>
          <a:p>
            <a:pPr marL="0" indent="0">
              <a:buNone/>
            </a:pPr>
            <a:r>
              <a:rPr lang="en-US" sz="1450" b="1" dirty="0">
                <a:solidFill>
                  <a:srgbClr val="14233F"/>
                </a:solidFill>
                <a:latin typeface="Cambria" pitchFamily="34" charset="0"/>
                <a:ea typeface="Cambria" pitchFamily="34" charset="-122"/>
                <a:cs typeface="Cambria" pitchFamily="34" charset="-120"/>
              </a:rPr>
              <a:t>2 · Learns your data (days)</a:t>
            </a:r>
            <a:endParaRPr lang="en-US" sz="1450" dirty="0"/>
          </a:p>
        </p:txBody>
      </p:sp>
      <p:sp>
        <p:nvSpPr>
          <p:cNvPr id="11" name="Text 9"/>
          <p:cNvSpPr/>
          <p:nvPr/>
        </p:nvSpPr>
        <p:spPr>
          <a:xfrm>
            <a:off x="3704006" y="3200400"/>
            <a:ext cx="2030654" cy="2103120"/>
          </a:xfrm>
          <a:prstGeom prst="rect">
            <a:avLst/>
          </a:prstGeom>
          <a:noFill/>
          <a:ln/>
        </p:spPr>
        <p:txBody>
          <a:bodyPr wrap="square" lIns="0" tIns="0" rIns="0" bIns="0" rtlCol="0" anchor="ctr"/>
          <a:lstStyle/>
          <a:p>
            <a:pPr marL="0" indent="0">
              <a:lnSpc>
                <a:spcPct val="106000"/>
              </a:lnSpc>
              <a:buNone/>
            </a:pPr>
            <a:r>
              <a:rPr lang="en-US" sz="1150" dirty="0">
                <a:solidFill>
                  <a:srgbClr val="5D6B8C"/>
                </a:solidFill>
                <a:latin typeface="Calibri" pitchFamily="34" charset="0"/>
                <a:ea typeface="Calibri" pitchFamily="34" charset="-122"/>
                <a:cs typeface="Calibri" pitchFamily="34" charset="-120"/>
              </a:rPr>
              <a:t>Point it at your systems; it auto-maps their fields to one shared vocabulary. You approve the few it's unsure of.</a:t>
            </a:r>
            <a:endParaRPr lang="en-US" sz="1150" dirty="0"/>
          </a:p>
        </p:txBody>
      </p:sp>
      <p:sp>
        <p:nvSpPr>
          <p:cNvPr id="12" name="Shape 10"/>
          <p:cNvSpPr/>
          <p:nvPr/>
        </p:nvSpPr>
        <p:spPr>
          <a:xfrm>
            <a:off x="6255868" y="2286000"/>
            <a:ext cx="2487854" cy="3200400"/>
          </a:xfrm>
          <a:prstGeom prst="roundRect">
            <a:avLst>
              <a:gd name="adj" fmla="val 3308"/>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3" name="Text 11"/>
          <p:cNvSpPr/>
          <p:nvPr/>
        </p:nvSpPr>
        <p:spPr>
          <a:xfrm>
            <a:off x="6511900" y="2514600"/>
            <a:ext cx="2030654" cy="640080"/>
          </a:xfrm>
          <a:prstGeom prst="rect">
            <a:avLst/>
          </a:prstGeom>
          <a:noFill/>
          <a:ln/>
        </p:spPr>
        <p:txBody>
          <a:bodyPr wrap="square" lIns="0" tIns="0" rIns="0" bIns="0" rtlCol="0" anchor="ctr"/>
          <a:lstStyle/>
          <a:p>
            <a:pPr marL="0" indent="0">
              <a:buNone/>
            </a:pPr>
            <a:r>
              <a:rPr lang="en-US" sz="1450" b="1" dirty="0">
                <a:solidFill>
                  <a:srgbClr val="14233F"/>
                </a:solidFill>
                <a:latin typeface="Cambria" pitchFamily="34" charset="0"/>
                <a:ea typeface="Cambria" pitchFamily="34" charset="-122"/>
                <a:cs typeface="Cambria" pitchFamily="34" charset="-120"/>
              </a:rPr>
              <a:t>3 · Runs the flow end-to-end</a:t>
            </a:r>
            <a:endParaRPr lang="en-US" sz="1450" dirty="0"/>
          </a:p>
        </p:txBody>
      </p:sp>
      <p:sp>
        <p:nvSpPr>
          <p:cNvPr id="14" name="Text 12"/>
          <p:cNvSpPr/>
          <p:nvPr/>
        </p:nvSpPr>
        <p:spPr>
          <a:xfrm>
            <a:off x="6511900" y="3200400"/>
            <a:ext cx="2030654" cy="2103120"/>
          </a:xfrm>
          <a:prstGeom prst="rect">
            <a:avLst/>
          </a:prstGeom>
          <a:noFill/>
          <a:ln/>
        </p:spPr>
        <p:txBody>
          <a:bodyPr wrap="square" lIns="0" tIns="0" rIns="0" bIns="0" rtlCol="0" anchor="ctr"/>
          <a:lstStyle/>
          <a:p>
            <a:pPr marL="0" indent="0">
              <a:lnSpc>
                <a:spcPct val="106000"/>
              </a:lnSpc>
              <a:buNone/>
            </a:pPr>
            <a:r>
              <a:rPr lang="en-US" sz="1150" dirty="0">
                <a:solidFill>
                  <a:srgbClr val="5D6B8C"/>
                </a:solidFill>
                <a:latin typeface="Calibri" pitchFamily="34" charset="0"/>
                <a:ea typeface="Calibri" pitchFamily="34" charset="-122"/>
                <a:cs typeface="Calibri" pitchFamily="34" charset="-120"/>
              </a:rPr>
              <a:t>One agent walks the whole process (e.g. RMA intake → warranty → triage → repair-vs-replace → close) — the work of a dozen bots.</a:t>
            </a:r>
            <a:endParaRPr lang="en-US" sz="1150" dirty="0"/>
          </a:p>
        </p:txBody>
      </p:sp>
      <p:sp>
        <p:nvSpPr>
          <p:cNvPr id="15" name="Shape 13"/>
          <p:cNvSpPr/>
          <p:nvPr/>
        </p:nvSpPr>
        <p:spPr>
          <a:xfrm>
            <a:off x="9063761" y="2286000"/>
            <a:ext cx="2487854" cy="3200400"/>
          </a:xfrm>
          <a:prstGeom prst="roundRect">
            <a:avLst>
              <a:gd name="adj" fmla="val 3308"/>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6" name="Text 14"/>
          <p:cNvSpPr/>
          <p:nvPr/>
        </p:nvSpPr>
        <p:spPr>
          <a:xfrm>
            <a:off x="9319793" y="2514600"/>
            <a:ext cx="2030654" cy="640080"/>
          </a:xfrm>
          <a:prstGeom prst="rect">
            <a:avLst/>
          </a:prstGeom>
          <a:noFill/>
          <a:ln/>
        </p:spPr>
        <p:txBody>
          <a:bodyPr wrap="square" lIns="0" tIns="0" rIns="0" bIns="0" rtlCol="0" anchor="ctr"/>
          <a:lstStyle/>
          <a:p>
            <a:pPr marL="0" indent="0">
              <a:buNone/>
            </a:pPr>
            <a:r>
              <a:rPr lang="en-US" sz="1450" b="1" dirty="0">
                <a:solidFill>
                  <a:srgbClr val="0E9E80"/>
                </a:solidFill>
                <a:latin typeface="Cambria" pitchFamily="34" charset="0"/>
                <a:ea typeface="Cambria" pitchFamily="34" charset="-122"/>
                <a:cs typeface="Cambria" pitchFamily="34" charset="-120"/>
              </a:rPr>
              <a:t>4 · Behaves accountably</a:t>
            </a:r>
            <a:endParaRPr lang="en-US" sz="1450" dirty="0"/>
          </a:p>
        </p:txBody>
      </p:sp>
      <p:sp>
        <p:nvSpPr>
          <p:cNvPr id="17" name="Text 15"/>
          <p:cNvSpPr/>
          <p:nvPr/>
        </p:nvSpPr>
        <p:spPr>
          <a:xfrm>
            <a:off x="9319793" y="3200400"/>
            <a:ext cx="2030654" cy="2103120"/>
          </a:xfrm>
          <a:prstGeom prst="rect">
            <a:avLst/>
          </a:prstGeom>
          <a:noFill/>
          <a:ln/>
        </p:spPr>
        <p:txBody>
          <a:bodyPr wrap="square" lIns="0" tIns="0" rIns="0" bIns="0" rtlCol="0" anchor="ctr"/>
          <a:lstStyle/>
          <a:p>
            <a:pPr marL="0" indent="0">
              <a:lnSpc>
                <a:spcPct val="106000"/>
              </a:lnSpc>
              <a:buNone/>
            </a:pPr>
            <a:r>
              <a:rPr lang="en-US" sz="1150" dirty="0">
                <a:solidFill>
                  <a:srgbClr val="5D6B8C"/>
                </a:solidFill>
                <a:latin typeface="Calibri" pitchFamily="34" charset="0"/>
                <a:ea typeface="Calibri" pitchFamily="34" charset="-122"/>
                <a:cs typeface="Calibri" pitchFamily="34" charset="-120"/>
              </a:rPr>
              <a:t>Read-only first; shows confidence + reasons on every decision; acts within your policy, routes exceptions to a human; guardrails on; one audit trail.</a:t>
            </a:r>
            <a:endParaRPr lang="en-US" sz="1150" dirty="0"/>
          </a:p>
        </p:txBody>
      </p:sp>
      <p:sp>
        <p:nvSpPr>
          <p:cNvPr id="18" name="Text 16"/>
          <p:cNvSpPr/>
          <p:nvPr/>
        </p:nvSpPr>
        <p:spPr>
          <a:xfrm>
            <a:off x="640080" y="5715000"/>
            <a:ext cx="10911535" cy="457200"/>
          </a:xfrm>
          <a:prstGeom prst="rect">
            <a:avLst/>
          </a:prstGeom>
          <a:noFill/>
          <a:ln/>
        </p:spPr>
        <p:txBody>
          <a:bodyPr wrap="square" lIns="0" tIns="0" rIns="0" bIns="0" rtlCol="0" anchor="ctr"/>
          <a:lstStyle/>
          <a:p>
            <a:pPr marL="0" indent="0">
              <a:buNone/>
            </a:pPr>
            <a:r>
              <a:rPr lang="en-US" sz="1250" i="1" dirty="0">
                <a:solidFill>
                  <a:srgbClr val="0E9E80"/>
                </a:solidFill>
                <a:latin typeface="Calibri" pitchFamily="34" charset="0"/>
                <a:ea typeface="Calibri" pitchFamily="34" charset="-122"/>
                <a:cs typeface="Calibri" pitchFamily="34" charset="-120"/>
              </a:rPr>
              <a:t>Even with one use case you're buying a worker that owns the hard 90% once — the next process is a small add-on, not another project.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READS ANY SYSTEM</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One canonical concept — SAP to open-source — zero re-mapping</a:t>
            </a:r>
            <a:endParaRPr lang="en-US" sz="3000" dirty="0"/>
          </a:p>
        </p:txBody>
      </p:sp>
      <p:sp>
        <p:nvSpPr>
          <p:cNvPr id="5" name="Text 3"/>
          <p:cNvSpPr/>
          <p:nvPr/>
        </p:nvSpPr>
        <p:spPr>
          <a:xfrm>
            <a:off x="640080" y="1572768"/>
            <a:ext cx="10911535" cy="685800"/>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The canonical ontology maps every system's native field names to one shared concept, once. The agent only ever asks for the concept, so it works the same across proprietary and open-source systems — and a new source is an onboarding step, not a rebuild.</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10972800" cy="2852928"/>
        </p:xfrm>
        <a:graphic>
          <a:graphicData uri="http://schemas.openxmlformats.org/drawingml/2006/table">
            <a:tbl>
              <a:tblPr/>
              <a:tblGrid>
                <a:gridCol w="21031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475488">
                <a:tc>
                  <a:txBody>
                    <a:bodyPr/>
                    <a:lstStyle/>
                    <a:p>
                      <a:pPr marL="0" indent="0" algn="l">
                        <a:buNone/>
                      </a:pPr>
                      <a:r>
                        <a:rPr lang="en-US" sz="1200" b="1" dirty="0">
                          <a:solidFill>
                            <a:srgbClr val="FFFFFF"/>
                          </a:solidFill>
                          <a:latin typeface="Cambria" pitchFamily="34" charset="0"/>
                          <a:ea typeface="Cambria" pitchFamily="34" charset="-122"/>
                          <a:cs typeface="Cambria" pitchFamily="34" charset="-120"/>
                        </a:rPr>
                        <a:t>Canonical concept</a:t>
                      </a:r>
                      <a:endParaRPr lang="en-US" sz="1200" dirty="0">
                        <a:latin typeface="Cambria" charset="0"/>
                        <a:ea typeface="Cambria" charset="0"/>
                        <a:cs typeface="Cambria"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1320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SAP</a:t>
                      </a:r>
                      <a:endParaRPr lang="en-US" sz="120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1320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Databricks</a:t>
                      </a:r>
                      <a:endParaRPr lang="en-US" sz="120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1320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ERPNext</a:t>
                      </a:r>
                      <a:endParaRPr lang="en-US" sz="120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1320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Odoo</a:t>
                      </a:r>
                      <a:endParaRPr lang="en-US" sz="120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1320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Apache OFBiz</a:t>
                      </a:r>
                      <a:endParaRPr lang="en-US" sz="120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13203A"/>
                    </a:solidFill>
                  </a:tcPr>
                </a:tc>
                <a:extLst>
                  <a:ext uri="{0D108BD9-81ED-4DB2-BD59-A6C34878D82A}">
                    <a16:rowId xmlns:a16="http://schemas.microsoft.com/office/drawing/2014/main" val="10000"/>
                  </a:ext>
                </a:extLst>
              </a:tr>
              <a:tr h="475488">
                <a:tc>
                  <a:txBody>
                    <a:bodyPr/>
                    <a:lstStyle/>
                    <a:p>
                      <a:pPr marL="0" indent="0" algn="l">
                        <a:buNone/>
                      </a:pPr>
                      <a:r>
                        <a:rPr lang="en-US" sz="1250" b="1" dirty="0">
                          <a:solidFill>
                            <a:srgbClr val="14233F"/>
                          </a:solidFill>
                          <a:latin typeface="Cambria" pitchFamily="34" charset="0"/>
                          <a:ea typeface="Cambria" pitchFamily="34" charset="-122"/>
                          <a:cs typeface="Cambria" pitchFamily="34" charset="-120"/>
                        </a:rPr>
                        <a:t>sku</a:t>
                      </a:r>
                      <a:endParaRPr lang="en-US" sz="1250" dirty="0">
                        <a:latin typeface="Cambria" charset="0"/>
                        <a:ea typeface="Cambria" charset="0"/>
                        <a:cs typeface="Cambria"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EAFBF5"/>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MATNR</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sku</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item_code</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default_code</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productId</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50" b="1" dirty="0">
                          <a:solidFill>
                            <a:srgbClr val="14233F"/>
                          </a:solidFill>
                          <a:latin typeface="Cambria" pitchFamily="34" charset="0"/>
                          <a:ea typeface="Cambria" pitchFamily="34" charset="-122"/>
                          <a:cs typeface="Cambria" pitchFamily="34" charset="-120"/>
                        </a:rPr>
                        <a:t>on_hand_qty</a:t>
                      </a:r>
                      <a:endParaRPr lang="en-US" sz="1250" dirty="0">
                        <a:latin typeface="Cambria" charset="0"/>
                        <a:ea typeface="Cambria" charset="0"/>
                        <a:cs typeface="Cambria"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EAFBF5"/>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LABST</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on_hand</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actual_qty</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quantity</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quantityOnHandTotal</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250" b="1" dirty="0">
                          <a:solidFill>
                            <a:srgbClr val="14233F"/>
                          </a:solidFill>
                          <a:latin typeface="Cambria" pitchFamily="34" charset="0"/>
                          <a:ea typeface="Cambria" pitchFamily="34" charset="-122"/>
                          <a:cs typeface="Cambria" pitchFamily="34" charset="-120"/>
                        </a:rPr>
                        <a:t>unit_cost</a:t>
                      </a:r>
                      <a:endParaRPr lang="en-US" sz="1250" dirty="0">
                        <a:latin typeface="Cambria" charset="0"/>
                        <a:ea typeface="Cambria" charset="0"/>
                        <a:cs typeface="Cambria"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EAFBF5"/>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STPRS</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unit_cost</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valuation_rate</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standard_price</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unitCost</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250" b="1" dirty="0">
                          <a:solidFill>
                            <a:srgbClr val="14233F"/>
                          </a:solidFill>
                          <a:latin typeface="Cambria" pitchFamily="34" charset="0"/>
                          <a:ea typeface="Cambria" pitchFamily="34" charset="-122"/>
                          <a:cs typeface="Cambria" pitchFamily="34" charset="-120"/>
                        </a:rPr>
                        <a:t>location</a:t>
                      </a:r>
                      <a:endParaRPr lang="en-US" sz="1250" dirty="0">
                        <a:latin typeface="Cambria" charset="0"/>
                        <a:ea typeface="Cambria" charset="0"/>
                        <a:cs typeface="Cambria"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EAFBF5"/>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WERKS</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dc_code</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warehouse</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location_id</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facilityId</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250" b="1" dirty="0">
                          <a:solidFill>
                            <a:srgbClr val="14233F"/>
                          </a:solidFill>
                          <a:latin typeface="Cambria" pitchFamily="34" charset="0"/>
                          <a:ea typeface="Cambria" pitchFamily="34" charset="-122"/>
                          <a:cs typeface="Cambria" pitchFamily="34" charset="-120"/>
                        </a:rPr>
                        <a:t>supplier</a:t>
                      </a:r>
                      <a:endParaRPr lang="en-US" sz="1250" dirty="0">
                        <a:latin typeface="Cambria" charset="0"/>
                        <a:ea typeface="Cambria" charset="0"/>
                        <a:cs typeface="Cambria"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EAFBF5"/>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LIFNR</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vendor_id</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supplier</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seller_ids</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D6B8C"/>
                          </a:solidFill>
                          <a:latin typeface="Calibri" pitchFamily="34" charset="0"/>
                          <a:ea typeface="Calibri" pitchFamily="34" charset="-122"/>
                          <a:cs typeface="Calibri" pitchFamily="34" charset="-120"/>
                        </a:rPr>
                        <a:t>partyId</a:t>
                      </a:r>
                      <a:endParaRPr lang="en-US" sz="1150" dirty="0">
                        <a:latin typeface="Calibri" charset="0"/>
                        <a:ea typeface="Calibri" charset="0"/>
                        <a:cs typeface="Calibri" charset="0"/>
                      </a:endParaRPr>
                    </a:p>
                  </a:txBody>
                  <a:tcPr marL="76200" marR="76200" marT="38100" marB="38100" anchor="ctr">
                    <a:lnL w="12700" cap="flat" cmpd="sng" algn="ctr">
                      <a:solidFill>
                        <a:srgbClr val="DCE6F2"/>
                      </a:solidFill>
                      <a:prstDash val="solid"/>
                      <a:round/>
                      <a:headEnd type="none" w="med" len="med"/>
                      <a:tailEnd type="none" w="med" len="med"/>
                    </a:lnL>
                    <a:lnR w="12700" cap="flat" cmpd="sng" algn="ctr">
                      <a:solidFill>
                        <a:srgbClr val="DCE6F2"/>
                      </a:solidFill>
                      <a:prstDash val="solid"/>
                      <a:round/>
                      <a:headEnd type="none" w="med" len="med"/>
                      <a:tailEnd type="none" w="med" len="med"/>
                    </a:lnR>
                    <a:lnT w="12700" cap="flat" cmpd="sng" algn="ctr">
                      <a:solidFill>
                        <a:srgbClr val="DCE6F2"/>
                      </a:solidFill>
                      <a:prstDash val="solid"/>
                      <a:round/>
                      <a:headEnd type="none" w="med" len="med"/>
                      <a:tailEnd type="none" w="med" len="med"/>
                    </a:lnT>
                    <a:lnB w="12700" cap="flat" cmpd="sng" algn="ctr">
                      <a:solidFill>
                        <a:srgbClr val="DCE6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640080" y="5669280"/>
            <a:ext cx="10911535" cy="365760"/>
          </a:xfrm>
          <a:prstGeom prst="rect">
            <a:avLst/>
          </a:prstGeom>
          <a:noFill/>
          <a:ln/>
        </p:spPr>
        <p:txBody>
          <a:bodyPr wrap="square" lIns="0" tIns="0" rIns="0" bIns="0" rtlCol="0" anchor="ctr"/>
          <a:lstStyle/>
          <a:p>
            <a:pPr marL="0" indent="0">
              <a:buNone/>
            </a:pPr>
            <a:r>
              <a:rPr lang="en-US" sz="1300" i="1" dirty="0">
                <a:solidFill>
                  <a:srgbClr val="0E9E80"/>
                </a:solidFill>
                <a:latin typeface="Calibri" pitchFamily="34" charset="0"/>
                <a:ea typeface="Calibri" pitchFamily="34" charset="-122"/>
                <a:cs typeface="Calibri" pitchFamily="34" charset="-120"/>
              </a:rPr>
              <a:t>Same request — “give me on_hand_qty” — resolves to LABST, actual_qty, quantity or quantityOnHandTotal automatically. Switching systems costs 0 re-maps.</a:t>
            </a:r>
            <a:endParaRPr lang="en-US" sz="1300" dirty="0"/>
          </a:p>
        </p:txBody>
      </p:sp>
      <p:sp>
        <p:nvSpPr>
          <p:cNvPr id="8" name="Text 5"/>
          <p:cNvSpPr/>
          <p:nvPr/>
        </p:nvSpPr>
        <p:spPr>
          <a:xfrm>
            <a:off x="640080" y="6053328"/>
            <a:ext cx="10911535" cy="365760"/>
          </a:xfrm>
          <a:prstGeom prst="rect">
            <a:avLst/>
          </a:prstGeom>
          <a:noFill/>
          <a:ln/>
        </p:spPr>
        <p:txBody>
          <a:bodyPr wrap="square" lIns="0" tIns="0" rIns="0" bIns="0" rtlCol="0" anchor="ctr"/>
          <a:lstStyle/>
          <a:p>
            <a:pPr marL="0" indent="0">
              <a:buNone/>
            </a:pPr>
            <a:r>
              <a:rPr lang="en-US" sz="1150" i="1" dirty="0">
                <a:solidFill>
                  <a:srgbClr val="5D6B8C"/>
                </a:solidFill>
                <a:latin typeface="Calibri" pitchFamily="34" charset="0"/>
                <a:ea typeface="Calibri" pitchFamily="34" charset="-122"/>
                <a:cs typeface="Calibri" pitchFamily="34" charset="-120"/>
              </a:rPr>
              <a:t>Bring your own ontology too: UNAI can induce this from a source, or import an ontology another team already maintains and auto-align to it.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DATA ACCESS &amp; COMPLIANCE (NOTE)</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SAP-safe by design — read the lakehouse, don't hammer the ERP</a:t>
            </a:r>
            <a:endParaRPr lang="en-US" sz="3000" dirty="0"/>
          </a:p>
        </p:txBody>
      </p:sp>
      <p:sp>
        <p:nvSpPr>
          <p:cNvPr id="5" name="Text 3"/>
          <p:cNvSpPr/>
          <p:nvPr/>
        </p:nvSpPr>
        <p:spPr>
          <a:xfrm>
            <a:off x="640080" y="1554480"/>
            <a:ext cx="10911535" cy="658368"/>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Business platforms are restricting third-party AI agents on their systems of record. UNAI's default architecture stays on the compliant side: consume the governed lakehouse copy, run in-tenant, read-only first, gate writes through certified channels.</a:t>
            </a:r>
            <a:endParaRPr lang="en-US" sz="1500" dirty="0"/>
          </a:p>
        </p:txBody>
      </p:sp>
      <p:sp>
        <p:nvSpPr>
          <p:cNvPr id="6" name="Shape 4"/>
          <p:cNvSpPr/>
          <p:nvPr/>
        </p:nvSpPr>
        <p:spPr>
          <a:xfrm>
            <a:off x="640080" y="2331720"/>
            <a:ext cx="5532120" cy="2743200"/>
          </a:xfrm>
          <a:prstGeom prst="roundRect">
            <a:avLst>
              <a:gd name="adj" fmla="val 3000"/>
            </a:avLst>
          </a:prstGeom>
          <a:solidFill>
            <a:srgbClr val="FCEEE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Text 5"/>
          <p:cNvSpPr/>
          <p:nvPr/>
        </p:nvSpPr>
        <p:spPr>
          <a:xfrm>
            <a:off x="960120" y="2487168"/>
            <a:ext cx="493776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The restrictions (2026)</a:t>
            </a:r>
            <a:endParaRPr lang="en-US" sz="1500" dirty="0"/>
          </a:p>
        </p:txBody>
      </p:sp>
      <p:sp>
        <p:nvSpPr>
          <p:cNvPr id="8" name="Text 6"/>
          <p:cNvSpPr/>
          <p:nvPr/>
        </p:nvSpPr>
        <p:spPr>
          <a:xfrm>
            <a:off x="960120" y="2926080"/>
            <a:ext cx="4937760" cy="274320"/>
          </a:xfrm>
          <a:prstGeom prst="rect">
            <a:avLst/>
          </a:prstGeom>
          <a:noFill/>
          <a:ln/>
        </p:spPr>
        <p:txBody>
          <a:bodyPr wrap="square" lIns="0" tIns="0" rIns="0" bIns="0" rtlCol="0" anchor="ctr"/>
          <a:lstStyle/>
          <a:p>
            <a:pPr marL="0" indent="0">
              <a:buNone/>
            </a:pPr>
            <a:r>
              <a:rPr lang="en-US" sz="1250" b="1" dirty="0">
                <a:solidFill>
                  <a:srgbClr val="E2574C"/>
                </a:solidFill>
                <a:latin typeface="Cambria" pitchFamily="34" charset="0"/>
                <a:ea typeface="Cambria" pitchFamily="34" charset="-122"/>
                <a:cs typeface="Cambria" pitchFamily="34" charset="-120"/>
              </a:rPr>
              <a:t>SAP</a:t>
            </a:r>
            <a:endParaRPr lang="en-US" sz="1250" dirty="0"/>
          </a:p>
        </p:txBody>
      </p:sp>
      <p:sp>
        <p:nvSpPr>
          <p:cNvPr id="9" name="Text 7"/>
          <p:cNvSpPr/>
          <p:nvPr/>
        </p:nvSpPr>
        <p:spPr>
          <a:xfrm>
            <a:off x="960120" y="3163824"/>
            <a:ext cx="4937760" cy="457200"/>
          </a:xfrm>
          <a:prstGeom prst="rect">
            <a:avLst/>
          </a:prstGeom>
          <a:noFill/>
          <a:ln/>
        </p:spPr>
        <p:txBody>
          <a:bodyPr wrap="square" lIns="0" tIns="0" rIns="0" bIns="0" rtlCol="0" anchor="ctr"/>
          <a:lstStyle/>
          <a:p>
            <a:pPr marL="0" indent="0">
              <a:lnSpc>
                <a:spcPct val="102000"/>
              </a:lnSpc>
              <a:buNone/>
            </a:pPr>
            <a:r>
              <a:rPr lang="en-US" sz="1050" dirty="0">
                <a:solidFill>
                  <a:srgbClr val="5D6B8C"/>
                </a:solidFill>
                <a:latin typeface="Calibri" pitchFamily="34" charset="0"/>
                <a:ea typeface="Calibri" pitchFamily="34" charset="-122"/>
                <a:cs typeface="Calibri" pitchFamily="34" charset="-120"/>
              </a:rPr>
              <a:t>API Policy v4/2026 §2.2.2 bars third-party agents from calling SAP APIs; digital-access licensing on bot/AI-created documents; BDC data can't be redistributed.</a:t>
            </a:r>
            <a:endParaRPr lang="en-US" sz="1050" dirty="0"/>
          </a:p>
        </p:txBody>
      </p:sp>
      <p:sp>
        <p:nvSpPr>
          <p:cNvPr id="10" name="Text 8"/>
          <p:cNvSpPr/>
          <p:nvPr/>
        </p:nvSpPr>
        <p:spPr>
          <a:xfrm>
            <a:off x="960120" y="3639312"/>
            <a:ext cx="4937760" cy="274320"/>
          </a:xfrm>
          <a:prstGeom prst="rect">
            <a:avLst/>
          </a:prstGeom>
          <a:noFill/>
          <a:ln/>
        </p:spPr>
        <p:txBody>
          <a:bodyPr wrap="square" lIns="0" tIns="0" rIns="0" bIns="0" rtlCol="0" anchor="ctr"/>
          <a:lstStyle/>
          <a:p>
            <a:pPr marL="0" indent="0">
              <a:buNone/>
            </a:pPr>
            <a:r>
              <a:rPr lang="en-US" sz="1250" b="1" dirty="0">
                <a:solidFill>
                  <a:srgbClr val="E2574C"/>
                </a:solidFill>
                <a:latin typeface="Cambria" pitchFamily="34" charset="0"/>
                <a:ea typeface="Cambria" pitchFamily="34" charset="-122"/>
                <a:cs typeface="Cambria" pitchFamily="34" charset="-120"/>
              </a:rPr>
              <a:t>Salesforce / Slack</a:t>
            </a:r>
            <a:endParaRPr lang="en-US" sz="1250" dirty="0"/>
          </a:p>
        </p:txBody>
      </p:sp>
      <p:sp>
        <p:nvSpPr>
          <p:cNvPr id="11" name="Text 9"/>
          <p:cNvSpPr/>
          <p:nvPr/>
        </p:nvSpPr>
        <p:spPr>
          <a:xfrm>
            <a:off x="960120" y="3877056"/>
            <a:ext cx="4937760" cy="457200"/>
          </a:xfrm>
          <a:prstGeom prst="rect">
            <a:avLst/>
          </a:prstGeom>
          <a:noFill/>
          <a:ln/>
        </p:spPr>
        <p:txBody>
          <a:bodyPr wrap="square" lIns="0" tIns="0" rIns="0" bIns="0" rtlCol="0" anchor="ctr"/>
          <a:lstStyle/>
          <a:p>
            <a:pPr marL="0" indent="0">
              <a:lnSpc>
                <a:spcPct val="102000"/>
              </a:lnSpc>
              <a:buNone/>
            </a:pPr>
            <a:r>
              <a:rPr lang="en-US" sz="1050" dirty="0">
                <a:solidFill>
                  <a:srgbClr val="5D6B8C"/>
                </a:solidFill>
                <a:latin typeface="Calibri" pitchFamily="34" charset="0"/>
                <a:ea typeface="Calibri" pitchFamily="34" charset="-122"/>
                <a:cs typeface="Calibri" pitchFamily="34" charset="-120"/>
              </a:rPr>
              <a:t>No using Slack/CRM data to train models; Einstein Trust Layer governs prompts; non-Agentforce agents get less context.</a:t>
            </a:r>
            <a:endParaRPr lang="en-US" sz="1050" dirty="0"/>
          </a:p>
        </p:txBody>
      </p:sp>
      <p:sp>
        <p:nvSpPr>
          <p:cNvPr id="12" name="Text 10"/>
          <p:cNvSpPr/>
          <p:nvPr/>
        </p:nvSpPr>
        <p:spPr>
          <a:xfrm>
            <a:off x="960120" y="4352544"/>
            <a:ext cx="4937760" cy="274320"/>
          </a:xfrm>
          <a:prstGeom prst="rect">
            <a:avLst/>
          </a:prstGeom>
          <a:noFill/>
          <a:ln/>
        </p:spPr>
        <p:txBody>
          <a:bodyPr wrap="square" lIns="0" tIns="0" rIns="0" bIns="0" rtlCol="0" anchor="ctr"/>
          <a:lstStyle/>
          <a:p>
            <a:pPr marL="0" indent="0">
              <a:buNone/>
            </a:pPr>
            <a:r>
              <a:rPr lang="en-US" sz="1250" b="1" dirty="0">
                <a:solidFill>
                  <a:srgbClr val="E2574C"/>
                </a:solidFill>
                <a:latin typeface="Cambria" pitchFamily="34" charset="0"/>
                <a:ea typeface="Cambria" pitchFamily="34" charset="-122"/>
                <a:cs typeface="Cambria" pitchFamily="34" charset="-120"/>
              </a:rPr>
              <a:t>ServiceNow</a:t>
            </a:r>
            <a:endParaRPr lang="en-US" sz="1250" dirty="0"/>
          </a:p>
        </p:txBody>
      </p:sp>
      <p:sp>
        <p:nvSpPr>
          <p:cNvPr id="13" name="Text 11"/>
          <p:cNvSpPr/>
          <p:nvPr/>
        </p:nvSpPr>
        <p:spPr>
          <a:xfrm>
            <a:off x="960120" y="4590288"/>
            <a:ext cx="4937760" cy="457200"/>
          </a:xfrm>
          <a:prstGeom prst="rect">
            <a:avLst/>
          </a:prstGeom>
          <a:noFill/>
          <a:ln/>
        </p:spPr>
        <p:txBody>
          <a:bodyPr wrap="square" lIns="0" tIns="0" rIns="0" bIns="0" rtlCol="0" anchor="ctr"/>
          <a:lstStyle/>
          <a:p>
            <a:pPr marL="0" indent="0">
              <a:lnSpc>
                <a:spcPct val="102000"/>
              </a:lnSpc>
              <a:buNone/>
            </a:pPr>
            <a:r>
              <a:rPr lang="en-US" sz="1050" dirty="0">
                <a:solidFill>
                  <a:srgbClr val="5D6B8C"/>
                </a:solidFill>
                <a:latin typeface="Calibri" pitchFamily="34" charset="0"/>
                <a:ea typeface="Calibri" pitchFamily="34" charset="-122"/>
                <a:cs typeface="Calibri" pitchFamily="34" charset="-120"/>
              </a:rPr>
              <a:t>Strict API rate limits &amp; throttling on agent traffic.</a:t>
            </a:r>
            <a:endParaRPr lang="en-US" sz="1050" dirty="0"/>
          </a:p>
        </p:txBody>
      </p:sp>
      <p:sp>
        <p:nvSpPr>
          <p:cNvPr id="14" name="Shape 12"/>
          <p:cNvSpPr/>
          <p:nvPr/>
        </p:nvSpPr>
        <p:spPr>
          <a:xfrm>
            <a:off x="6583680" y="2331720"/>
            <a:ext cx="4967935" cy="2743200"/>
          </a:xfrm>
          <a:prstGeom prst="roundRect">
            <a:avLst>
              <a:gd name="adj" fmla="val 3000"/>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5" name="Text 13"/>
          <p:cNvSpPr/>
          <p:nvPr/>
        </p:nvSpPr>
        <p:spPr>
          <a:xfrm>
            <a:off x="6858000" y="2487168"/>
            <a:ext cx="457200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How UNAI stays compliant</a:t>
            </a:r>
            <a:endParaRPr lang="en-US" sz="1500" dirty="0"/>
          </a:p>
        </p:txBody>
      </p:sp>
      <p:sp>
        <p:nvSpPr>
          <p:cNvPr id="16" name="Shape 14"/>
          <p:cNvSpPr/>
          <p:nvPr/>
        </p:nvSpPr>
        <p:spPr>
          <a:xfrm>
            <a:off x="6858000" y="2898648"/>
            <a:ext cx="146304" cy="146304"/>
          </a:xfrm>
          <a:prstGeom prst="ellipse">
            <a:avLst/>
          </a:prstGeom>
          <a:solidFill>
            <a:srgbClr val="22D3AA"/>
          </a:solidFill>
          <a:ln/>
        </p:spPr>
        <p:txBody>
          <a:bodyPr/>
          <a:lstStyle/>
          <a:p>
            <a:endParaRPr/>
          </a:p>
        </p:txBody>
      </p:sp>
      <p:sp>
        <p:nvSpPr>
          <p:cNvPr id="17" name="Text 15"/>
          <p:cNvSpPr/>
          <p:nvPr/>
        </p:nvSpPr>
        <p:spPr>
          <a:xfrm>
            <a:off x="7132320" y="2834640"/>
            <a:ext cx="4572000" cy="402336"/>
          </a:xfrm>
          <a:prstGeom prst="rect">
            <a:avLst/>
          </a:prstGeom>
          <a:noFill/>
          <a:ln/>
        </p:spPr>
        <p:txBody>
          <a:bodyPr wrap="square" lIns="0" tIns="0" rIns="0" bIns="0" rtlCol="0" anchor="ctr"/>
          <a:lstStyle/>
          <a:p>
            <a:pPr marL="0" indent="0">
              <a:lnSpc>
                <a:spcPct val="100000"/>
              </a:lnSpc>
              <a:buNone/>
            </a:pPr>
            <a:r>
              <a:rPr lang="en-US" sz="1100" dirty="0">
                <a:solidFill>
                  <a:srgbClr val="111A33"/>
                </a:solidFill>
                <a:latin typeface="Calibri" pitchFamily="34" charset="0"/>
                <a:ea typeface="Calibri" pitchFamily="34" charset="-122"/>
                <a:cs typeface="Calibri" pitchFamily="34" charset="-120"/>
              </a:rPr>
              <a:t>Read the governed lakehouse copy (SAP BDC Connect → Databricks / Snowflake) — not SAP APIs directly</a:t>
            </a:r>
            <a:endParaRPr lang="en-US" sz="1100" dirty="0"/>
          </a:p>
        </p:txBody>
      </p:sp>
      <p:sp>
        <p:nvSpPr>
          <p:cNvPr id="18" name="Shape 16"/>
          <p:cNvSpPr/>
          <p:nvPr/>
        </p:nvSpPr>
        <p:spPr>
          <a:xfrm>
            <a:off x="6858000" y="3319272"/>
            <a:ext cx="146304" cy="146304"/>
          </a:xfrm>
          <a:prstGeom prst="ellipse">
            <a:avLst/>
          </a:prstGeom>
          <a:solidFill>
            <a:srgbClr val="22D3AA"/>
          </a:solidFill>
          <a:ln/>
        </p:spPr>
        <p:txBody>
          <a:bodyPr/>
          <a:lstStyle/>
          <a:p>
            <a:endParaRPr/>
          </a:p>
        </p:txBody>
      </p:sp>
      <p:sp>
        <p:nvSpPr>
          <p:cNvPr id="19" name="Text 17"/>
          <p:cNvSpPr/>
          <p:nvPr/>
        </p:nvSpPr>
        <p:spPr>
          <a:xfrm>
            <a:off x="7132320" y="3255264"/>
            <a:ext cx="4572000" cy="402336"/>
          </a:xfrm>
          <a:prstGeom prst="rect">
            <a:avLst/>
          </a:prstGeom>
          <a:noFill/>
          <a:ln/>
        </p:spPr>
        <p:txBody>
          <a:bodyPr wrap="square" lIns="0" tIns="0" rIns="0" bIns="0" rtlCol="0" anchor="ctr"/>
          <a:lstStyle/>
          <a:p>
            <a:pPr marL="0" indent="0">
              <a:lnSpc>
                <a:spcPct val="100000"/>
              </a:lnSpc>
              <a:buNone/>
            </a:pPr>
            <a:r>
              <a:rPr lang="en-US" sz="1100" dirty="0">
                <a:solidFill>
                  <a:srgbClr val="111A33"/>
                </a:solidFill>
                <a:latin typeface="Calibri" pitchFamily="34" charset="0"/>
                <a:ea typeface="Calibri" pitchFamily="34" charset="-122"/>
                <a:cs typeface="Calibri" pitchFamily="34" charset="-120"/>
              </a:rPr>
              <a:t>Run in-tenant (Databricks App / SAP BDC / Snowflake Native App) — data stays in perimeter</a:t>
            </a:r>
            <a:endParaRPr lang="en-US" sz="1100" dirty="0"/>
          </a:p>
        </p:txBody>
      </p:sp>
      <p:sp>
        <p:nvSpPr>
          <p:cNvPr id="20" name="Shape 18"/>
          <p:cNvSpPr/>
          <p:nvPr/>
        </p:nvSpPr>
        <p:spPr>
          <a:xfrm>
            <a:off x="6858000" y="3739896"/>
            <a:ext cx="146304" cy="146304"/>
          </a:xfrm>
          <a:prstGeom prst="ellipse">
            <a:avLst/>
          </a:prstGeom>
          <a:solidFill>
            <a:srgbClr val="22D3AA"/>
          </a:solidFill>
          <a:ln/>
        </p:spPr>
        <p:txBody>
          <a:bodyPr/>
          <a:lstStyle/>
          <a:p>
            <a:endParaRPr/>
          </a:p>
        </p:txBody>
      </p:sp>
      <p:sp>
        <p:nvSpPr>
          <p:cNvPr id="21" name="Text 19"/>
          <p:cNvSpPr/>
          <p:nvPr/>
        </p:nvSpPr>
        <p:spPr>
          <a:xfrm>
            <a:off x="7132320" y="3675888"/>
            <a:ext cx="4572000" cy="402336"/>
          </a:xfrm>
          <a:prstGeom prst="rect">
            <a:avLst/>
          </a:prstGeom>
          <a:noFill/>
          <a:ln/>
        </p:spPr>
        <p:txBody>
          <a:bodyPr wrap="square" lIns="0" tIns="0" rIns="0" bIns="0" rtlCol="0" anchor="ctr"/>
          <a:lstStyle/>
          <a:p>
            <a:pPr marL="0" indent="0">
              <a:lnSpc>
                <a:spcPct val="100000"/>
              </a:lnSpc>
              <a:buNone/>
            </a:pPr>
            <a:r>
              <a:rPr lang="en-US" sz="1100" dirty="0">
                <a:solidFill>
                  <a:srgbClr val="111A33"/>
                </a:solidFill>
                <a:latin typeface="Calibri" pitchFamily="34" charset="0"/>
                <a:ea typeface="Calibri" pitchFamily="34" charset="-122"/>
                <a:cs typeface="Calibri" pitchFamily="34" charset="-120"/>
              </a:rPr>
              <a:t>Read-only first; every decision evidence-scored and gated</a:t>
            </a:r>
            <a:endParaRPr lang="en-US" sz="1100" dirty="0"/>
          </a:p>
        </p:txBody>
      </p:sp>
      <p:sp>
        <p:nvSpPr>
          <p:cNvPr id="22" name="Shape 20"/>
          <p:cNvSpPr/>
          <p:nvPr/>
        </p:nvSpPr>
        <p:spPr>
          <a:xfrm>
            <a:off x="6858000" y="4160520"/>
            <a:ext cx="146304" cy="146304"/>
          </a:xfrm>
          <a:prstGeom prst="ellipse">
            <a:avLst/>
          </a:prstGeom>
          <a:solidFill>
            <a:srgbClr val="22D3AA"/>
          </a:solidFill>
          <a:ln/>
        </p:spPr>
        <p:txBody>
          <a:bodyPr/>
          <a:lstStyle/>
          <a:p>
            <a:endParaRPr/>
          </a:p>
        </p:txBody>
      </p:sp>
      <p:sp>
        <p:nvSpPr>
          <p:cNvPr id="23" name="Text 21"/>
          <p:cNvSpPr/>
          <p:nvPr/>
        </p:nvSpPr>
        <p:spPr>
          <a:xfrm>
            <a:off x="7132320" y="4096512"/>
            <a:ext cx="4572000" cy="402336"/>
          </a:xfrm>
          <a:prstGeom prst="rect">
            <a:avLst/>
          </a:prstGeom>
          <a:noFill/>
          <a:ln/>
        </p:spPr>
        <p:txBody>
          <a:bodyPr wrap="square" lIns="0" tIns="0" rIns="0" bIns="0" rtlCol="0" anchor="ctr"/>
          <a:lstStyle/>
          <a:p>
            <a:pPr marL="0" indent="0">
              <a:lnSpc>
                <a:spcPct val="100000"/>
              </a:lnSpc>
              <a:buNone/>
            </a:pPr>
            <a:r>
              <a:rPr lang="en-US" sz="1100" dirty="0">
                <a:solidFill>
                  <a:srgbClr val="111A33"/>
                </a:solidFill>
                <a:latin typeface="Calibri" pitchFamily="34" charset="0"/>
                <a:ea typeface="Calibri" pitchFamily="34" charset="-122"/>
                <a:cs typeface="Calibri" pitchFamily="34" charset="-120"/>
              </a:rPr>
              <a:t>Writes routed through certified channels (Agent Gateway / BAPI), human-gated, with digital-access accounting</a:t>
            </a:r>
            <a:endParaRPr lang="en-US" sz="1100" dirty="0"/>
          </a:p>
        </p:txBody>
      </p:sp>
      <p:sp>
        <p:nvSpPr>
          <p:cNvPr id="24" name="Shape 22"/>
          <p:cNvSpPr/>
          <p:nvPr/>
        </p:nvSpPr>
        <p:spPr>
          <a:xfrm>
            <a:off x="6858000" y="4581144"/>
            <a:ext cx="146304" cy="146304"/>
          </a:xfrm>
          <a:prstGeom prst="ellipse">
            <a:avLst/>
          </a:prstGeom>
          <a:solidFill>
            <a:srgbClr val="22D3AA"/>
          </a:solidFill>
          <a:ln/>
        </p:spPr>
        <p:txBody>
          <a:bodyPr/>
          <a:lstStyle/>
          <a:p>
            <a:endParaRPr/>
          </a:p>
        </p:txBody>
      </p:sp>
      <p:sp>
        <p:nvSpPr>
          <p:cNvPr id="25" name="Text 23"/>
          <p:cNvSpPr/>
          <p:nvPr/>
        </p:nvSpPr>
        <p:spPr>
          <a:xfrm>
            <a:off x="7132320" y="4517136"/>
            <a:ext cx="4572000" cy="402336"/>
          </a:xfrm>
          <a:prstGeom prst="rect">
            <a:avLst/>
          </a:prstGeom>
          <a:noFill/>
          <a:ln/>
        </p:spPr>
        <p:txBody>
          <a:bodyPr wrap="square" lIns="0" tIns="0" rIns="0" bIns="0" rtlCol="0" anchor="ctr"/>
          <a:lstStyle/>
          <a:p>
            <a:pPr marL="0" indent="0">
              <a:lnSpc>
                <a:spcPct val="100000"/>
              </a:lnSpc>
              <a:buNone/>
            </a:pPr>
            <a:r>
              <a:rPr lang="en-US" sz="1100" dirty="0">
                <a:solidFill>
                  <a:srgbClr val="111A33"/>
                </a:solidFill>
                <a:latin typeface="Calibri" pitchFamily="34" charset="0"/>
                <a:ea typeface="Calibri" pitchFamily="34" charset="-122"/>
                <a:cs typeface="Calibri" pitchFamily="34" charset="-120"/>
              </a:rPr>
              <a:t>MCP / A2A transport aligns with vendors' endorsed agent channels</a:t>
            </a:r>
            <a:endParaRPr lang="en-US" sz="1100" dirty="0"/>
          </a:p>
        </p:txBody>
      </p:sp>
      <p:sp>
        <p:nvSpPr>
          <p:cNvPr id="26" name="Text 24"/>
          <p:cNvSpPr/>
          <p:nvPr/>
        </p:nvSpPr>
        <p:spPr>
          <a:xfrm>
            <a:off x="640080" y="5257800"/>
            <a:ext cx="10911535" cy="457200"/>
          </a:xfrm>
          <a:prstGeom prst="rect">
            <a:avLst/>
          </a:prstGeom>
          <a:noFill/>
          <a:ln/>
        </p:spPr>
        <p:txBody>
          <a:bodyPr wrap="square" lIns="0" tIns="0" rIns="0" bIns="0" rtlCol="0" anchor="ctr"/>
          <a:lstStyle/>
          <a:p>
            <a:pPr marL="0" indent="0">
              <a:lnSpc>
                <a:spcPct val="105000"/>
              </a:lnSpc>
              <a:buNone/>
            </a:pPr>
            <a:r>
              <a:rPr lang="en-US" sz="1150" i="1" dirty="0">
                <a:solidFill>
                  <a:srgbClr val="5D6B8C"/>
                </a:solidFill>
                <a:latin typeface="Calibri" pitchFamily="34" charset="0"/>
                <a:ea typeface="Calibri" pitchFamily="34" charset="-122"/>
                <a:cs typeface="Calibri" pitchFamily="34" charset="-120"/>
              </a:rPr>
              <a:t>Note: policies change quarterly — verify current SAP/vendor terms &amp; indirect-access licensing before production. The app ships per-provider guidelines (create / use / deploy) built in.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PROOF — MEASURED, NOT PROMISED</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A runnable demonstrator collapses many agents into one</a:t>
            </a:r>
            <a:endParaRPr lang="en-US" sz="3000" dirty="0"/>
          </a:p>
        </p:txBody>
      </p:sp>
      <p:sp>
        <p:nvSpPr>
          <p:cNvPr id="5" name="Text 3"/>
          <p:cNvSpPr/>
          <p:nvPr/>
        </p:nvSpPr>
        <p:spPr>
          <a:xfrm>
            <a:off x="640080" y="1600200"/>
            <a:ext cx="10911535" cy="640080"/>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Three supply-chain use cases run end-to-end through one UNAI — in-app on sample data or live against a real Databricks workspace. The agent count and layer-build counts below are measured from those runs.</a:t>
            </a:r>
            <a:endParaRPr lang="en-US" sz="1500" dirty="0"/>
          </a:p>
        </p:txBody>
      </p:sp>
      <p:graphicFrame>
        <p:nvGraphicFramePr>
          <p:cNvPr id="6" name="Chart 0"/>
          <p:cNvGraphicFramePr/>
          <p:nvPr/>
        </p:nvGraphicFramePr>
        <p:xfrm>
          <a:off x="640080" y="2468880"/>
          <a:ext cx="65836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589520" y="2468880"/>
            <a:ext cx="3962095" cy="786384"/>
          </a:xfrm>
          <a:prstGeom prst="roundRect">
            <a:avLst>
              <a:gd name="adj" fmla="val 10465"/>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8" name="Text 5"/>
          <p:cNvSpPr/>
          <p:nvPr/>
        </p:nvSpPr>
        <p:spPr>
          <a:xfrm>
            <a:off x="7818120" y="2505456"/>
            <a:ext cx="1463040" cy="713232"/>
          </a:xfrm>
          <a:prstGeom prst="rect">
            <a:avLst/>
          </a:prstGeom>
          <a:noFill/>
          <a:ln/>
        </p:spPr>
        <p:txBody>
          <a:bodyPr wrap="square" lIns="0" tIns="0" rIns="0" bIns="0" rtlCol="0" anchor="ctr"/>
          <a:lstStyle/>
          <a:p>
            <a:pPr marL="0" indent="0">
              <a:buNone/>
            </a:pPr>
            <a:r>
              <a:rPr lang="en-US" sz="2400" b="1" dirty="0">
                <a:solidFill>
                  <a:srgbClr val="0E9E80"/>
                </a:solidFill>
                <a:latin typeface="Cambria" pitchFamily="34" charset="0"/>
                <a:ea typeface="Cambria" pitchFamily="34" charset="-122"/>
                <a:cs typeface="Cambria" pitchFamily="34" charset="-120"/>
              </a:rPr>
              <a:t>8→2</a:t>
            </a:r>
            <a:endParaRPr lang="en-US" sz="2400" dirty="0"/>
          </a:p>
        </p:txBody>
      </p:sp>
      <p:sp>
        <p:nvSpPr>
          <p:cNvPr id="9" name="Text 6"/>
          <p:cNvSpPr/>
          <p:nvPr/>
        </p:nvSpPr>
        <p:spPr>
          <a:xfrm>
            <a:off x="9326880" y="2505456"/>
            <a:ext cx="2133295" cy="713232"/>
          </a:xfrm>
          <a:prstGeom prst="rect">
            <a:avLst/>
          </a:prstGeom>
          <a:noFill/>
          <a:ln/>
        </p:spPr>
        <p:txBody>
          <a:bodyPr wrap="square" lIns="0" tIns="0" rIns="0" bIns="0" rtlCol="0" anchor="ctr"/>
          <a:lstStyle/>
          <a:p>
            <a:pPr marL="0" indent="0">
              <a:lnSpc>
                <a:spcPct val="100000"/>
              </a:lnSpc>
              <a:buNone/>
            </a:pPr>
            <a:r>
              <a:rPr lang="en-US" sz="1100" dirty="0">
                <a:solidFill>
                  <a:srgbClr val="5D6B8C"/>
                </a:solidFill>
                <a:latin typeface="Calibri" pitchFamily="34" charset="0"/>
                <a:ea typeface="Calibri" pitchFamily="34" charset="-122"/>
                <a:cs typeface="Calibri" pitchFamily="34" charset="-120"/>
              </a:rPr>
              <a:t>layers→tool packs collapse (≈80% fewer builds)</a:t>
            </a:r>
            <a:endParaRPr lang="en-US" sz="1100" dirty="0"/>
          </a:p>
        </p:txBody>
      </p:sp>
      <p:sp>
        <p:nvSpPr>
          <p:cNvPr id="10" name="Shape 7"/>
          <p:cNvSpPr/>
          <p:nvPr/>
        </p:nvSpPr>
        <p:spPr>
          <a:xfrm>
            <a:off x="7589520" y="3374136"/>
            <a:ext cx="3962095" cy="786384"/>
          </a:xfrm>
          <a:prstGeom prst="roundRect">
            <a:avLst>
              <a:gd name="adj" fmla="val 10465"/>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1" name="Text 8"/>
          <p:cNvSpPr/>
          <p:nvPr/>
        </p:nvSpPr>
        <p:spPr>
          <a:xfrm>
            <a:off x="7818120" y="3410712"/>
            <a:ext cx="1463040" cy="713232"/>
          </a:xfrm>
          <a:prstGeom prst="rect">
            <a:avLst/>
          </a:prstGeom>
          <a:noFill/>
          <a:ln/>
        </p:spPr>
        <p:txBody>
          <a:bodyPr wrap="square" lIns="0" tIns="0" rIns="0" bIns="0" rtlCol="0" anchor="ctr"/>
          <a:lstStyle/>
          <a:p>
            <a:pPr marL="0" indent="0">
              <a:buNone/>
            </a:pPr>
            <a:r>
              <a:rPr lang="en-US" sz="2400" b="1" dirty="0">
                <a:solidFill>
                  <a:srgbClr val="0E9E80"/>
                </a:solidFill>
                <a:latin typeface="Cambria" pitchFamily="34" charset="0"/>
                <a:ea typeface="Cambria" pitchFamily="34" charset="-122"/>
                <a:cs typeface="Cambria" pitchFamily="34" charset="-120"/>
              </a:rPr>
              <a:t>0</a:t>
            </a:r>
            <a:endParaRPr lang="en-US" sz="2400" dirty="0"/>
          </a:p>
        </p:txBody>
      </p:sp>
      <p:sp>
        <p:nvSpPr>
          <p:cNvPr id="12" name="Text 9"/>
          <p:cNvSpPr/>
          <p:nvPr/>
        </p:nvSpPr>
        <p:spPr>
          <a:xfrm>
            <a:off x="9326880" y="3410712"/>
            <a:ext cx="2133295" cy="713232"/>
          </a:xfrm>
          <a:prstGeom prst="rect">
            <a:avLst/>
          </a:prstGeom>
          <a:noFill/>
          <a:ln/>
        </p:spPr>
        <p:txBody>
          <a:bodyPr wrap="square" lIns="0" tIns="0" rIns="0" bIns="0" rtlCol="0" anchor="ctr"/>
          <a:lstStyle/>
          <a:p>
            <a:pPr marL="0" indent="0">
              <a:lnSpc>
                <a:spcPct val="100000"/>
              </a:lnSpc>
              <a:buNone/>
            </a:pPr>
            <a:r>
              <a:rPr lang="en-US" sz="1100" dirty="0">
                <a:solidFill>
                  <a:srgbClr val="5D6B8C"/>
                </a:solidFill>
                <a:latin typeface="Calibri" pitchFamily="34" charset="0"/>
                <a:ea typeface="Calibri" pitchFamily="34" charset="-122"/>
                <a:cs typeface="Calibri" pitchFamily="34" charset="-120"/>
              </a:rPr>
              <a:t>schema re-maps — the ontology absorbs every dialect</a:t>
            </a:r>
            <a:endParaRPr lang="en-US" sz="1100" dirty="0"/>
          </a:p>
        </p:txBody>
      </p:sp>
      <p:sp>
        <p:nvSpPr>
          <p:cNvPr id="13" name="Shape 10"/>
          <p:cNvSpPr/>
          <p:nvPr/>
        </p:nvSpPr>
        <p:spPr>
          <a:xfrm>
            <a:off x="7589520" y="4279392"/>
            <a:ext cx="3962095" cy="786384"/>
          </a:xfrm>
          <a:prstGeom prst="roundRect">
            <a:avLst>
              <a:gd name="adj" fmla="val 10465"/>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4" name="Text 11"/>
          <p:cNvSpPr/>
          <p:nvPr/>
        </p:nvSpPr>
        <p:spPr>
          <a:xfrm>
            <a:off x="7818120" y="4315968"/>
            <a:ext cx="1463040" cy="713232"/>
          </a:xfrm>
          <a:prstGeom prst="rect">
            <a:avLst/>
          </a:prstGeom>
          <a:noFill/>
          <a:ln/>
        </p:spPr>
        <p:txBody>
          <a:bodyPr wrap="square" lIns="0" tIns="0" rIns="0" bIns="0" rtlCol="0" anchor="ctr"/>
          <a:lstStyle/>
          <a:p>
            <a:pPr marL="0" indent="0">
              <a:buNone/>
            </a:pPr>
            <a:r>
              <a:rPr lang="en-US" sz="2400" b="1" dirty="0">
                <a:solidFill>
                  <a:srgbClr val="0E9E80"/>
                </a:solidFill>
                <a:latin typeface="Cambria" pitchFamily="34" charset="0"/>
                <a:ea typeface="Cambria" pitchFamily="34" charset="-122"/>
                <a:cs typeface="Cambria" pitchFamily="34" charset="-120"/>
              </a:rPr>
              <a:t>79–92%</a:t>
            </a:r>
            <a:endParaRPr lang="en-US" sz="2400" dirty="0"/>
          </a:p>
        </p:txBody>
      </p:sp>
      <p:sp>
        <p:nvSpPr>
          <p:cNvPr id="15" name="Text 12"/>
          <p:cNvSpPr/>
          <p:nvPr/>
        </p:nvSpPr>
        <p:spPr>
          <a:xfrm>
            <a:off x="9326880" y="4315968"/>
            <a:ext cx="2133295" cy="713232"/>
          </a:xfrm>
          <a:prstGeom prst="rect">
            <a:avLst/>
          </a:prstGeom>
          <a:noFill/>
          <a:ln/>
        </p:spPr>
        <p:txBody>
          <a:bodyPr wrap="square" lIns="0" tIns="0" rIns="0" bIns="0" rtlCol="0" anchor="ctr"/>
          <a:lstStyle/>
          <a:p>
            <a:pPr marL="0" indent="0">
              <a:lnSpc>
                <a:spcPct val="100000"/>
              </a:lnSpc>
              <a:buNone/>
            </a:pPr>
            <a:r>
              <a:rPr lang="en-US" sz="1100" dirty="0">
                <a:solidFill>
                  <a:srgbClr val="5D6B8C"/>
                </a:solidFill>
                <a:latin typeface="Calibri" pitchFamily="34" charset="0"/>
                <a:ea typeface="Calibri" pitchFamily="34" charset="-122"/>
                <a:cs typeface="Calibri" pitchFamily="34" charset="-120"/>
              </a:rPr>
              <a:t>decisions executed autonomously, within policy</a:t>
            </a:r>
            <a:endParaRPr lang="en-US" sz="1100" dirty="0"/>
          </a:p>
        </p:txBody>
      </p:sp>
      <p:sp>
        <p:nvSpPr>
          <p:cNvPr id="16" name="Shape 13"/>
          <p:cNvSpPr/>
          <p:nvPr/>
        </p:nvSpPr>
        <p:spPr>
          <a:xfrm>
            <a:off x="7589520" y="5184648"/>
            <a:ext cx="3962095" cy="786384"/>
          </a:xfrm>
          <a:prstGeom prst="roundRect">
            <a:avLst>
              <a:gd name="adj" fmla="val 10465"/>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7" name="Text 14"/>
          <p:cNvSpPr/>
          <p:nvPr/>
        </p:nvSpPr>
        <p:spPr>
          <a:xfrm>
            <a:off x="7818120" y="5221224"/>
            <a:ext cx="1463040" cy="713232"/>
          </a:xfrm>
          <a:prstGeom prst="rect">
            <a:avLst/>
          </a:prstGeom>
          <a:noFill/>
          <a:ln/>
        </p:spPr>
        <p:txBody>
          <a:bodyPr wrap="square" lIns="0" tIns="0" rIns="0" bIns="0" rtlCol="0" anchor="ctr"/>
          <a:lstStyle/>
          <a:p>
            <a:pPr marL="0" indent="0">
              <a:buNone/>
            </a:pPr>
            <a:r>
              <a:rPr lang="en-US" sz="2400" b="1" dirty="0">
                <a:solidFill>
                  <a:srgbClr val="0E9E80"/>
                </a:solidFill>
                <a:latin typeface="Cambria" pitchFamily="34" charset="0"/>
                <a:ea typeface="Cambria" pitchFamily="34" charset="-122"/>
                <a:cs typeface="Cambria" pitchFamily="34" charset="-120"/>
              </a:rPr>
              <a:t>1</a:t>
            </a:r>
            <a:endParaRPr lang="en-US" sz="2400" dirty="0"/>
          </a:p>
        </p:txBody>
      </p:sp>
      <p:sp>
        <p:nvSpPr>
          <p:cNvPr id="18" name="Text 15"/>
          <p:cNvSpPr/>
          <p:nvPr/>
        </p:nvSpPr>
        <p:spPr>
          <a:xfrm>
            <a:off x="9326880" y="5221224"/>
            <a:ext cx="2133295" cy="713232"/>
          </a:xfrm>
          <a:prstGeom prst="rect">
            <a:avLst/>
          </a:prstGeom>
          <a:noFill/>
          <a:ln/>
        </p:spPr>
        <p:txBody>
          <a:bodyPr wrap="square" lIns="0" tIns="0" rIns="0" bIns="0" rtlCol="0" anchor="ctr"/>
          <a:lstStyle/>
          <a:p>
            <a:pPr marL="0" indent="0">
              <a:lnSpc>
                <a:spcPct val="100000"/>
              </a:lnSpc>
              <a:buNone/>
            </a:pPr>
            <a:r>
              <a:rPr lang="en-US" sz="1100" dirty="0">
                <a:solidFill>
                  <a:srgbClr val="5D6B8C"/>
                </a:solidFill>
                <a:latin typeface="Calibri" pitchFamily="34" charset="0"/>
                <a:ea typeface="Calibri" pitchFamily="34" charset="-122"/>
                <a:cs typeface="Calibri" pitchFamily="34" charset="-120"/>
              </a:rPr>
              <a:t>unified trace, metric surface &amp; audit trail</a:t>
            </a:r>
            <a:endParaRPr lang="en-US" sz="1100" dirty="0"/>
          </a:p>
        </p:txBody>
      </p:sp>
      <p:sp>
        <p:nvSpPr>
          <p:cNvPr id="19" name="Text 16"/>
          <p:cNvSpPr/>
          <p:nvPr/>
        </p:nvSpPr>
        <p:spPr>
          <a:xfrm>
            <a:off x="640080" y="6172200"/>
            <a:ext cx="10972800" cy="320040"/>
          </a:xfrm>
          <a:prstGeom prst="rect">
            <a:avLst/>
          </a:prstGeom>
          <a:noFill/>
          <a:ln/>
        </p:spPr>
        <p:txBody>
          <a:bodyPr wrap="square" lIns="0" tIns="0" rIns="0" bIns="0" rtlCol="0" anchor="ctr"/>
          <a:lstStyle/>
          <a:p>
            <a:pPr marL="0" indent="0">
              <a:buNone/>
            </a:pPr>
            <a:r>
              <a:rPr lang="en-US" sz="1200" i="1" dirty="0">
                <a:solidFill>
                  <a:srgbClr val="5D6B8C"/>
                </a:solidFill>
                <a:latin typeface="Calibri" pitchFamily="34" charset="0"/>
                <a:ea typeface="Calibri" pitchFamily="34" charset="-122"/>
                <a:cs typeface="Calibri" pitchFamily="34" charset="-120"/>
              </a:rPr>
              <a:t>Same use case, two data sources, identical metrics surface — feasibility is demonstrated, not asserted.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THE ECONOMICS</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Lower cost to build, far lower cost to run</a:t>
            </a:r>
            <a:endParaRPr lang="en-US" sz="3000" dirty="0"/>
          </a:p>
        </p:txBody>
      </p:sp>
      <p:sp>
        <p:nvSpPr>
          <p:cNvPr id="5" name="Text 3"/>
          <p:cNvSpPr/>
          <p:nvPr/>
        </p:nvSpPr>
        <p:spPr>
          <a:xfrm>
            <a:off x="640080" y="1600200"/>
            <a:ext cx="10911535" cy="502920"/>
          </a:xfrm>
          <a:prstGeom prst="rect">
            <a:avLst/>
          </a:prstGeom>
          <a:noFill/>
          <a:ln/>
        </p:spPr>
        <p:txBody>
          <a:bodyPr wrap="square" lIns="0" tIns="0" rIns="0" bIns="0" rtlCol="0" anchor="ctr"/>
          <a:lstStyle/>
          <a:p>
            <a:pPr marL="0" indent="0">
              <a:buNone/>
            </a:pPr>
            <a:r>
              <a:rPr lang="en-US" sz="1400" dirty="0">
                <a:solidFill>
                  <a:srgbClr val="5D6B8C"/>
                </a:solidFill>
                <a:latin typeface="Calibri" pitchFamily="34" charset="0"/>
                <a:ea typeface="Calibri" pitchFamily="34" charset="-122"/>
                <a:cs typeface="Calibri" pitchFamily="34" charset="-120"/>
              </a:rPr>
              <a:t>Modeled for a 10-capability estate at a blended $90/hr (editable in the demo's ROI tab). Build and run scale with tool packs, not agents.</a:t>
            </a:r>
            <a:endParaRPr lang="en-US" sz="1400" dirty="0"/>
          </a:p>
        </p:txBody>
      </p:sp>
      <p:graphicFrame>
        <p:nvGraphicFramePr>
          <p:cNvPr id="6" name="Chart 0"/>
          <p:cNvGraphicFramePr/>
          <p:nvPr/>
        </p:nvGraphicFramePr>
        <p:xfrm>
          <a:off x="640080" y="2286000"/>
          <a:ext cx="67665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589520" y="2286000"/>
            <a:ext cx="1816456" cy="1691640"/>
          </a:xfrm>
          <a:prstGeom prst="roundRect">
            <a:avLst>
              <a:gd name="adj" fmla="val 4865"/>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8" name="Text 5"/>
          <p:cNvSpPr/>
          <p:nvPr/>
        </p:nvSpPr>
        <p:spPr>
          <a:xfrm>
            <a:off x="7818120" y="2560320"/>
            <a:ext cx="1359256" cy="777240"/>
          </a:xfrm>
          <a:prstGeom prst="rect">
            <a:avLst/>
          </a:prstGeom>
          <a:noFill/>
          <a:ln/>
        </p:spPr>
        <p:txBody>
          <a:bodyPr wrap="square" lIns="0" tIns="0" rIns="0" bIns="0" rtlCol="0" anchor="ctr"/>
          <a:lstStyle/>
          <a:p>
            <a:pPr marL="0" indent="0">
              <a:buNone/>
            </a:pPr>
            <a:r>
              <a:rPr lang="en-US" sz="3400" b="1" dirty="0">
                <a:solidFill>
                  <a:srgbClr val="0E9E80"/>
                </a:solidFill>
                <a:latin typeface="Cambria" pitchFamily="34" charset="0"/>
                <a:ea typeface="Cambria" pitchFamily="34" charset="-122"/>
                <a:cs typeface="Cambria" pitchFamily="34" charset="-120"/>
              </a:rPr>
              <a:t>$3.6M</a:t>
            </a:r>
            <a:endParaRPr lang="en-US" sz="3400" dirty="0"/>
          </a:p>
        </p:txBody>
      </p:sp>
      <p:sp>
        <p:nvSpPr>
          <p:cNvPr id="9" name="Text 6"/>
          <p:cNvSpPr/>
          <p:nvPr/>
        </p:nvSpPr>
        <p:spPr>
          <a:xfrm>
            <a:off x="7818120" y="3337560"/>
            <a:ext cx="1359256" cy="548640"/>
          </a:xfrm>
          <a:prstGeom prst="rect">
            <a:avLst/>
          </a:prstGeom>
          <a:noFill/>
          <a:ln/>
        </p:spPr>
        <p:txBody>
          <a:bodyPr wrap="square" lIns="0" tIns="0" rIns="0" bIns="0" rtlCol="0" anchor="ctr"/>
          <a:lstStyle/>
          <a:p>
            <a:pPr marL="0" indent="0">
              <a:lnSpc>
                <a:spcPct val="100000"/>
              </a:lnSpc>
              <a:buNone/>
            </a:pPr>
            <a:r>
              <a:rPr lang="en-US" sz="1150" dirty="0">
                <a:solidFill>
                  <a:srgbClr val="5D6B8C"/>
                </a:solidFill>
                <a:latin typeface="Calibri" pitchFamily="34" charset="0"/>
                <a:ea typeface="Calibri" pitchFamily="34" charset="-122"/>
                <a:cs typeface="Calibri" pitchFamily="34" charset="-120"/>
              </a:rPr>
              <a:t>3-year savings (Gen-1 → UNAI)</a:t>
            </a:r>
            <a:endParaRPr lang="en-US" sz="1150" dirty="0"/>
          </a:p>
        </p:txBody>
      </p:sp>
      <p:sp>
        <p:nvSpPr>
          <p:cNvPr id="10" name="Shape 7"/>
          <p:cNvSpPr/>
          <p:nvPr/>
        </p:nvSpPr>
        <p:spPr>
          <a:xfrm>
            <a:off x="9570568" y="2286000"/>
            <a:ext cx="1816456" cy="1691640"/>
          </a:xfrm>
          <a:prstGeom prst="roundRect">
            <a:avLst>
              <a:gd name="adj" fmla="val 4865"/>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1" name="Text 8"/>
          <p:cNvSpPr/>
          <p:nvPr/>
        </p:nvSpPr>
        <p:spPr>
          <a:xfrm>
            <a:off x="9799168" y="2560320"/>
            <a:ext cx="1359256" cy="777240"/>
          </a:xfrm>
          <a:prstGeom prst="rect">
            <a:avLst/>
          </a:prstGeom>
          <a:noFill/>
          <a:ln/>
        </p:spPr>
        <p:txBody>
          <a:bodyPr wrap="square" lIns="0" tIns="0" rIns="0" bIns="0" rtlCol="0" anchor="ctr"/>
          <a:lstStyle/>
          <a:p>
            <a:pPr marL="0" indent="0">
              <a:buNone/>
            </a:pPr>
            <a:r>
              <a:rPr lang="en-US" sz="3400" b="1" dirty="0">
                <a:solidFill>
                  <a:srgbClr val="0E9E80"/>
                </a:solidFill>
                <a:latin typeface="Cambria" pitchFamily="34" charset="0"/>
                <a:ea typeface="Cambria" pitchFamily="34" charset="-122"/>
                <a:cs typeface="Cambria" pitchFamily="34" charset="-120"/>
              </a:rPr>
              <a:t>~4 mo</a:t>
            </a:r>
            <a:endParaRPr lang="en-US" sz="3400" dirty="0"/>
          </a:p>
        </p:txBody>
      </p:sp>
      <p:sp>
        <p:nvSpPr>
          <p:cNvPr id="12" name="Text 9"/>
          <p:cNvSpPr/>
          <p:nvPr/>
        </p:nvSpPr>
        <p:spPr>
          <a:xfrm>
            <a:off x="9799168" y="3337560"/>
            <a:ext cx="1359256" cy="548640"/>
          </a:xfrm>
          <a:prstGeom prst="rect">
            <a:avLst/>
          </a:prstGeom>
          <a:noFill/>
          <a:ln/>
        </p:spPr>
        <p:txBody>
          <a:bodyPr wrap="square" lIns="0" tIns="0" rIns="0" bIns="0" rtlCol="0" anchor="ctr"/>
          <a:lstStyle/>
          <a:p>
            <a:pPr marL="0" indent="0">
              <a:lnSpc>
                <a:spcPct val="100000"/>
              </a:lnSpc>
              <a:buNone/>
            </a:pPr>
            <a:r>
              <a:rPr lang="en-US" sz="1150" dirty="0">
                <a:solidFill>
                  <a:srgbClr val="5D6B8C"/>
                </a:solidFill>
                <a:latin typeface="Calibri" pitchFamily="34" charset="0"/>
                <a:ea typeface="Calibri" pitchFamily="34" charset="-122"/>
                <a:cs typeface="Calibri" pitchFamily="34" charset="-120"/>
              </a:rPr>
              <a:t>payback on migration</a:t>
            </a:r>
            <a:endParaRPr lang="en-US" sz="1150" dirty="0"/>
          </a:p>
        </p:txBody>
      </p:sp>
      <p:sp>
        <p:nvSpPr>
          <p:cNvPr id="13" name="Shape 10"/>
          <p:cNvSpPr/>
          <p:nvPr/>
        </p:nvSpPr>
        <p:spPr>
          <a:xfrm>
            <a:off x="7589520" y="4160520"/>
            <a:ext cx="1816456" cy="1691640"/>
          </a:xfrm>
          <a:prstGeom prst="roundRect">
            <a:avLst>
              <a:gd name="adj" fmla="val 4865"/>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4" name="Text 11"/>
          <p:cNvSpPr/>
          <p:nvPr/>
        </p:nvSpPr>
        <p:spPr>
          <a:xfrm>
            <a:off x="7818120" y="4434840"/>
            <a:ext cx="1359256" cy="777240"/>
          </a:xfrm>
          <a:prstGeom prst="rect">
            <a:avLst/>
          </a:prstGeom>
          <a:noFill/>
          <a:ln/>
        </p:spPr>
        <p:txBody>
          <a:bodyPr wrap="square" lIns="0" tIns="0" rIns="0" bIns="0" rtlCol="0" anchor="ctr"/>
          <a:lstStyle/>
          <a:p>
            <a:pPr marL="0" indent="0">
              <a:buNone/>
            </a:pPr>
            <a:r>
              <a:rPr lang="en-US" sz="3400" b="1" dirty="0">
                <a:solidFill>
                  <a:srgbClr val="0E9E80"/>
                </a:solidFill>
                <a:latin typeface="Cambria" pitchFamily="34" charset="0"/>
                <a:ea typeface="Cambria" pitchFamily="34" charset="-122"/>
                <a:cs typeface="Cambria" pitchFamily="34" charset="-120"/>
              </a:rPr>
              <a:t>≈80%</a:t>
            </a:r>
            <a:endParaRPr lang="en-US" sz="3400" dirty="0"/>
          </a:p>
        </p:txBody>
      </p:sp>
      <p:sp>
        <p:nvSpPr>
          <p:cNvPr id="15" name="Text 12"/>
          <p:cNvSpPr/>
          <p:nvPr/>
        </p:nvSpPr>
        <p:spPr>
          <a:xfrm>
            <a:off x="7818120" y="5212080"/>
            <a:ext cx="1359256" cy="548640"/>
          </a:xfrm>
          <a:prstGeom prst="rect">
            <a:avLst/>
          </a:prstGeom>
          <a:noFill/>
          <a:ln/>
        </p:spPr>
        <p:txBody>
          <a:bodyPr wrap="square" lIns="0" tIns="0" rIns="0" bIns="0" rtlCol="0" anchor="ctr"/>
          <a:lstStyle/>
          <a:p>
            <a:pPr marL="0" indent="0">
              <a:lnSpc>
                <a:spcPct val="100000"/>
              </a:lnSpc>
              <a:buNone/>
            </a:pPr>
            <a:r>
              <a:rPr lang="en-US" sz="1150" dirty="0">
                <a:solidFill>
                  <a:srgbClr val="5D6B8C"/>
                </a:solidFill>
                <a:latin typeface="Calibri" pitchFamily="34" charset="0"/>
                <a:ea typeface="Calibri" pitchFamily="34" charset="-122"/>
                <a:cs typeface="Calibri" pitchFamily="34" charset="-120"/>
              </a:rPr>
              <a:t>fewer layer implementations</a:t>
            </a:r>
            <a:endParaRPr lang="en-US" sz="1150" dirty="0"/>
          </a:p>
        </p:txBody>
      </p:sp>
      <p:sp>
        <p:nvSpPr>
          <p:cNvPr id="16" name="Shape 13"/>
          <p:cNvSpPr/>
          <p:nvPr/>
        </p:nvSpPr>
        <p:spPr>
          <a:xfrm>
            <a:off x="9570568" y="4160520"/>
            <a:ext cx="1816456" cy="1691640"/>
          </a:xfrm>
          <a:prstGeom prst="roundRect">
            <a:avLst>
              <a:gd name="adj" fmla="val 4865"/>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7" name="Text 14"/>
          <p:cNvSpPr/>
          <p:nvPr/>
        </p:nvSpPr>
        <p:spPr>
          <a:xfrm>
            <a:off x="9799168" y="4434840"/>
            <a:ext cx="1359256" cy="777240"/>
          </a:xfrm>
          <a:prstGeom prst="rect">
            <a:avLst/>
          </a:prstGeom>
          <a:noFill/>
          <a:ln/>
        </p:spPr>
        <p:txBody>
          <a:bodyPr wrap="square" lIns="0" tIns="0" rIns="0" bIns="0" rtlCol="0" anchor="ctr"/>
          <a:lstStyle/>
          <a:p>
            <a:pPr marL="0" indent="0">
              <a:buNone/>
            </a:pPr>
            <a:r>
              <a:rPr lang="en-US" sz="3400" b="1" dirty="0">
                <a:solidFill>
                  <a:srgbClr val="0E9E80"/>
                </a:solidFill>
                <a:latin typeface="Cambria" pitchFamily="34" charset="0"/>
                <a:ea typeface="Cambria" pitchFamily="34" charset="-122"/>
                <a:cs typeface="Cambria" pitchFamily="34" charset="-120"/>
              </a:rPr>
              <a:t>$0.9M</a:t>
            </a:r>
            <a:endParaRPr lang="en-US" sz="3400" dirty="0"/>
          </a:p>
        </p:txBody>
      </p:sp>
      <p:sp>
        <p:nvSpPr>
          <p:cNvPr id="18" name="Text 15"/>
          <p:cNvSpPr/>
          <p:nvPr/>
        </p:nvSpPr>
        <p:spPr>
          <a:xfrm>
            <a:off x="9799168" y="5212080"/>
            <a:ext cx="1359256" cy="548640"/>
          </a:xfrm>
          <a:prstGeom prst="rect">
            <a:avLst/>
          </a:prstGeom>
          <a:noFill/>
          <a:ln/>
        </p:spPr>
        <p:txBody>
          <a:bodyPr wrap="square" lIns="0" tIns="0" rIns="0" bIns="0" rtlCol="0" anchor="ctr"/>
          <a:lstStyle/>
          <a:p>
            <a:pPr marL="0" indent="0">
              <a:lnSpc>
                <a:spcPct val="100000"/>
              </a:lnSpc>
              <a:buNone/>
            </a:pPr>
            <a:r>
              <a:rPr lang="en-US" sz="1150" dirty="0">
                <a:solidFill>
                  <a:srgbClr val="5D6B8C"/>
                </a:solidFill>
                <a:latin typeface="Calibri" pitchFamily="34" charset="0"/>
                <a:ea typeface="Calibri" pitchFamily="34" charset="-122"/>
                <a:cs typeface="Calibri" pitchFamily="34" charset="-120"/>
              </a:rPr>
              <a:t>3-yr TCO vs $4.5M for Gen-1</a:t>
            </a:r>
            <a:endParaRPr lang="en-US" sz="1150" dirty="0"/>
          </a:p>
        </p:txBody>
      </p:sp>
      <p:sp>
        <p:nvSpPr>
          <p:cNvPr id="19" name="Text 16"/>
          <p:cNvSpPr/>
          <p:nvPr/>
        </p:nvSpPr>
        <p:spPr>
          <a:xfrm>
            <a:off x="640080" y="6172200"/>
            <a:ext cx="10972800" cy="365760"/>
          </a:xfrm>
          <a:prstGeom prst="rect">
            <a:avLst/>
          </a:prstGeom>
          <a:noFill/>
          <a:ln/>
        </p:spPr>
        <p:txBody>
          <a:bodyPr wrap="square" lIns="0" tIns="0" rIns="0" bIns="0" rtlCol="0" anchor="ctr"/>
          <a:lstStyle/>
          <a:p>
            <a:pPr marL="0" indent="0">
              <a:buNone/>
            </a:pPr>
            <a:r>
              <a:rPr lang="en-US" sz="1100" i="1" dirty="0">
                <a:solidFill>
                  <a:srgbClr val="5D6B8C"/>
                </a:solidFill>
                <a:latin typeface="Calibri" pitchFamily="34" charset="0"/>
                <a:ea typeface="Calibri" pitchFamily="34" charset="-122"/>
                <a:cs typeface="Calibri" pitchFamily="34" charset="-120"/>
              </a:rPr>
              <a:t>Modeled (IT build &amp; run economics). Business value — avoided stock-outs, freed working capital, faster time-to-value — sits on top and is typically several times larger.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VALUE BEYOND IT COST</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Where the larger returns come from</a:t>
            </a:r>
            <a:endParaRPr lang="en-US" sz="3000" dirty="0"/>
          </a:p>
        </p:txBody>
      </p:sp>
      <p:sp>
        <p:nvSpPr>
          <p:cNvPr id="5" name="Shape 3"/>
          <p:cNvSpPr/>
          <p:nvPr/>
        </p:nvSpPr>
        <p:spPr>
          <a:xfrm>
            <a:off x="640080" y="2011680"/>
            <a:ext cx="3423818" cy="1828800"/>
          </a:xfrm>
          <a:prstGeom prst="roundRect">
            <a:avLst>
              <a:gd name="adj" fmla="val 4500"/>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6" name="Shape 4"/>
          <p:cNvSpPr/>
          <p:nvPr/>
        </p:nvSpPr>
        <p:spPr>
          <a:xfrm>
            <a:off x="914400" y="2286000"/>
            <a:ext cx="411480" cy="411480"/>
          </a:xfrm>
          <a:prstGeom prst="ellipse">
            <a:avLst/>
          </a:prstGeom>
          <a:solidFill>
            <a:srgbClr val="EAFBF5"/>
          </a:solidFill>
          <a:ln/>
        </p:spPr>
        <p:txBody>
          <a:bodyPr/>
          <a:lstStyle/>
          <a:p>
            <a:endParaRPr/>
          </a:p>
        </p:txBody>
      </p:sp>
      <p:sp>
        <p:nvSpPr>
          <p:cNvPr id="7" name="Shape 5"/>
          <p:cNvSpPr/>
          <p:nvPr/>
        </p:nvSpPr>
        <p:spPr>
          <a:xfrm>
            <a:off x="1024128" y="2395728"/>
            <a:ext cx="192024" cy="192024"/>
          </a:xfrm>
          <a:prstGeom prst="ellipse">
            <a:avLst/>
          </a:prstGeom>
          <a:solidFill>
            <a:srgbClr val="22D3AA"/>
          </a:solidFill>
          <a:ln/>
        </p:spPr>
        <p:txBody>
          <a:bodyPr/>
          <a:lstStyle/>
          <a:p>
            <a:endParaRPr/>
          </a:p>
        </p:txBody>
      </p:sp>
      <p:sp>
        <p:nvSpPr>
          <p:cNvPr id="8" name="Text 6"/>
          <p:cNvSpPr/>
          <p:nvPr/>
        </p:nvSpPr>
        <p:spPr>
          <a:xfrm>
            <a:off x="1463040" y="2249424"/>
            <a:ext cx="2417978" cy="50292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Faster time-to-value</a:t>
            </a:r>
            <a:endParaRPr lang="en-US" sz="1500" dirty="0"/>
          </a:p>
        </p:txBody>
      </p:sp>
      <p:sp>
        <p:nvSpPr>
          <p:cNvPr id="9" name="Text 7"/>
          <p:cNvSpPr/>
          <p:nvPr/>
        </p:nvSpPr>
        <p:spPr>
          <a:xfrm>
            <a:off x="914400" y="2852928"/>
            <a:ext cx="2875178" cy="914400"/>
          </a:xfrm>
          <a:prstGeom prst="rect">
            <a:avLst/>
          </a:prstGeom>
          <a:noFill/>
          <a:ln/>
        </p:spPr>
        <p:txBody>
          <a:bodyPr wrap="square" lIns="0" tIns="0" rIns="0" bIns="0" rtlCol="0" anchor="ctr"/>
          <a:lstStyle/>
          <a:p>
            <a:pPr marL="0" indent="0">
              <a:lnSpc>
                <a:spcPct val="104000"/>
              </a:lnSpc>
              <a:buNone/>
            </a:pPr>
            <a:r>
              <a:rPr lang="en-US" sz="1150" dirty="0">
                <a:solidFill>
                  <a:srgbClr val="5D6B8C"/>
                </a:solidFill>
                <a:latin typeface="Calibri" pitchFamily="34" charset="0"/>
                <a:ea typeface="Calibri" pitchFamily="34" charset="-122"/>
                <a:cs typeface="Calibri" pitchFamily="34" charset="-120"/>
              </a:rPr>
              <a:t>New ERP onboarding drops from weeks to days; a new capability ships as configuration, not a project.</a:t>
            </a:r>
            <a:endParaRPr lang="en-US" sz="1150" dirty="0"/>
          </a:p>
        </p:txBody>
      </p:sp>
      <p:sp>
        <p:nvSpPr>
          <p:cNvPr id="10" name="Shape 8"/>
          <p:cNvSpPr/>
          <p:nvPr/>
        </p:nvSpPr>
        <p:spPr>
          <a:xfrm>
            <a:off x="4383938" y="2011680"/>
            <a:ext cx="3423818" cy="1828800"/>
          </a:xfrm>
          <a:prstGeom prst="roundRect">
            <a:avLst>
              <a:gd name="adj" fmla="val 4500"/>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1" name="Shape 9"/>
          <p:cNvSpPr/>
          <p:nvPr/>
        </p:nvSpPr>
        <p:spPr>
          <a:xfrm>
            <a:off x="4658258" y="2286000"/>
            <a:ext cx="411480" cy="411480"/>
          </a:xfrm>
          <a:prstGeom prst="ellipse">
            <a:avLst/>
          </a:prstGeom>
          <a:solidFill>
            <a:srgbClr val="EAFBF5"/>
          </a:solidFill>
          <a:ln/>
        </p:spPr>
        <p:txBody>
          <a:bodyPr/>
          <a:lstStyle/>
          <a:p>
            <a:endParaRPr/>
          </a:p>
        </p:txBody>
      </p:sp>
      <p:sp>
        <p:nvSpPr>
          <p:cNvPr id="12" name="Shape 10"/>
          <p:cNvSpPr/>
          <p:nvPr/>
        </p:nvSpPr>
        <p:spPr>
          <a:xfrm>
            <a:off x="4767986" y="2395728"/>
            <a:ext cx="192024" cy="192024"/>
          </a:xfrm>
          <a:prstGeom prst="ellipse">
            <a:avLst/>
          </a:prstGeom>
          <a:solidFill>
            <a:srgbClr val="22D3AA"/>
          </a:solidFill>
          <a:ln/>
        </p:spPr>
        <p:txBody>
          <a:bodyPr/>
          <a:lstStyle/>
          <a:p>
            <a:endParaRPr/>
          </a:p>
        </p:txBody>
      </p:sp>
      <p:sp>
        <p:nvSpPr>
          <p:cNvPr id="13" name="Text 11"/>
          <p:cNvSpPr/>
          <p:nvPr/>
        </p:nvSpPr>
        <p:spPr>
          <a:xfrm>
            <a:off x="5206898" y="2249424"/>
            <a:ext cx="2417978" cy="50292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Working-capital release</a:t>
            </a:r>
            <a:endParaRPr lang="en-US" sz="1500" dirty="0"/>
          </a:p>
        </p:txBody>
      </p:sp>
      <p:sp>
        <p:nvSpPr>
          <p:cNvPr id="14" name="Text 12"/>
          <p:cNvSpPr/>
          <p:nvPr/>
        </p:nvSpPr>
        <p:spPr>
          <a:xfrm>
            <a:off x="4658258" y="2852928"/>
            <a:ext cx="2875178" cy="914400"/>
          </a:xfrm>
          <a:prstGeom prst="rect">
            <a:avLst/>
          </a:prstGeom>
          <a:noFill/>
          <a:ln/>
        </p:spPr>
        <p:txBody>
          <a:bodyPr wrap="square" lIns="0" tIns="0" rIns="0" bIns="0" rtlCol="0" anchor="ctr"/>
          <a:lstStyle/>
          <a:p>
            <a:pPr marL="0" indent="0">
              <a:lnSpc>
                <a:spcPct val="104000"/>
              </a:lnSpc>
              <a:buNone/>
            </a:pPr>
            <a:r>
              <a:rPr lang="en-US" sz="1150" dirty="0">
                <a:solidFill>
                  <a:srgbClr val="5D6B8C"/>
                </a:solidFill>
                <a:latin typeface="Calibri" pitchFamily="34" charset="0"/>
                <a:ea typeface="Calibri" pitchFamily="34" charset="-122"/>
                <a:cs typeface="Calibri" pitchFamily="34" charset="-120"/>
              </a:rPr>
              <a:t>Multi-echelon optimization and buy-vs-refurb netting free cash tied up in safety stock and spares.</a:t>
            </a:r>
            <a:endParaRPr lang="en-US" sz="1150" dirty="0"/>
          </a:p>
        </p:txBody>
      </p:sp>
      <p:sp>
        <p:nvSpPr>
          <p:cNvPr id="15" name="Shape 13"/>
          <p:cNvSpPr/>
          <p:nvPr/>
        </p:nvSpPr>
        <p:spPr>
          <a:xfrm>
            <a:off x="8127797" y="2011680"/>
            <a:ext cx="3423818" cy="1828800"/>
          </a:xfrm>
          <a:prstGeom prst="roundRect">
            <a:avLst>
              <a:gd name="adj" fmla="val 4500"/>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6" name="Shape 14"/>
          <p:cNvSpPr/>
          <p:nvPr/>
        </p:nvSpPr>
        <p:spPr>
          <a:xfrm>
            <a:off x="8402117" y="2286000"/>
            <a:ext cx="411480" cy="411480"/>
          </a:xfrm>
          <a:prstGeom prst="ellipse">
            <a:avLst/>
          </a:prstGeom>
          <a:solidFill>
            <a:srgbClr val="EAFBF5"/>
          </a:solidFill>
          <a:ln/>
        </p:spPr>
        <p:txBody>
          <a:bodyPr/>
          <a:lstStyle/>
          <a:p>
            <a:endParaRPr/>
          </a:p>
        </p:txBody>
      </p:sp>
      <p:sp>
        <p:nvSpPr>
          <p:cNvPr id="17" name="Shape 15"/>
          <p:cNvSpPr/>
          <p:nvPr/>
        </p:nvSpPr>
        <p:spPr>
          <a:xfrm>
            <a:off x="8511845" y="2395728"/>
            <a:ext cx="192024" cy="192024"/>
          </a:xfrm>
          <a:prstGeom prst="ellipse">
            <a:avLst/>
          </a:prstGeom>
          <a:solidFill>
            <a:srgbClr val="22D3AA"/>
          </a:solidFill>
          <a:ln/>
        </p:spPr>
        <p:txBody>
          <a:bodyPr/>
          <a:lstStyle/>
          <a:p>
            <a:endParaRPr/>
          </a:p>
        </p:txBody>
      </p:sp>
      <p:sp>
        <p:nvSpPr>
          <p:cNvPr id="18" name="Text 16"/>
          <p:cNvSpPr/>
          <p:nvPr/>
        </p:nvSpPr>
        <p:spPr>
          <a:xfrm>
            <a:off x="8950757" y="2249424"/>
            <a:ext cx="2417978" cy="50292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Service &amp; uptime</a:t>
            </a:r>
            <a:endParaRPr lang="en-US" sz="1500" dirty="0"/>
          </a:p>
        </p:txBody>
      </p:sp>
      <p:sp>
        <p:nvSpPr>
          <p:cNvPr id="19" name="Text 17"/>
          <p:cNvSpPr/>
          <p:nvPr/>
        </p:nvSpPr>
        <p:spPr>
          <a:xfrm>
            <a:off x="8402117" y="2852928"/>
            <a:ext cx="2875178" cy="914400"/>
          </a:xfrm>
          <a:prstGeom prst="rect">
            <a:avLst/>
          </a:prstGeom>
          <a:noFill/>
          <a:ln/>
        </p:spPr>
        <p:txBody>
          <a:bodyPr wrap="square" lIns="0" tIns="0" rIns="0" bIns="0" rtlCol="0" anchor="ctr"/>
          <a:lstStyle/>
          <a:p>
            <a:pPr marL="0" indent="0">
              <a:lnSpc>
                <a:spcPct val="104000"/>
              </a:lnSpc>
              <a:buNone/>
            </a:pPr>
            <a:r>
              <a:rPr lang="en-US" sz="1150" dirty="0">
                <a:solidFill>
                  <a:srgbClr val="5D6B8C"/>
                </a:solidFill>
                <a:latin typeface="Calibri" pitchFamily="34" charset="0"/>
                <a:ea typeface="Calibri" pitchFamily="34" charset="-122"/>
                <a:cs typeface="Calibri" pitchFamily="34" charset="-120"/>
              </a:rPr>
              <a:t>Faster disruption response and RMA turnaround lift fill rates and mean-time-to-restore.</a:t>
            </a:r>
            <a:endParaRPr lang="en-US" sz="1150" dirty="0"/>
          </a:p>
        </p:txBody>
      </p:sp>
      <p:sp>
        <p:nvSpPr>
          <p:cNvPr id="20" name="Shape 18"/>
          <p:cNvSpPr/>
          <p:nvPr/>
        </p:nvSpPr>
        <p:spPr>
          <a:xfrm>
            <a:off x="640080" y="4114800"/>
            <a:ext cx="3423818" cy="1828800"/>
          </a:xfrm>
          <a:prstGeom prst="roundRect">
            <a:avLst>
              <a:gd name="adj" fmla="val 4500"/>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1" name="Shape 19"/>
          <p:cNvSpPr/>
          <p:nvPr/>
        </p:nvSpPr>
        <p:spPr>
          <a:xfrm>
            <a:off x="914400" y="4389120"/>
            <a:ext cx="411480" cy="411480"/>
          </a:xfrm>
          <a:prstGeom prst="ellipse">
            <a:avLst/>
          </a:prstGeom>
          <a:solidFill>
            <a:srgbClr val="EAFBF5"/>
          </a:solidFill>
          <a:ln/>
        </p:spPr>
        <p:txBody>
          <a:bodyPr/>
          <a:lstStyle/>
          <a:p>
            <a:endParaRPr/>
          </a:p>
        </p:txBody>
      </p:sp>
      <p:sp>
        <p:nvSpPr>
          <p:cNvPr id="22" name="Shape 20"/>
          <p:cNvSpPr/>
          <p:nvPr/>
        </p:nvSpPr>
        <p:spPr>
          <a:xfrm>
            <a:off x="1024128" y="4498848"/>
            <a:ext cx="192024" cy="192024"/>
          </a:xfrm>
          <a:prstGeom prst="ellipse">
            <a:avLst/>
          </a:prstGeom>
          <a:solidFill>
            <a:srgbClr val="22D3AA"/>
          </a:solidFill>
          <a:ln/>
        </p:spPr>
        <p:txBody>
          <a:bodyPr/>
          <a:lstStyle/>
          <a:p>
            <a:endParaRPr/>
          </a:p>
        </p:txBody>
      </p:sp>
      <p:sp>
        <p:nvSpPr>
          <p:cNvPr id="23" name="Text 21"/>
          <p:cNvSpPr/>
          <p:nvPr/>
        </p:nvSpPr>
        <p:spPr>
          <a:xfrm>
            <a:off x="1463040" y="4352544"/>
            <a:ext cx="2417978" cy="50292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Governance &amp; compliance</a:t>
            </a:r>
            <a:endParaRPr lang="en-US" sz="1500" dirty="0"/>
          </a:p>
        </p:txBody>
      </p:sp>
      <p:sp>
        <p:nvSpPr>
          <p:cNvPr id="24" name="Text 22"/>
          <p:cNvSpPr/>
          <p:nvPr/>
        </p:nvSpPr>
        <p:spPr>
          <a:xfrm>
            <a:off x="914400" y="4956048"/>
            <a:ext cx="2875178" cy="914400"/>
          </a:xfrm>
          <a:prstGeom prst="rect">
            <a:avLst/>
          </a:prstGeom>
          <a:noFill/>
          <a:ln/>
        </p:spPr>
        <p:txBody>
          <a:bodyPr wrap="square" lIns="0" tIns="0" rIns="0" bIns="0" rtlCol="0" anchor="ctr"/>
          <a:lstStyle/>
          <a:p>
            <a:pPr marL="0" indent="0">
              <a:lnSpc>
                <a:spcPct val="104000"/>
              </a:lnSpc>
              <a:buNone/>
            </a:pPr>
            <a:r>
              <a:rPr lang="en-US" sz="1150" dirty="0">
                <a:solidFill>
                  <a:srgbClr val="5D6B8C"/>
                </a:solidFill>
                <a:latin typeface="Calibri" pitchFamily="34" charset="0"/>
                <a:ea typeface="Calibri" pitchFamily="34" charset="-122"/>
                <a:cs typeface="Calibri" pitchFamily="34" charset="-120"/>
              </a:rPr>
              <a:t>Uniform confidence/value gates and one audit trail lower oversight and audit cost; aligned to NIST AI RMF / EU AI Act.</a:t>
            </a:r>
            <a:endParaRPr lang="en-US" sz="1150" dirty="0"/>
          </a:p>
        </p:txBody>
      </p:sp>
      <p:sp>
        <p:nvSpPr>
          <p:cNvPr id="25" name="Shape 23"/>
          <p:cNvSpPr/>
          <p:nvPr/>
        </p:nvSpPr>
        <p:spPr>
          <a:xfrm>
            <a:off x="4383938" y="4114800"/>
            <a:ext cx="3423818" cy="1828800"/>
          </a:xfrm>
          <a:prstGeom prst="roundRect">
            <a:avLst>
              <a:gd name="adj" fmla="val 4500"/>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6" name="Shape 24"/>
          <p:cNvSpPr/>
          <p:nvPr/>
        </p:nvSpPr>
        <p:spPr>
          <a:xfrm>
            <a:off x="4658258" y="4389120"/>
            <a:ext cx="411480" cy="411480"/>
          </a:xfrm>
          <a:prstGeom prst="ellipse">
            <a:avLst/>
          </a:prstGeom>
          <a:solidFill>
            <a:srgbClr val="EAFBF5"/>
          </a:solidFill>
          <a:ln/>
        </p:spPr>
        <p:txBody>
          <a:bodyPr/>
          <a:lstStyle/>
          <a:p>
            <a:endParaRPr/>
          </a:p>
        </p:txBody>
      </p:sp>
      <p:sp>
        <p:nvSpPr>
          <p:cNvPr id="27" name="Shape 25"/>
          <p:cNvSpPr/>
          <p:nvPr/>
        </p:nvSpPr>
        <p:spPr>
          <a:xfrm>
            <a:off x="4767986" y="4498848"/>
            <a:ext cx="192024" cy="192024"/>
          </a:xfrm>
          <a:prstGeom prst="ellipse">
            <a:avLst/>
          </a:prstGeom>
          <a:solidFill>
            <a:srgbClr val="22D3AA"/>
          </a:solidFill>
          <a:ln/>
        </p:spPr>
        <p:txBody>
          <a:bodyPr/>
          <a:lstStyle/>
          <a:p>
            <a:endParaRPr/>
          </a:p>
        </p:txBody>
      </p:sp>
      <p:sp>
        <p:nvSpPr>
          <p:cNvPr id="28" name="Text 26"/>
          <p:cNvSpPr/>
          <p:nvPr/>
        </p:nvSpPr>
        <p:spPr>
          <a:xfrm>
            <a:off x="5206898" y="4352544"/>
            <a:ext cx="2417978" cy="50292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Data residency</a:t>
            </a:r>
            <a:endParaRPr lang="en-US" sz="1500" dirty="0"/>
          </a:p>
        </p:txBody>
      </p:sp>
      <p:sp>
        <p:nvSpPr>
          <p:cNvPr id="29" name="Text 27"/>
          <p:cNvSpPr/>
          <p:nvPr/>
        </p:nvSpPr>
        <p:spPr>
          <a:xfrm>
            <a:off x="4658258" y="4956048"/>
            <a:ext cx="2875178" cy="914400"/>
          </a:xfrm>
          <a:prstGeom prst="rect">
            <a:avLst/>
          </a:prstGeom>
          <a:noFill/>
          <a:ln/>
        </p:spPr>
        <p:txBody>
          <a:bodyPr wrap="square" lIns="0" tIns="0" rIns="0" bIns="0" rtlCol="0" anchor="ctr"/>
          <a:lstStyle/>
          <a:p>
            <a:pPr marL="0" indent="0">
              <a:lnSpc>
                <a:spcPct val="104000"/>
              </a:lnSpc>
              <a:buNone/>
            </a:pPr>
            <a:r>
              <a:rPr lang="en-US" sz="1150" dirty="0">
                <a:solidFill>
                  <a:srgbClr val="5D6B8C"/>
                </a:solidFill>
                <a:latin typeface="Calibri" pitchFamily="34" charset="0"/>
                <a:ea typeface="Calibri" pitchFamily="34" charset="-122"/>
                <a:cs typeface="Calibri" pitchFamily="34" charset="-120"/>
              </a:rPr>
              <a:t>Self-hostable open-weight models keep data in-perimeter — no per-cloud rebuild, no lock-in.</a:t>
            </a:r>
            <a:endParaRPr lang="en-US" sz="1150" dirty="0"/>
          </a:p>
        </p:txBody>
      </p:sp>
      <p:sp>
        <p:nvSpPr>
          <p:cNvPr id="30" name="Shape 28"/>
          <p:cNvSpPr/>
          <p:nvPr/>
        </p:nvSpPr>
        <p:spPr>
          <a:xfrm>
            <a:off x="8127797" y="4114800"/>
            <a:ext cx="3423818" cy="1828800"/>
          </a:xfrm>
          <a:prstGeom prst="roundRect">
            <a:avLst>
              <a:gd name="adj" fmla="val 4500"/>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31" name="Shape 29"/>
          <p:cNvSpPr/>
          <p:nvPr/>
        </p:nvSpPr>
        <p:spPr>
          <a:xfrm>
            <a:off x="8402117" y="4389120"/>
            <a:ext cx="411480" cy="411480"/>
          </a:xfrm>
          <a:prstGeom prst="ellipse">
            <a:avLst/>
          </a:prstGeom>
          <a:solidFill>
            <a:srgbClr val="EAFBF5"/>
          </a:solidFill>
          <a:ln/>
        </p:spPr>
        <p:txBody>
          <a:bodyPr/>
          <a:lstStyle/>
          <a:p>
            <a:endParaRPr/>
          </a:p>
        </p:txBody>
      </p:sp>
      <p:sp>
        <p:nvSpPr>
          <p:cNvPr id="32" name="Shape 30"/>
          <p:cNvSpPr/>
          <p:nvPr/>
        </p:nvSpPr>
        <p:spPr>
          <a:xfrm>
            <a:off x="8511845" y="4498848"/>
            <a:ext cx="192024" cy="192024"/>
          </a:xfrm>
          <a:prstGeom prst="ellipse">
            <a:avLst/>
          </a:prstGeom>
          <a:solidFill>
            <a:srgbClr val="22D3AA"/>
          </a:solidFill>
          <a:ln/>
        </p:spPr>
        <p:txBody>
          <a:bodyPr/>
          <a:lstStyle/>
          <a:p>
            <a:endParaRPr/>
          </a:p>
        </p:txBody>
      </p:sp>
      <p:sp>
        <p:nvSpPr>
          <p:cNvPr id="33" name="Text 31"/>
          <p:cNvSpPr/>
          <p:nvPr/>
        </p:nvSpPr>
        <p:spPr>
          <a:xfrm>
            <a:off x="8950757" y="4352544"/>
            <a:ext cx="2417978" cy="50292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Scalable economics</a:t>
            </a:r>
            <a:endParaRPr lang="en-US" sz="1500" dirty="0"/>
          </a:p>
        </p:txBody>
      </p:sp>
      <p:sp>
        <p:nvSpPr>
          <p:cNvPr id="34" name="Text 32"/>
          <p:cNvSpPr/>
          <p:nvPr/>
        </p:nvSpPr>
        <p:spPr>
          <a:xfrm>
            <a:off x="8402117" y="4956048"/>
            <a:ext cx="2875178" cy="914400"/>
          </a:xfrm>
          <a:prstGeom prst="rect">
            <a:avLst/>
          </a:prstGeom>
          <a:noFill/>
          <a:ln/>
        </p:spPr>
        <p:txBody>
          <a:bodyPr wrap="square" lIns="0" tIns="0" rIns="0" bIns="0" rtlCol="0" anchor="ctr"/>
          <a:lstStyle/>
          <a:p>
            <a:pPr marL="0" indent="0">
              <a:lnSpc>
                <a:spcPct val="104000"/>
              </a:lnSpc>
              <a:buNone/>
            </a:pPr>
            <a:r>
              <a:rPr lang="en-US" sz="1150" dirty="0">
                <a:solidFill>
                  <a:srgbClr val="5D6B8C"/>
                </a:solidFill>
                <a:latin typeface="Calibri" pitchFamily="34" charset="0"/>
                <a:ea typeface="Calibri" pitchFamily="34" charset="-122"/>
                <a:cs typeface="Calibri" pitchFamily="34" charset="-120"/>
              </a:rPr>
              <a:t>Each added use case reuses the substrate, so marginal cost falls as the portfolio grows.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POSITIONING</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Where UNAI fits versus the alternatives</a:t>
            </a:r>
            <a:endParaRPr lang="en-US" sz="3000" dirty="0"/>
          </a:p>
        </p:txBody>
      </p:sp>
      <p:sp>
        <p:nvSpPr>
          <p:cNvPr id="5" name="Shape 3"/>
          <p:cNvSpPr/>
          <p:nvPr/>
        </p:nvSpPr>
        <p:spPr>
          <a:xfrm>
            <a:off x="640080" y="1965960"/>
            <a:ext cx="3393338" cy="3840480"/>
          </a:xfrm>
          <a:prstGeom prst="roundRect">
            <a:avLst>
              <a:gd name="adj" fmla="val 2425"/>
            </a:avLst>
          </a:prstGeom>
          <a:solidFill>
            <a:srgbClr val="FCEEE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6" name="Shape 4"/>
          <p:cNvSpPr/>
          <p:nvPr/>
        </p:nvSpPr>
        <p:spPr>
          <a:xfrm>
            <a:off x="914400" y="2240280"/>
            <a:ext cx="2844698" cy="310896"/>
          </a:xfrm>
          <a:prstGeom prst="roundRect">
            <a:avLst>
              <a:gd name="adj" fmla="val 50000"/>
            </a:avLst>
          </a:prstGeom>
          <a:solidFill>
            <a:srgbClr val="E2574C"/>
          </a:solidFill>
          <a:ln/>
        </p:spPr>
        <p:txBody>
          <a:bodyPr/>
          <a:lstStyle/>
          <a:p>
            <a:endParaRPr/>
          </a:p>
        </p:txBody>
      </p:sp>
      <p:sp>
        <p:nvSpPr>
          <p:cNvPr id="7" name="Text 5"/>
          <p:cNvSpPr/>
          <p:nvPr/>
        </p:nvSpPr>
        <p:spPr>
          <a:xfrm>
            <a:off x="914400" y="2240280"/>
            <a:ext cx="284469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DIY / AGENT FRAMEWORKS</a:t>
            </a:r>
            <a:endParaRPr lang="en-US" sz="1100" dirty="0"/>
          </a:p>
        </p:txBody>
      </p:sp>
      <p:sp>
        <p:nvSpPr>
          <p:cNvPr id="8" name="Text 6"/>
          <p:cNvSpPr/>
          <p:nvPr/>
        </p:nvSpPr>
        <p:spPr>
          <a:xfrm>
            <a:off x="914400" y="2697480"/>
            <a:ext cx="2844698" cy="548640"/>
          </a:xfrm>
          <a:prstGeom prst="rect">
            <a:avLst/>
          </a:prstGeom>
          <a:noFill/>
          <a:ln/>
        </p:spPr>
        <p:txBody>
          <a:bodyPr wrap="square" lIns="0" tIns="0" rIns="0" bIns="0" rtlCol="0" anchor="ctr"/>
          <a:lstStyle/>
          <a:p>
            <a:pPr marL="0" indent="0">
              <a:buNone/>
            </a:pPr>
            <a:r>
              <a:rPr lang="en-US" sz="2000" b="1" dirty="0">
                <a:solidFill>
                  <a:srgbClr val="14233F"/>
                </a:solidFill>
                <a:latin typeface="Cambria" pitchFamily="34" charset="0"/>
                <a:ea typeface="Cambria" pitchFamily="34" charset="-122"/>
                <a:cs typeface="Cambria" pitchFamily="34" charset="-120"/>
              </a:rPr>
              <a:t>Build many agents</a:t>
            </a:r>
            <a:endParaRPr lang="en-US" sz="2000" dirty="0"/>
          </a:p>
        </p:txBody>
      </p:sp>
      <p:sp>
        <p:nvSpPr>
          <p:cNvPr id="9" name="Text 7"/>
          <p:cNvSpPr/>
          <p:nvPr/>
        </p:nvSpPr>
        <p:spPr>
          <a:xfrm>
            <a:off x="914400" y="3383280"/>
            <a:ext cx="2844698" cy="2103120"/>
          </a:xfrm>
          <a:prstGeom prst="rect">
            <a:avLst/>
          </a:prstGeom>
          <a:noFill/>
          <a:ln/>
        </p:spPr>
        <p:txBody>
          <a:bodyPr wrap="square" lIns="0" tIns="0" rIns="0" bIns="0" rtlCol="0" anchor="ctr"/>
          <a:lstStyle/>
          <a:p>
            <a:pPr marL="0" indent="0">
              <a:lnSpc>
                <a:spcPct val="110000"/>
              </a:lnSpc>
              <a:buNone/>
            </a:pPr>
            <a:r>
              <a:rPr lang="en-US" sz="1300" dirty="0">
                <a:solidFill>
                  <a:srgbClr val="5D6B8C"/>
                </a:solidFill>
                <a:latin typeface="Calibri" pitchFamily="34" charset="0"/>
                <a:ea typeface="Calibri" pitchFamily="34" charset="-122"/>
                <a:cs typeface="Calibri" pitchFamily="34" charset="-120"/>
              </a:rPr>
              <a:t>Highest control, but cost &amp; risk scale with agent count; duplicated layers, N² integration, fragmented governance.</a:t>
            </a:r>
            <a:endParaRPr lang="en-US" sz="1300" dirty="0"/>
          </a:p>
        </p:txBody>
      </p:sp>
      <p:sp>
        <p:nvSpPr>
          <p:cNvPr id="10" name="Shape 8"/>
          <p:cNvSpPr/>
          <p:nvPr/>
        </p:nvSpPr>
        <p:spPr>
          <a:xfrm>
            <a:off x="4399178" y="1965960"/>
            <a:ext cx="3393338" cy="3840480"/>
          </a:xfrm>
          <a:prstGeom prst="roundRect">
            <a:avLst>
              <a:gd name="adj" fmla="val 2425"/>
            </a:avLst>
          </a:prstGeom>
          <a:solidFill>
            <a:srgbClr val="FBF2DE"/>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1" name="Shape 9"/>
          <p:cNvSpPr/>
          <p:nvPr/>
        </p:nvSpPr>
        <p:spPr>
          <a:xfrm>
            <a:off x="4673498" y="2240280"/>
            <a:ext cx="2844698" cy="310896"/>
          </a:xfrm>
          <a:prstGeom prst="roundRect">
            <a:avLst>
              <a:gd name="adj" fmla="val 50000"/>
            </a:avLst>
          </a:prstGeom>
          <a:solidFill>
            <a:srgbClr val="E6A52B"/>
          </a:solidFill>
          <a:ln/>
        </p:spPr>
        <p:txBody>
          <a:bodyPr/>
          <a:lstStyle/>
          <a:p>
            <a:endParaRPr/>
          </a:p>
        </p:txBody>
      </p:sp>
      <p:sp>
        <p:nvSpPr>
          <p:cNvPr id="12" name="Text 10"/>
          <p:cNvSpPr/>
          <p:nvPr/>
        </p:nvSpPr>
        <p:spPr>
          <a:xfrm>
            <a:off x="4673498" y="2240280"/>
            <a:ext cx="284469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TASK-SPECIFIC TOOLS</a:t>
            </a:r>
            <a:endParaRPr lang="en-US" sz="1100" dirty="0"/>
          </a:p>
        </p:txBody>
      </p:sp>
      <p:sp>
        <p:nvSpPr>
          <p:cNvPr id="13" name="Text 11"/>
          <p:cNvSpPr/>
          <p:nvPr/>
        </p:nvSpPr>
        <p:spPr>
          <a:xfrm>
            <a:off x="4673498" y="2697480"/>
            <a:ext cx="2844698" cy="548640"/>
          </a:xfrm>
          <a:prstGeom prst="rect">
            <a:avLst/>
          </a:prstGeom>
          <a:noFill/>
          <a:ln/>
        </p:spPr>
        <p:txBody>
          <a:bodyPr wrap="square" lIns="0" tIns="0" rIns="0" bIns="0" rtlCol="0" anchor="ctr"/>
          <a:lstStyle/>
          <a:p>
            <a:pPr marL="0" indent="0">
              <a:buNone/>
            </a:pPr>
            <a:r>
              <a:rPr lang="en-US" sz="2000" b="1" dirty="0">
                <a:solidFill>
                  <a:srgbClr val="14233F"/>
                </a:solidFill>
                <a:latin typeface="Cambria" pitchFamily="34" charset="0"/>
                <a:ea typeface="Cambria" pitchFamily="34" charset="-122"/>
                <a:cs typeface="Cambria" pitchFamily="34" charset="-120"/>
              </a:rPr>
              <a:t>Point copilots / SaaS</a:t>
            </a:r>
            <a:endParaRPr lang="en-US" sz="2000" dirty="0"/>
          </a:p>
        </p:txBody>
      </p:sp>
      <p:sp>
        <p:nvSpPr>
          <p:cNvPr id="14" name="Text 12"/>
          <p:cNvSpPr/>
          <p:nvPr/>
        </p:nvSpPr>
        <p:spPr>
          <a:xfrm>
            <a:off x="4673498" y="3383280"/>
            <a:ext cx="2844698" cy="2103120"/>
          </a:xfrm>
          <a:prstGeom prst="rect">
            <a:avLst/>
          </a:prstGeom>
          <a:noFill/>
          <a:ln/>
        </p:spPr>
        <p:txBody>
          <a:bodyPr wrap="square" lIns="0" tIns="0" rIns="0" bIns="0" rtlCol="0" anchor="ctr"/>
          <a:lstStyle/>
          <a:p>
            <a:pPr marL="0" indent="0">
              <a:lnSpc>
                <a:spcPct val="110000"/>
              </a:lnSpc>
              <a:buNone/>
            </a:pPr>
            <a:r>
              <a:rPr lang="en-US" sz="1300" dirty="0">
                <a:solidFill>
                  <a:srgbClr val="5D6B8C"/>
                </a:solidFill>
                <a:latin typeface="Calibri" pitchFamily="34" charset="0"/>
                <a:ea typeface="Calibri" pitchFamily="34" charset="-122"/>
                <a:cs typeface="Calibri" pitchFamily="34" charset="-120"/>
              </a:rPr>
              <a:t>Fast for one task; siloed, limited cross-system action, vendor data exposure, little portability.</a:t>
            </a:r>
            <a:endParaRPr lang="en-US" sz="1300" dirty="0"/>
          </a:p>
        </p:txBody>
      </p:sp>
      <p:sp>
        <p:nvSpPr>
          <p:cNvPr id="15" name="Shape 13"/>
          <p:cNvSpPr/>
          <p:nvPr/>
        </p:nvSpPr>
        <p:spPr>
          <a:xfrm>
            <a:off x="8158277" y="1965960"/>
            <a:ext cx="3393338" cy="3840480"/>
          </a:xfrm>
          <a:prstGeom prst="roundRect">
            <a:avLst>
              <a:gd name="adj" fmla="val 2425"/>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6" name="Shape 14"/>
          <p:cNvSpPr/>
          <p:nvPr/>
        </p:nvSpPr>
        <p:spPr>
          <a:xfrm>
            <a:off x="8432597" y="2240280"/>
            <a:ext cx="2844698" cy="310896"/>
          </a:xfrm>
          <a:prstGeom prst="roundRect">
            <a:avLst>
              <a:gd name="adj" fmla="val 50000"/>
            </a:avLst>
          </a:prstGeom>
          <a:solidFill>
            <a:srgbClr val="0E9E80"/>
          </a:solidFill>
          <a:ln/>
        </p:spPr>
        <p:txBody>
          <a:bodyPr/>
          <a:lstStyle/>
          <a:p>
            <a:endParaRPr/>
          </a:p>
        </p:txBody>
      </p:sp>
      <p:sp>
        <p:nvSpPr>
          <p:cNvPr id="17" name="Text 15"/>
          <p:cNvSpPr/>
          <p:nvPr/>
        </p:nvSpPr>
        <p:spPr>
          <a:xfrm>
            <a:off x="8432597" y="2240280"/>
            <a:ext cx="284469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ONE GOVERNED SUBSTRATE</a:t>
            </a:r>
            <a:endParaRPr lang="en-US" sz="1100" dirty="0"/>
          </a:p>
        </p:txBody>
      </p:sp>
      <p:sp>
        <p:nvSpPr>
          <p:cNvPr id="18" name="Text 16"/>
          <p:cNvSpPr/>
          <p:nvPr/>
        </p:nvSpPr>
        <p:spPr>
          <a:xfrm>
            <a:off x="8432597" y="2697480"/>
            <a:ext cx="2844698" cy="548640"/>
          </a:xfrm>
          <a:prstGeom prst="rect">
            <a:avLst/>
          </a:prstGeom>
          <a:noFill/>
          <a:ln/>
        </p:spPr>
        <p:txBody>
          <a:bodyPr wrap="square" lIns="0" tIns="0" rIns="0" bIns="0" rtlCol="0" anchor="ctr"/>
          <a:lstStyle/>
          <a:p>
            <a:pPr marL="0" indent="0">
              <a:buNone/>
            </a:pPr>
            <a:r>
              <a:rPr lang="en-US" sz="2000" b="1" dirty="0">
                <a:solidFill>
                  <a:srgbClr val="14233F"/>
                </a:solidFill>
                <a:latin typeface="Cambria" pitchFamily="34" charset="0"/>
                <a:ea typeface="Cambria" pitchFamily="34" charset="-122"/>
                <a:cs typeface="Cambria" pitchFamily="34" charset="-120"/>
              </a:rPr>
              <a:t>UNAI</a:t>
            </a:r>
            <a:endParaRPr lang="en-US" sz="2000" dirty="0"/>
          </a:p>
        </p:txBody>
      </p:sp>
      <p:sp>
        <p:nvSpPr>
          <p:cNvPr id="19" name="Text 17"/>
          <p:cNvSpPr/>
          <p:nvPr/>
        </p:nvSpPr>
        <p:spPr>
          <a:xfrm>
            <a:off x="8432597" y="3383280"/>
            <a:ext cx="2844698" cy="2103120"/>
          </a:xfrm>
          <a:prstGeom prst="rect">
            <a:avLst/>
          </a:prstGeom>
          <a:noFill/>
          <a:ln/>
        </p:spPr>
        <p:txBody>
          <a:bodyPr wrap="square" lIns="0" tIns="0" rIns="0" bIns="0" rtlCol="0" anchor="ctr"/>
          <a:lstStyle/>
          <a:p>
            <a:pPr marL="0" indent="0">
              <a:lnSpc>
                <a:spcPct val="110000"/>
              </a:lnSpc>
              <a:buNone/>
            </a:pPr>
            <a:r>
              <a:rPr lang="en-US" sz="1300" dirty="0">
                <a:solidFill>
                  <a:srgbClr val="5D6B8C"/>
                </a:solidFill>
                <a:latin typeface="Calibri" pitchFamily="34" charset="0"/>
                <a:ea typeface="Calibri" pitchFamily="34" charset="-122"/>
                <a:cs typeface="Calibri" pitchFamily="34" charset="-120"/>
              </a:rPr>
              <a:t>One agent, shared layers, canonical ontology; cloud- &amp; model-neutral, accountable autonomy, unified observability.</a:t>
            </a:r>
            <a:endParaRPr lang="en-US" sz="1300" dirty="0"/>
          </a:p>
        </p:txBody>
      </p:sp>
      <p:sp>
        <p:nvSpPr>
          <p:cNvPr id="20" name="Shape 18"/>
          <p:cNvSpPr/>
          <p:nvPr/>
        </p:nvSpPr>
        <p:spPr>
          <a:xfrm>
            <a:off x="8432597" y="5257800"/>
            <a:ext cx="2844698" cy="365760"/>
          </a:xfrm>
          <a:prstGeom prst="roundRect">
            <a:avLst>
              <a:gd name="adj" fmla="val 50000"/>
            </a:avLst>
          </a:prstGeom>
          <a:solidFill>
            <a:srgbClr val="22D3AA"/>
          </a:solidFill>
          <a:ln/>
        </p:spPr>
        <p:txBody>
          <a:bodyPr/>
          <a:lstStyle/>
          <a:p>
            <a:endParaRPr/>
          </a:p>
        </p:txBody>
      </p:sp>
      <p:sp>
        <p:nvSpPr>
          <p:cNvPr id="21" name="Text 19"/>
          <p:cNvSpPr/>
          <p:nvPr/>
        </p:nvSpPr>
        <p:spPr>
          <a:xfrm>
            <a:off x="8432597" y="5257800"/>
            <a:ext cx="2844698" cy="365760"/>
          </a:xfrm>
          <a:prstGeom prst="rect">
            <a:avLst/>
          </a:prstGeom>
          <a:noFill/>
          <a:ln/>
        </p:spPr>
        <p:txBody>
          <a:bodyPr wrap="square" lIns="0" tIns="0" rIns="0" bIns="0" rtlCol="0" anchor="ctr"/>
          <a:lstStyle/>
          <a:p>
            <a:pPr marL="0" indent="0" algn="ctr">
              <a:buNone/>
            </a:pPr>
            <a:r>
              <a:rPr lang="en-US" sz="1100" b="1" dirty="0">
                <a:solidFill>
                  <a:srgbClr val="0B1020"/>
                </a:solidFill>
                <a:latin typeface="Calibri" pitchFamily="34" charset="0"/>
                <a:ea typeface="Calibri" pitchFamily="34" charset="-122"/>
                <a:cs typeface="Calibri" pitchFamily="34" charset="-120"/>
              </a:rPr>
              <a:t>Recommended</a:t>
            </a:r>
            <a:endParaRPr lang="en-US" sz="1100" dirty="0"/>
          </a:p>
        </p:txBody>
      </p:sp>
      <p:sp>
        <p:nvSpPr>
          <p:cNvPr id="22" name="Text 20"/>
          <p:cNvSpPr/>
          <p:nvPr/>
        </p:nvSpPr>
        <p:spPr>
          <a:xfrm>
            <a:off x="640080" y="6080760"/>
            <a:ext cx="10972800" cy="365760"/>
          </a:xfrm>
          <a:prstGeom prst="rect">
            <a:avLst/>
          </a:prstGeom>
          <a:noFill/>
          <a:ln/>
        </p:spPr>
        <p:txBody>
          <a:bodyPr wrap="square" lIns="0" tIns="0" rIns="0" bIns="0" rtlCol="0" anchor="ctr"/>
          <a:lstStyle/>
          <a:p>
            <a:pPr marL="0" indent="0">
              <a:buNone/>
            </a:pPr>
            <a:r>
              <a:rPr lang="en-US" sz="1200" i="1" dirty="0">
                <a:solidFill>
                  <a:srgbClr val="5D6B8C"/>
                </a:solidFill>
                <a:latin typeface="Calibri" pitchFamily="34" charset="0"/>
                <a:ea typeface="Calibri" pitchFamily="34" charset="-122"/>
                <a:cs typeface="Calibri" pitchFamily="34" charset="-120"/>
              </a:rPr>
              <a:t>Differentiators: canonical ontology (zero re-map), open-weight model portability, accountable autonomy, one observability surface.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NOT AN ORCHESTRATOR, NOT MCP</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How UNAI differs — and why it complements both</a:t>
            </a:r>
            <a:endParaRPr lang="en-US" sz="3000" dirty="0"/>
          </a:p>
        </p:txBody>
      </p:sp>
      <p:sp>
        <p:nvSpPr>
          <p:cNvPr id="5" name="Text 3"/>
          <p:cNvSpPr/>
          <p:nvPr/>
        </p:nvSpPr>
        <p:spPr>
          <a:xfrm>
            <a:off x="640080" y="1600200"/>
            <a:ext cx="10911535" cy="548640"/>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These are often confused. An orchestrator coordinates many agents; MCP is a standard cable to tools. UNAI is a different thing — one agent plus shared meaning — and it can sit on top of both.</a:t>
            </a:r>
            <a:endParaRPr lang="en-US" sz="1500" dirty="0"/>
          </a:p>
        </p:txBody>
      </p:sp>
      <p:sp>
        <p:nvSpPr>
          <p:cNvPr id="6" name="Shape 4"/>
          <p:cNvSpPr/>
          <p:nvPr/>
        </p:nvSpPr>
        <p:spPr>
          <a:xfrm>
            <a:off x="640080" y="2286000"/>
            <a:ext cx="3393338" cy="3246120"/>
          </a:xfrm>
          <a:prstGeom prst="roundRect">
            <a:avLst>
              <a:gd name="adj" fmla="val 2535"/>
            </a:avLst>
          </a:prstGeom>
          <a:solidFill>
            <a:srgbClr val="FCEEE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Shape 5"/>
          <p:cNvSpPr/>
          <p:nvPr/>
        </p:nvSpPr>
        <p:spPr>
          <a:xfrm>
            <a:off x="914400" y="2542032"/>
            <a:ext cx="2844698" cy="310896"/>
          </a:xfrm>
          <a:prstGeom prst="roundRect">
            <a:avLst>
              <a:gd name="adj" fmla="val 50000"/>
            </a:avLst>
          </a:prstGeom>
          <a:solidFill>
            <a:srgbClr val="E2574C"/>
          </a:solidFill>
          <a:ln/>
        </p:spPr>
        <p:txBody>
          <a:bodyPr/>
          <a:lstStyle/>
          <a:p>
            <a:endParaRPr/>
          </a:p>
        </p:txBody>
      </p:sp>
      <p:sp>
        <p:nvSpPr>
          <p:cNvPr id="8" name="Text 6"/>
          <p:cNvSpPr/>
          <p:nvPr/>
        </p:nvSpPr>
        <p:spPr>
          <a:xfrm>
            <a:off x="914400" y="2542032"/>
            <a:ext cx="284469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LANGGRAPH · CREWAI · AUTOGEN</a:t>
            </a:r>
            <a:endParaRPr lang="en-US" sz="1100" dirty="0"/>
          </a:p>
        </p:txBody>
      </p:sp>
      <p:sp>
        <p:nvSpPr>
          <p:cNvPr id="9" name="Text 7"/>
          <p:cNvSpPr/>
          <p:nvPr/>
        </p:nvSpPr>
        <p:spPr>
          <a:xfrm>
            <a:off x="914400" y="2999232"/>
            <a:ext cx="2844698"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Multi-agent orchestrator</a:t>
            </a:r>
            <a:endParaRPr lang="en-US" sz="1900" dirty="0"/>
          </a:p>
        </p:txBody>
      </p:sp>
      <p:sp>
        <p:nvSpPr>
          <p:cNvPr id="10" name="Text 8"/>
          <p:cNvSpPr/>
          <p:nvPr/>
        </p:nvSpPr>
        <p:spPr>
          <a:xfrm>
            <a:off x="914400" y="3520440"/>
            <a:ext cx="2844698" cy="141732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Still N separate agents with a conductor routing between them. Each agent keeps its own 7 layers — duplication and N² coordination remain.</a:t>
            </a:r>
            <a:endParaRPr lang="en-US" sz="1250" dirty="0"/>
          </a:p>
        </p:txBody>
      </p:sp>
      <p:sp>
        <p:nvSpPr>
          <p:cNvPr id="11" name="Shape 9"/>
          <p:cNvSpPr/>
          <p:nvPr/>
        </p:nvSpPr>
        <p:spPr>
          <a:xfrm>
            <a:off x="914400" y="4983480"/>
            <a:ext cx="2844698" cy="0"/>
          </a:xfrm>
          <a:prstGeom prst="line">
            <a:avLst/>
          </a:prstGeom>
          <a:noFill/>
          <a:ln w="12700">
            <a:solidFill>
              <a:srgbClr val="DCE6F2"/>
            </a:solidFill>
            <a:prstDash val="solid"/>
          </a:ln>
        </p:spPr>
        <p:txBody>
          <a:bodyPr/>
          <a:lstStyle/>
          <a:p>
            <a:endParaRPr/>
          </a:p>
        </p:txBody>
      </p:sp>
      <p:sp>
        <p:nvSpPr>
          <p:cNvPr id="12" name="Text 10"/>
          <p:cNvSpPr/>
          <p:nvPr/>
        </p:nvSpPr>
        <p:spPr>
          <a:xfrm>
            <a:off x="914400" y="5047488"/>
            <a:ext cx="2844698" cy="411480"/>
          </a:xfrm>
          <a:prstGeom prst="rect">
            <a:avLst/>
          </a:prstGeom>
          <a:noFill/>
          <a:ln/>
        </p:spPr>
        <p:txBody>
          <a:bodyPr wrap="square" lIns="0" tIns="0" rIns="0" bIns="0" rtlCol="0" anchor="ctr"/>
          <a:lstStyle/>
          <a:p>
            <a:pPr marL="0" indent="0">
              <a:buNone/>
            </a:pPr>
            <a:r>
              <a:rPr lang="en-US" sz="1150" b="1" i="1" dirty="0">
                <a:solidFill>
                  <a:srgbClr val="14233F"/>
                </a:solidFill>
                <a:latin typeface="Calibri" pitchFamily="34" charset="0"/>
                <a:ea typeface="Calibri" pitchFamily="34" charset="-122"/>
                <a:cs typeface="Calibri" pitchFamily="34" charset="-120"/>
              </a:rPr>
              <a:t>Manages the sprawl; doesn't remove it.</a:t>
            </a:r>
            <a:endParaRPr lang="en-US" sz="1150" dirty="0"/>
          </a:p>
        </p:txBody>
      </p:sp>
      <p:sp>
        <p:nvSpPr>
          <p:cNvPr id="13" name="Shape 11"/>
          <p:cNvSpPr/>
          <p:nvPr/>
        </p:nvSpPr>
        <p:spPr>
          <a:xfrm>
            <a:off x="4399178" y="2286000"/>
            <a:ext cx="3393338" cy="3246120"/>
          </a:xfrm>
          <a:prstGeom prst="roundRect">
            <a:avLst>
              <a:gd name="adj" fmla="val 2535"/>
            </a:avLst>
          </a:prstGeom>
          <a:solidFill>
            <a:srgbClr val="FBF2DE"/>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4" name="Shape 12"/>
          <p:cNvSpPr/>
          <p:nvPr/>
        </p:nvSpPr>
        <p:spPr>
          <a:xfrm>
            <a:off x="4673498" y="2542032"/>
            <a:ext cx="2844698" cy="310896"/>
          </a:xfrm>
          <a:prstGeom prst="roundRect">
            <a:avLst>
              <a:gd name="adj" fmla="val 50000"/>
            </a:avLst>
          </a:prstGeom>
          <a:solidFill>
            <a:srgbClr val="E6A52B"/>
          </a:solidFill>
          <a:ln/>
        </p:spPr>
        <p:txBody>
          <a:bodyPr/>
          <a:lstStyle/>
          <a:p>
            <a:endParaRPr/>
          </a:p>
        </p:txBody>
      </p:sp>
      <p:sp>
        <p:nvSpPr>
          <p:cNvPr id="15" name="Text 13"/>
          <p:cNvSpPr/>
          <p:nvPr/>
        </p:nvSpPr>
        <p:spPr>
          <a:xfrm>
            <a:off x="4673498" y="2542032"/>
            <a:ext cx="284469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 CONTEXT PROTOCOL</a:t>
            </a:r>
            <a:endParaRPr lang="en-US" sz="1100" dirty="0"/>
          </a:p>
        </p:txBody>
      </p:sp>
      <p:sp>
        <p:nvSpPr>
          <p:cNvPr id="16" name="Text 14"/>
          <p:cNvSpPr/>
          <p:nvPr/>
        </p:nvSpPr>
        <p:spPr>
          <a:xfrm>
            <a:off x="4673498" y="2999232"/>
            <a:ext cx="2844698"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MCP</a:t>
            </a:r>
            <a:endParaRPr lang="en-US" sz="1900" dirty="0"/>
          </a:p>
        </p:txBody>
      </p:sp>
      <p:sp>
        <p:nvSpPr>
          <p:cNvPr id="17" name="Text 15"/>
          <p:cNvSpPr/>
          <p:nvPr/>
        </p:nvSpPr>
        <p:spPr>
          <a:xfrm>
            <a:off x="4673498" y="3520440"/>
            <a:ext cx="2844698" cy="141732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A universal cable from a model to tools &amp; data. Standardizes transport — how you reach a system — but not meaning, memory, evidence or governance.</a:t>
            </a:r>
            <a:endParaRPr lang="en-US" sz="1250" dirty="0"/>
          </a:p>
        </p:txBody>
      </p:sp>
      <p:sp>
        <p:nvSpPr>
          <p:cNvPr id="18" name="Shape 16"/>
          <p:cNvSpPr/>
          <p:nvPr/>
        </p:nvSpPr>
        <p:spPr>
          <a:xfrm>
            <a:off x="4673498" y="4983480"/>
            <a:ext cx="2844698" cy="0"/>
          </a:xfrm>
          <a:prstGeom prst="line">
            <a:avLst/>
          </a:prstGeom>
          <a:noFill/>
          <a:ln w="12700">
            <a:solidFill>
              <a:srgbClr val="DCE6F2"/>
            </a:solidFill>
            <a:prstDash val="solid"/>
          </a:ln>
        </p:spPr>
        <p:txBody>
          <a:bodyPr/>
          <a:lstStyle/>
          <a:p>
            <a:endParaRPr/>
          </a:p>
        </p:txBody>
      </p:sp>
      <p:sp>
        <p:nvSpPr>
          <p:cNvPr id="19" name="Text 17"/>
          <p:cNvSpPr/>
          <p:nvPr/>
        </p:nvSpPr>
        <p:spPr>
          <a:xfrm>
            <a:off x="4673498" y="5047488"/>
            <a:ext cx="2844698" cy="411480"/>
          </a:xfrm>
          <a:prstGeom prst="rect">
            <a:avLst/>
          </a:prstGeom>
          <a:noFill/>
          <a:ln/>
        </p:spPr>
        <p:txBody>
          <a:bodyPr wrap="square" lIns="0" tIns="0" rIns="0" bIns="0" rtlCol="0" anchor="ctr"/>
          <a:lstStyle/>
          <a:p>
            <a:pPr marL="0" indent="0">
              <a:buNone/>
            </a:pPr>
            <a:r>
              <a:rPr lang="en-US" sz="1150" b="1" i="1" dirty="0">
                <a:solidFill>
                  <a:srgbClr val="14233F"/>
                </a:solidFill>
                <a:latin typeface="Calibri" pitchFamily="34" charset="0"/>
                <a:ea typeface="Calibri" pitchFamily="34" charset="-122"/>
                <a:cs typeface="Calibri" pitchFamily="34" charset="-120"/>
              </a:rPr>
              <a:t>Moves data; doesn't reconcile it.</a:t>
            </a:r>
            <a:endParaRPr lang="en-US" sz="1150" dirty="0"/>
          </a:p>
        </p:txBody>
      </p:sp>
      <p:sp>
        <p:nvSpPr>
          <p:cNvPr id="20" name="Shape 18"/>
          <p:cNvSpPr/>
          <p:nvPr/>
        </p:nvSpPr>
        <p:spPr>
          <a:xfrm>
            <a:off x="8158277" y="2286000"/>
            <a:ext cx="3393338" cy="3246120"/>
          </a:xfrm>
          <a:prstGeom prst="roundRect">
            <a:avLst>
              <a:gd name="adj" fmla="val 2535"/>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1" name="Shape 19"/>
          <p:cNvSpPr/>
          <p:nvPr/>
        </p:nvSpPr>
        <p:spPr>
          <a:xfrm>
            <a:off x="8432597" y="2542032"/>
            <a:ext cx="2844698" cy="310896"/>
          </a:xfrm>
          <a:prstGeom prst="roundRect">
            <a:avLst>
              <a:gd name="adj" fmla="val 50000"/>
            </a:avLst>
          </a:prstGeom>
          <a:solidFill>
            <a:srgbClr val="0E9E80"/>
          </a:solidFill>
          <a:ln/>
        </p:spPr>
        <p:txBody>
          <a:bodyPr/>
          <a:lstStyle/>
          <a:p>
            <a:endParaRPr/>
          </a:p>
        </p:txBody>
      </p:sp>
      <p:sp>
        <p:nvSpPr>
          <p:cNvPr id="22" name="Text 20"/>
          <p:cNvSpPr/>
          <p:nvPr/>
        </p:nvSpPr>
        <p:spPr>
          <a:xfrm>
            <a:off x="8432597" y="2542032"/>
            <a:ext cx="284469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ONE AGENT + SHARED MEANING</a:t>
            </a:r>
            <a:endParaRPr lang="en-US" sz="1100" dirty="0"/>
          </a:p>
        </p:txBody>
      </p:sp>
      <p:sp>
        <p:nvSpPr>
          <p:cNvPr id="23" name="Text 21"/>
          <p:cNvSpPr/>
          <p:nvPr/>
        </p:nvSpPr>
        <p:spPr>
          <a:xfrm>
            <a:off x="8432597" y="2999232"/>
            <a:ext cx="2844698"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UNAI</a:t>
            </a:r>
            <a:endParaRPr lang="en-US" sz="1900" dirty="0"/>
          </a:p>
        </p:txBody>
      </p:sp>
      <p:sp>
        <p:nvSpPr>
          <p:cNvPr id="24" name="Text 22"/>
          <p:cNvSpPr/>
          <p:nvPr/>
        </p:nvSpPr>
        <p:spPr>
          <a:xfrm>
            <a:off x="8432597" y="3520440"/>
            <a:ext cx="2844698" cy="141732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One substrate, capabilities as tool packs, plus a canonical ontology for zero-re-map semantics, accountable autonomy and one audit surface.</a:t>
            </a:r>
            <a:endParaRPr lang="en-US" sz="1250" dirty="0"/>
          </a:p>
        </p:txBody>
      </p:sp>
      <p:sp>
        <p:nvSpPr>
          <p:cNvPr id="25" name="Shape 23"/>
          <p:cNvSpPr/>
          <p:nvPr/>
        </p:nvSpPr>
        <p:spPr>
          <a:xfrm>
            <a:off x="8432597" y="4983480"/>
            <a:ext cx="2844698" cy="0"/>
          </a:xfrm>
          <a:prstGeom prst="line">
            <a:avLst/>
          </a:prstGeom>
          <a:noFill/>
          <a:ln w="12700">
            <a:solidFill>
              <a:srgbClr val="DCE6F2"/>
            </a:solidFill>
            <a:prstDash val="solid"/>
          </a:ln>
        </p:spPr>
        <p:txBody>
          <a:bodyPr/>
          <a:lstStyle/>
          <a:p>
            <a:endParaRPr/>
          </a:p>
        </p:txBody>
      </p:sp>
      <p:sp>
        <p:nvSpPr>
          <p:cNvPr id="26" name="Text 24"/>
          <p:cNvSpPr/>
          <p:nvPr/>
        </p:nvSpPr>
        <p:spPr>
          <a:xfrm>
            <a:off x="8432597" y="5047488"/>
            <a:ext cx="2844698" cy="411480"/>
          </a:xfrm>
          <a:prstGeom prst="rect">
            <a:avLst/>
          </a:prstGeom>
          <a:noFill/>
          <a:ln/>
        </p:spPr>
        <p:txBody>
          <a:bodyPr wrap="square" lIns="0" tIns="0" rIns="0" bIns="0" rtlCol="0" anchor="ctr"/>
          <a:lstStyle/>
          <a:p>
            <a:pPr marL="0" indent="0">
              <a:buNone/>
            </a:pPr>
            <a:r>
              <a:rPr lang="en-US" sz="1150" b="1" i="1" dirty="0">
                <a:solidFill>
                  <a:srgbClr val="14233F"/>
                </a:solidFill>
                <a:latin typeface="Calibri" pitchFamily="34" charset="0"/>
                <a:ea typeface="Calibri" pitchFamily="34" charset="-122"/>
                <a:cs typeface="Calibri" pitchFamily="34" charset="-120"/>
              </a:rPr>
              <a:t>Uses MCP as its cable; can orchestrate internally.</a:t>
            </a:r>
            <a:endParaRPr lang="en-US" sz="1150" dirty="0"/>
          </a:p>
        </p:txBody>
      </p:sp>
      <p:sp>
        <p:nvSpPr>
          <p:cNvPr id="27" name="Text 25"/>
          <p:cNvSpPr/>
          <p:nvPr/>
        </p:nvSpPr>
        <p:spPr>
          <a:xfrm>
            <a:off x="640080" y="5806440"/>
            <a:ext cx="10911535" cy="457200"/>
          </a:xfrm>
          <a:prstGeom prst="rect">
            <a:avLst/>
          </a:prstGeom>
          <a:noFill/>
          <a:ln/>
        </p:spPr>
        <p:txBody>
          <a:bodyPr wrap="square" lIns="0" tIns="0" rIns="0" bIns="0" rtlCol="0" anchor="ctr"/>
          <a:lstStyle/>
          <a:p>
            <a:pPr marL="0" indent="0">
              <a:buNone/>
            </a:pPr>
            <a:r>
              <a:rPr lang="en-US" sz="1300" i="1" dirty="0">
                <a:solidFill>
                  <a:srgbClr val="0E9E80"/>
                </a:solidFill>
                <a:latin typeface="Calibri" pitchFamily="34" charset="0"/>
                <a:ea typeface="Calibri" pitchFamily="34" charset="-122"/>
                <a:cs typeface="Calibri" pitchFamily="34" charset="-120"/>
              </a:rPr>
              <a:t>In one line: an orchestrator conducts many agents · MCP is the cable to tools · UNAI is the single agent + shared meaning that can sit on top of both.</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AGENT FOUNDRY</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Not just an agent — the platform others consolidate onto</a:t>
            </a:r>
            <a:endParaRPr lang="en-US" sz="3000" dirty="0"/>
          </a:p>
        </p:txBody>
      </p:sp>
      <p:sp>
        <p:nvSpPr>
          <p:cNvPr id="5" name="Text 3"/>
          <p:cNvSpPr/>
          <p:nvPr/>
        </p:nvSpPr>
        <p:spPr>
          <a:xfrm>
            <a:off x="640080" y="1572768"/>
            <a:ext cx="10911535" cy="685800"/>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A self-service add-on that lets teams put agents onto the UNAI substrate two ways. Both produce one governed, runnable Agent Manifest (agent-as-configuration) — so you can rationalize the agent sprawl you already have.</a:t>
            </a:r>
            <a:endParaRPr lang="en-US" sz="1500" dirty="0"/>
          </a:p>
        </p:txBody>
      </p:sp>
      <p:sp>
        <p:nvSpPr>
          <p:cNvPr id="6" name="Shape 4"/>
          <p:cNvSpPr/>
          <p:nvPr/>
        </p:nvSpPr>
        <p:spPr>
          <a:xfrm>
            <a:off x="640080" y="2331720"/>
            <a:ext cx="5227168" cy="2331720"/>
          </a:xfrm>
          <a:prstGeom prst="roundRect">
            <a:avLst>
              <a:gd name="adj" fmla="val 3529"/>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Shape 5"/>
          <p:cNvSpPr/>
          <p:nvPr/>
        </p:nvSpPr>
        <p:spPr>
          <a:xfrm>
            <a:off x="960120" y="2606040"/>
            <a:ext cx="1554480" cy="310896"/>
          </a:xfrm>
          <a:prstGeom prst="roundRect">
            <a:avLst>
              <a:gd name="adj" fmla="val 50000"/>
            </a:avLst>
          </a:prstGeom>
          <a:solidFill>
            <a:srgbClr val="0E9E80"/>
          </a:solidFill>
          <a:ln/>
        </p:spPr>
        <p:txBody>
          <a:bodyPr/>
          <a:lstStyle/>
          <a:p>
            <a:endParaRPr/>
          </a:p>
        </p:txBody>
      </p:sp>
      <p:sp>
        <p:nvSpPr>
          <p:cNvPr id="8" name="Text 6"/>
          <p:cNvSpPr/>
          <p:nvPr/>
        </p:nvSpPr>
        <p:spPr>
          <a:xfrm>
            <a:off x="960120" y="2606040"/>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BUILD</a:t>
            </a:r>
            <a:endParaRPr lang="en-US" sz="1100" dirty="0"/>
          </a:p>
        </p:txBody>
      </p:sp>
      <p:sp>
        <p:nvSpPr>
          <p:cNvPr id="9" name="Text 7"/>
          <p:cNvSpPr/>
          <p:nvPr/>
        </p:nvSpPr>
        <p:spPr>
          <a:xfrm>
            <a:off x="960120" y="3063240"/>
            <a:ext cx="4587088"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Compose a new agent</a:t>
            </a:r>
            <a:endParaRPr lang="en-US" sz="1900" dirty="0"/>
          </a:p>
        </p:txBody>
      </p:sp>
      <p:sp>
        <p:nvSpPr>
          <p:cNvPr id="10" name="Text 8"/>
          <p:cNvSpPr/>
          <p:nvPr/>
        </p:nvSpPr>
        <p:spPr>
          <a:xfrm>
            <a:off x="960120" y="3611880"/>
            <a:ext cx="4587088" cy="91440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Business users pick capabilities (tool packs), connect systems through the canonical ontology (with a quality gate), set governance — and publish. No new agent code; the seven layers are reused.</a:t>
            </a:r>
            <a:endParaRPr lang="en-US" sz="1250" dirty="0"/>
          </a:p>
        </p:txBody>
      </p:sp>
      <p:sp>
        <p:nvSpPr>
          <p:cNvPr id="11" name="Shape 9"/>
          <p:cNvSpPr/>
          <p:nvPr/>
        </p:nvSpPr>
        <p:spPr>
          <a:xfrm>
            <a:off x="6324448" y="2331720"/>
            <a:ext cx="5227168" cy="2331720"/>
          </a:xfrm>
          <a:prstGeom prst="roundRect">
            <a:avLst>
              <a:gd name="adj" fmla="val 3529"/>
            </a:avLst>
          </a:prstGeom>
          <a:solidFill>
            <a:srgbClr val="E8F0FE"/>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2" name="Shape 10"/>
          <p:cNvSpPr/>
          <p:nvPr/>
        </p:nvSpPr>
        <p:spPr>
          <a:xfrm>
            <a:off x="6644488" y="2606040"/>
            <a:ext cx="1554480" cy="310896"/>
          </a:xfrm>
          <a:prstGeom prst="roundRect">
            <a:avLst>
              <a:gd name="adj" fmla="val 50000"/>
            </a:avLst>
          </a:prstGeom>
          <a:solidFill>
            <a:srgbClr val="3A6FB0"/>
          </a:solidFill>
          <a:ln/>
        </p:spPr>
        <p:txBody>
          <a:bodyPr/>
          <a:lstStyle/>
          <a:p>
            <a:endParaRPr/>
          </a:p>
        </p:txBody>
      </p:sp>
      <p:sp>
        <p:nvSpPr>
          <p:cNvPr id="13" name="Text 11"/>
          <p:cNvSpPr/>
          <p:nvPr/>
        </p:nvSpPr>
        <p:spPr>
          <a:xfrm>
            <a:off x="6644488" y="2606040"/>
            <a:ext cx="155448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CONVERT</a:t>
            </a:r>
            <a:endParaRPr lang="en-US" sz="1100" dirty="0"/>
          </a:p>
        </p:txBody>
      </p:sp>
      <p:sp>
        <p:nvSpPr>
          <p:cNvPr id="14" name="Text 12"/>
          <p:cNvSpPr/>
          <p:nvPr/>
        </p:nvSpPr>
        <p:spPr>
          <a:xfrm>
            <a:off x="6644488" y="3063240"/>
            <a:ext cx="4587088"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Bring your own agent</a:t>
            </a:r>
            <a:endParaRPr lang="en-US" sz="1900" dirty="0"/>
          </a:p>
        </p:txBody>
      </p:sp>
      <p:sp>
        <p:nvSpPr>
          <p:cNvPr id="15" name="Text 13"/>
          <p:cNvSpPr/>
          <p:nvPr/>
        </p:nvSpPr>
        <p:spPr>
          <a:xfrm>
            <a:off x="6644488" y="3611880"/>
            <a:ext cx="4587088" cy="91440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Submit an existing agent — LangGraph, CrewAI, AutoGen, an MCP tool list or an OpenAI Assistant. UNAI analyses it, maps its tools to the shared layers + ontology, and emits a manifest plus a Conversion Report.</a:t>
            </a:r>
            <a:endParaRPr lang="en-US" sz="1250" dirty="0"/>
          </a:p>
        </p:txBody>
      </p:sp>
      <p:sp>
        <p:nvSpPr>
          <p:cNvPr id="16" name="Shape 14"/>
          <p:cNvSpPr/>
          <p:nvPr/>
        </p:nvSpPr>
        <p:spPr>
          <a:xfrm>
            <a:off x="640080" y="4892040"/>
            <a:ext cx="3362858" cy="1234440"/>
          </a:xfrm>
          <a:prstGeom prst="roundRect">
            <a:avLst>
              <a:gd name="adj" fmla="val 6667"/>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7" name="Text 15"/>
          <p:cNvSpPr/>
          <p:nvPr/>
        </p:nvSpPr>
        <p:spPr>
          <a:xfrm>
            <a:off x="896112" y="5029200"/>
            <a:ext cx="2905658" cy="365760"/>
          </a:xfrm>
          <a:prstGeom prst="rect">
            <a:avLst/>
          </a:prstGeom>
          <a:noFill/>
          <a:ln/>
        </p:spPr>
        <p:txBody>
          <a:bodyPr wrap="square" lIns="0" tIns="0" rIns="0" bIns="0" rtlCol="0" anchor="ctr"/>
          <a:lstStyle/>
          <a:p>
            <a:pPr marL="0" indent="0">
              <a:buNone/>
            </a:pPr>
            <a:r>
              <a:rPr lang="en-US" sz="1400" b="1" dirty="0">
                <a:solidFill>
                  <a:srgbClr val="0E9E80"/>
                </a:solidFill>
                <a:latin typeface="Cambria" pitchFamily="34" charset="0"/>
                <a:ea typeface="Cambria" pitchFamily="34" charset="-122"/>
                <a:cs typeface="Cambria" pitchFamily="34" charset="-120"/>
              </a:rPr>
              <a:t>Agent Manifest</a:t>
            </a:r>
            <a:endParaRPr lang="en-US" sz="1400" dirty="0"/>
          </a:p>
        </p:txBody>
      </p:sp>
      <p:sp>
        <p:nvSpPr>
          <p:cNvPr id="18" name="Text 16"/>
          <p:cNvSpPr/>
          <p:nvPr/>
        </p:nvSpPr>
        <p:spPr>
          <a:xfrm>
            <a:off x="896112" y="5394960"/>
            <a:ext cx="2905658" cy="685800"/>
          </a:xfrm>
          <a:prstGeom prst="rect">
            <a:avLst/>
          </a:prstGeom>
          <a:noFill/>
          <a:ln/>
        </p:spPr>
        <p:txBody>
          <a:bodyPr wrap="square" lIns="0" tIns="0" rIns="0" bIns="0" rtlCol="0" anchor="ctr"/>
          <a:lstStyle/>
          <a:p>
            <a:pPr marL="0" indent="0">
              <a:lnSpc>
                <a:spcPct val="104000"/>
              </a:lnSpc>
              <a:buNone/>
            </a:pPr>
            <a:r>
              <a:rPr lang="en-US" sz="1100" dirty="0">
                <a:solidFill>
                  <a:srgbClr val="5D6B8C"/>
                </a:solidFill>
                <a:latin typeface="Calibri" pitchFamily="34" charset="0"/>
                <a:ea typeface="Calibri" pitchFamily="34" charset="-122"/>
                <a:cs typeface="Calibri" pitchFamily="34" charset="-120"/>
              </a:rPr>
              <a:t>one declarative spec — capabilities + ontology + governance — runs on the shared runtime</a:t>
            </a:r>
            <a:endParaRPr lang="en-US" sz="1100" dirty="0"/>
          </a:p>
        </p:txBody>
      </p:sp>
      <p:sp>
        <p:nvSpPr>
          <p:cNvPr id="19" name="Shape 17"/>
          <p:cNvSpPr/>
          <p:nvPr/>
        </p:nvSpPr>
        <p:spPr>
          <a:xfrm>
            <a:off x="4277258" y="4892040"/>
            <a:ext cx="3362858" cy="1234440"/>
          </a:xfrm>
          <a:prstGeom prst="roundRect">
            <a:avLst>
              <a:gd name="adj" fmla="val 6667"/>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0" name="Text 18"/>
          <p:cNvSpPr/>
          <p:nvPr/>
        </p:nvSpPr>
        <p:spPr>
          <a:xfrm>
            <a:off x="4533290" y="5029200"/>
            <a:ext cx="2905658" cy="365760"/>
          </a:xfrm>
          <a:prstGeom prst="rect">
            <a:avLst/>
          </a:prstGeom>
          <a:noFill/>
          <a:ln/>
        </p:spPr>
        <p:txBody>
          <a:bodyPr wrap="square" lIns="0" tIns="0" rIns="0" bIns="0" rtlCol="0" anchor="ctr"/>
          <a:lstStyle/>
          <a:p>
            <a:pPr marL="0" indent="0">
              <a:buNone/>
            </a:pPr>
            <a:r>
              <a:rPr lang="en-US" sz="1400" b="1" dirty="0">
                <a:solidFill>
                  <a:srgbClr val="0E9E80"/>
                </a:solidFill>
                <a:latin typeface="Cambria" pitchFamily="34" charset="0"/>
                <a:ea typeface="Cambria" pitchFamily="34" charset="-122"/>
                <a:cs typeface="Cambria" pitchFamily="34" charset="-120"/>
              </a:rPr>
              <a:t>Conversion Report</a:t>
            </a:r>
            <a:endParaRPr lang="en-US" sz="1400" dirty="0"/>
          </a:p>
        </p:txBody>
      </p:sp>
      <p:sp>
        <p:nvSpPr>
          <p:cNvPr id="21" name="Text 19"/>
          <p:cNvSpPr/>
          <p:nvPr/>
        </p:nvSpPr>
        <p:spPr>
          <a:xfrm>
            <a:off x="4533290" y="5394960"/>
            <a:ext cx="2905658" cy="685800"/>
          </a:xfrm>
          <a:prstGeom prst="rect">
            <a:avLst/>
          </a:prstGeom>
          <a:noFill/>
          <a:ln/>
        </p:spPr>
        <p:txBody>
          <a:bodyPr wrap="square" lIns="0" tIns="0" rIns="0" bIns="0" rtlCol="0" anchor="ctr"/>
          <a:lstStyle/>
          <a:p>
            <a:pPr marL="0" indent="0">
              <a:lnSpc>
                <a:spcPct val="104000"/>
              </a:lnSpc>
              <a:buNone/>
            </a:pPr>
            <a:r>
              <a:rPr lang="en-US" sz="1100" dirty="0">
                <a:solidFill>
                  <a:srgbClr val="5D6B8C"/>
                </a:solidFill>
                <a:latin typeface="Calibri" pitchFamily="34" charset="0"/>
                <a:ea typeface="Calibri" pitchFamily="34" charset="-122"/>
                <a:cs typeface="Calibri" pitchFamily="34" charset="-120"/>
              </a:rPr>
              <a:t>quantifies what's absorbed into shared layers + the Gen-1→UNAI compression, review-gated</a:t>
            </a:r>
            <a:endParaRPr lang="en-US" sz="1100" dirty="0"/>
          </a:p>
        </p:txBody>
      </p:sp>
      <p:sp>
        <p:nvSpPr>
          <p:cNvPr id="22" name="Shape 20"/>
          <p:cNvSpPr/>
          <p:nvPr/>
        </p:nvSpPr>
        <p:spPr>
          <a:xfrm>
            <a:off x="7914437" y="4892040"/>
            <a:ext cx="3362858" cy="1234440"/>
          </a:xfrm>
          <a:prstGeom prst="roundRect">
            <a:avLst>
              <a:gd name="adj" fmla="val 6667"/>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3" name="Text 21"/>
          <p:cNvSpPr/>
          <p:nvPr/>
        </p:nvSpPr>
        <p:spPr>
          <a:xfrm>
            <a:off x="8170469" y="5029200"/>
            <a:ext cx="2905658" cy="365760"/>
          </a:xfrm>
          <a:prstGeom prst="rect">
            <a:avLst/>
          </a:prstGeom>
          <a:noFill/>
          <a:ln/>
        </p:spPr>
        <p:txBody>
          <a:bodyPr wrap="square" lIns="0" tIns="0" rIns="0" bIns="0" rtlCol="0" anchor="ctr"/>
          <a:lstStyle/>
          <a:p>
            <a:pPr marL="0" indent="0">
              <a:buNone/>
            </a:pPr>
            <a:r>
              <a:rPr lang="en-US" sz="1400" b="1" dirty="0">
                <a:solidFill>
                  <a:srgbClr val="0E9E80"/>
                </a:solidFill>
                <a:latin typeface="Cambria" pitchFamily="34" charset="0"/>
                <a:ea typeface="Cambria" pitchFamily="34" charset="-122"/>
                <a:cs typeface="Cambria" pitchFamily="34" charset="-120"/>
              </a:rPr>
              <a:t>Consolidation</a:t>
            </a:r>
            <a:endParaRPr lang="en-US" sz="1400" dirty="0"/>
          </a:p>
        </p:txBody>
      </p:sp>
      <p:sp>
        <p:nvSpPr>
          <p:cNvPr id="24" name="Text 22"/>
          <p:cNvSpPr/>
          <p:nvPr/>
        </p:nvSpPr>
        <p:spPr>
          <a:xfrm>
            <a:off x="8170469" y="5394960"/>
            <a:ext cx="2905658" cy="685800"/>
          </a:xfrm>
          <a:prstGeom prst="rect">
            <a:avLst/>
          </a:prstGeom>
          <a:noFill/>
          <a:ln/>
        </p:spPr>
        <p:txBody>
          <a:bodyPr wrap="square" lIns="0" tIns="0" rIns="0" bIns="0" rtlCol="0" anchor="ctr"/>
          <a:lstStyle/>
          <a:p>
            <a:pPr marL="0" indent="0">
              <a:lnSpc>
                <a:spcPct val="104000"/>
              </a:lnSpc>
              <a:buNone/>
            </a:pPr>
            <a:r>
              <a:rPr lang="en-US" sz="1100" dirty="0">
                <a:solidFill>
                  <a:srgbClr val="5D6B8C"/>
                </a:solidFill>
                <a:latin typeface="Calibri" pitchFamily="34" charset="0"/>
                <a:ea typeface="Calibri" pitchFamily="34" charset="-122"/>
                <a:cs typeface="Calibri" pitchFamily="34" charset="-120"/>
              </a:rPr>
              <a:t>migrate today's scattered agents onto one governed, observable substrate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TAKE IT ANYWHERE</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Export the super-agent — runs unchanged on any cloud</a:t>
            </a:r>
            <a:endParaRPr lang="en-US" sz="3000" dirty="0"/>
          </a:p>
        </p:txBody>
      </p:sp>
      <p:sp>
        <p:nvSpPr>
          <p:cNvPr id="5" name="Text 3"/>
          <p:cNvSpPr/>
          <p:nvPr/>
        </p:nvSpPr>
        <p:spPr>
          <a:xfrm>
            <a:off x="640080" y="1572768"/>
            <a:ext cx="10911535" cy="685800"/>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A converted agent leaves as a self-owned bundle: the declarative manifest + the open runtime + adapters. One click generates a deployable package for your target — no framework lock-in, no per-cloud rewrite.</a:t>
            </a:r>
            <a:endParaRPr lang="en-US" sz="1500" dirty="0"/>
          </a:p>
        </p:txBody>
      </p:sp>
      <p:sp>
        <p:nvSpPr>
          <p:cNvPr id="6" name="Shape 4"/>
          <p:cNvSpPr/>
          <p:nvPr/>
        </p:nvSpPr>
        <p:spPr>
          <a:xfrm>
            <a:off x="640080" y="2377440"/>
            <a:ext cx="4937760" cy="2788920"/>
          </a:xfrm>
          <a:prstGeom prst="roundRect">
            <a:avLst>
              <a:gd name="adj" fmla="val 2951"/>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Text 5"/>
          <p:cNvSpPr/>
          <p:nvPr/>
        </p:nvSpPr>
        <p:spPr>
          <a:xfrm>
            <a:off x="960120" y="2560320"/>
            <a:ext cx="4297680" cy="365760"/>
          </a:xfrm>
          <a:prstGeom prst="rect">
            <a:avLst/>
          </a:prstGeom>
          <a:noFill/>
          <a:ln/>
        </p:spPr>
        <p:txBody>
          <a:bodyPr wrap="square" lIns="0" tIns="0" rIns="0" bIns="0" rtlCol="0" anchor="ctr"/>
          <a:lstStyle/>
          <a:p>
            <a:pPr marL="0" indent="0">
              <a:buNone/>
            </a:pPr>
            <a:r>
              <a:rPr lang="en-US" sz="1600" b="1" dirty="0">
                <a:solidFill>
                  <a:srgbClr val="14233F"/>
                </a:solidFill>
                <a:latin typeface="Cambria" pitchFamily="34" charset="0"/>
                <a:ea typeface="Cambria" pitchFamily="34" charset="-122"/>
                <a:cs typeface="Cambria" pitchFamily="34" charset="-120"/>
              </a:rPr>
              <a:t>What leaves with you</a:t>
            </a:r>
            <a:endParaRPr lang="en-US" sz="1600" dirty="0"/>
          </a:p>
        </p:txBody>
      </p:sp>
      <p:sp>
        <p:nvSpPr>
          <p:cNvPr id="8" name="Shape 6"/>
          <p:cNvSpPr/>
          <p:nvPr/>
        </p:nvSpPr>
        <p:spPr>
          <a:xfrm>
            <a:off x="960120" y="3063240"/>
            <a:ext cx="384048" cy="384048"/>
          </a:xfrm>
          <a:prstGeom prst="ellipse">
            <a:avLst/>
          </a:prstGeom>
          <a:solidFill>
            <a:srgbClr val="EAFBF5"/>
          </a:solidFill>
          <a:ln/>
        </p:spPr>
        <p:txBody>
          <a:bodyPr/>
          <a:lstStyle/>
          <a:p>
            <a:endParaRPr/>
          </a:p>
        </p:txBody>
      </p:sp>
      <p:sp>
        <p:nvSpPr>
          <p:cNvPr id="9" name="Shape 7"/>
          <p:cNvSpPr/>
          <p:nvPr/>
        </p:nvSpPr>
        <p:spPr>
          <a:xfrm>
            <a:off x="1060704" y="3163824"/>
            <a:ext cx="182880" cy="182880"/>
          </a:xfrm>
          <a:prstGeom prst="ellipse">
            <a:avLst/>
          </a:prstGeom>
          <a:solidFill>
            <a:srgbClr val="22D3AA"/>
          </a:solidFill>
          <a:ln/>
        </p:spPr>
        <p:txBody>
          <a:bodyPr/>
          <a:lstStyle/>
          <a:p>
            <a:endParaRPr/>
          </a:p>
        </p:txBody>
      </p:sp>
      <p:sp>
        <p:nvSpPr>
          <p:cNvPr id="10" name="Text 8"/>
          <p:cNvSpPr/>
          <p:nvPr/>
        </p:nvSpPr>
        <p:spPr>
          <a:xfrm>
            <a:off x="1508760" y="3026664"/>
            <a:ext cx="3840480" cy="320040"/>
          </a:xfrm>
          <a:prstGeom prst="rect">
            <a:avLst/>
          </a:prstGeom>
          <a:noFill/>
          <a:ln/>
        </p:spPr>
        <p:txBody>
          <a:bodyPr wrap="square" lIns="0" tIns="0" rIns="0" bIns="0" rtlCol="0" anchor="ctr"/>
          <a:lstStyle/>
          <a:p>
            <a:pPr marL="0" indent="0">
              <a:buNone/>
            </a:pPr>
            <a:r>
              <a:rPr lang="en-US" sz="1350" b="1" dirty="0">
                <a:solidFill>
                  <a:srgbClr val="14233F"/>
                </a:solidFill>
                <a:latin typeface="Cambria" pitchFamily="34" charset="0"/>
                <a:ea typeface="Cambria" pitchFamily="34" charset="-122"/>
                <a:cs typeface="Cambria" pitchFamily="34" charset="-120"/>
              </a:rPr>
              <a:t>Manifest</a:t>
            </a:r>
            <a:endParaRPr lang="en-US" sz="1350" dirty="0"/>
          </a:p>
        </p:txBody>
      </p:sp>
      <p:sp>
        <p:nvSpPr>
          <p:cNvPr id="11" name="Text 9"/>
          <p:cNvSpPr/>
          <p:nvPr/>
        </p:nvSpPr>
        <p:spPr>
          <a:xfrm>
            <a:off x="1508760" y="3319272"/>
            <a:ext cx="3840480" cy="36576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capabilities + ontology mappings + governance — the portable brain</a:t>
            </a:r>
            <a:endParaRPr lang="en-US" sz="1050" dirty="0"/>
          </a:p>
        </p:txBody>
      </p:sp>
      <p:sp>
        <p:nvSpPr>
          <p:cNvPr id="12" name="Shape 10"/>
          <p:cNvSpPr/>
          <p:nvPr/>
        </p:nvSpPr>
        <p:spPr>
          <a:xfrm>
            <a:off x="960120" y="3721608"/>
            <a:ext cx="384048" cy="384048"/>
          </a:xfrm>
          <a:prstGeom prst="ellipse">
            <a:avLst/>
          </a:prstGeom>
          <a:solidFill>
            <a:srgbClr val="EAFBF5"/>
          </a:solidFill>
          <a:ln/>
        </p:spPr>
        <p:txBody>
          <a:bodyPr/>
          <a:lstStyle/>
          <a:p>
            <a:endParaRPr/>
          </a:p>
        </p:txBody>
      </p:sp>
      <p:sp>
        <p:nvSpPr>
          <p:cNvPr id="13" name="Shape 11"/>
          <p:cNvSpPr/>
          <p:nvPr/>
        </p:nvSpPr>
        <p:spPr>
          <a:xfrm>
            <a:off x="1060704" y="3822192"/>
            <a:ext cx="182880" cy="182880"/>
          </a:xfrm>
          <a:prstGeom prst="ellipse">
            <a:avLst/>
          </a:prstGeom>
          <a:solidFill>
            <a:srgbClr val="22D3AA"/>
          </a:solidFill>
          <a:ln/>
        </p:spPr>
        <p:txBody>
          <a:bodyPr/>
          <a:lstStyle/>
          <a:p>
            <a:endParaRPr/>
          </a:p>
        </p:txBody>
      </p:sp>
      <p:sp>
        <p:nvSpPr>
          <p:cNvPr id="14" name="Text 12"/>
          <p:cNvSpPr/>
          <p:nvPr/>
        </p:nvSpPr>
        <p:spPr>
          <a:xfrm>
            <a:off x="1508760" y="3685032"/>
            <a:ext cx="3840480" cy="320040"/>
          </a:xfrm>
          <a:prstGeom prst="rect">
            <a:avLst/>
          </a:prstGeom>
          <a:noFill/>
          <a:ln/>
        </p:spPr>
        <p:txBody>
          <a:bodyPr wrap="square" lIns="0" tIns="0" rIns="0" bIns="0" rtlCol="0" anchor="ctr"/>
          <a:lstStyle/>
          <a:p>
            <a:pPr marL="0" indent="0">
              <a:buNone/>
            </a:pPr>
            <a:r>
              <a:rPr lang="en-US" sz="1350" b="1" dirty="0">
                <a:solidFill>
                  <a:srgbClr val="14233F"/>
                </a:solidFill>
                <a:latin typeface="Cambria" pitchFamily="34" charset="0"/>
                <a:ea typeface="Cambria" pitchFamily="34" charset="-122"/>
                <a:cs typeface="Cambria" pitchFamily="34" charset="-120"/>
              </a:rPr>
              <a:t>Open runtime</a:t>
            </a:r>
            <a:endParaRPr lang="en-US" sz="1350" dirty="0"/>
          </a:p>
        </p:txBody>
      </p:sp>
      <p:sp>
        <p:nvSpPr>
          <p:cNvPr id="15" name="Text 13"/>
          <p:cNvSpPr/>
          <p:nvPr/>
        </p:nvSpPr>
        <p:spPr>
          <a:xfrm>
            <a:off x="1508760" y="3977640"/>
            <a:ext cx="3840480" cy="36576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the seven shared layers; self-hostable, no lock-in</a:t>
            </a:r>
            <a:endParaRPr lang="en-US" sz="1050" dirty="0"/>
          </a:p>
        </p:txBody>
      </p:sp>
      <p:sp>
        <p:nvSpPr>
          <p:cNvPr id="16" name="Shape 14"/>
          <p:cNvSpPr/>
          <p:nvPr/>
        </p:nvSpPr>
        <p:spPr>
          <a:xfrm>
            <a:off x="960120" y="4379976"/>
            <a:ext cx="384048" cy="384048"/>
          </a:xfrm>
          <a:prstGeom prst="ellipse">
            <a:avLst/>
          </a:prstGeom>
          <a:solidFill>
            <a:srgbClr val="EAFBF5"/>
          </a:solidFill>
          <a:ln/>
        </p:spPr>
        <p:txBody>
          <a:bodyPr/>
          <a:lstStyle/>
          <a:p>
            <a:endParaRPr/>
          </a:p>
        </p:txBody>
      </p:sp>
      <p:sp>
        <p:nvSpPr>
          <p:cNvPr id="17" name="Shape 15"/>
          <p:cNvSpPr/>
          <p:nvPr/>
        </p:nvSpPr>
        <p:spPr>
          <a:xfrm>
            <a:off x="1060704" y="4480560"/>
            <a:ext cx="182880" cy="182880"/>
          </a:xfrm>
          <a:prstGeom prst="ellipse">
            <a:avLst/>
          </a:prstGeom>
          <a:solidFill>
            <a:srgbClr val="22D3AA"/>
          </a:solidFill>
          <a:ln/>
        </p:spPr>
        <p:txBody>
          <a:bodyPr/>
          <a:lstStyle/>
          <a:p>
            <a:endParaRPr/>
          </a:p>
        </p:txBody>
      </p:sp>
      <p:sp>
        <p:nvSpPr>
          <p:cNvPr id="18" name="Text 16"/>
          <p:cNvSpPr/>
          <p:nvPr/>
        </p:nvSpPr>
        <p:spPr>
          <a:xfrm>
            <a:off x="1508760" y="4343400"/>
            <a:ext cx="3840480" cy="320040"/>
          </a:xfrm>
          <a:prstGeom prst="rect">
            <a:avLst/>
          </a:prstGeom>
          <a:noFill/>
          <a:ln/>
        </p:spPr>
        <p:txBody>
          <a:bodyPr wrap="square" lIns="0" tIns="0" rIns="0" bIns="0" rtlCol="0" anchor="ctr"/>
          <a:lstStyle/>
          <a:p>
            <a:pPr marL="0" indent="0">
              <a:buNone/>
            </a:pPr>
            <a:r>
              <a:rPr lang="en-US" sz="1350" b="1" dirty="0">
                <a:solidFill>
                  <a:srgbClr val="14233F"/>
                </a:solidFill>
                <a:latin typeface="Cambria" pitchFamily="34" charset="0"/>
                <a:ea typeface="Cambria" pitchFamily="34" charset="-122"/>
                <a:cs typeface="Cambria" pitchFamily="34" charset="-120"/>
              </a:rPr>
              <a:t>Adapters + config</a:t>
            </a:r>
            <a:endParaRPr lang="en-US" sz="1350" dirty="0"/>
          </a:p>
        </p:txBody>
      </p:sp>
      <p:sp>
        <p:nvSpPr>
          <p:cNvPr id="19" name="Text 17"/>
          <p:cNvSpPr/>
          <p:nvPr/>
        </p:nvSpPr>
        <p:spPr>
          <a:xfrm>
            <a:off x="1508760" y="4636008"/>
            <a:ext cx="3840480" cy="36576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connect your systems via env vars — credentials never in code</a:t>
            </a:r>
            <a:endParaRPr lang="en-US" sz="1050" dirty="0"/>
          </a:p>
        </p:txBody>
      </p:sp>
      <p:sp>
        <p:nvSpPr>
          <p:cNvPr id="20" name="Shape 18"/>
          <p:cNvSpPr/>
          <p:nvPr/>
        </p:nvSpPr>
        <p:spPr>
          <a:xfrm>
            <a:off x="5852160" y="2377440"/>
            <a:ext cx="5699455" cy="2788920"/>
          </a:xfrm>
          <a:prstGeom prst="roundRect">
            <a:avLst>
              <a:gd name="adj" fmla="val 2951"/>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1" name="Text 19"/>
          <p:cNvSpPr/>
          <p:nvPr/>
        </p:nvSpPr>
        <p:spPr>
          <a:xfrm>
            <a:off x="6172200" y="2560320"/>
            <a:ext cx="5486400" cy="365760"/>
          </a:xfrm>
          <a:prstGeom prst="rect">
            <a:avLst/>
          </a:prstGeom>
          <a:noFill/>
          <a:ln/>
        </p:spPr>
        <p:txBody>
          <a:bodyPr wrap="square" lIns="0" tIns="0" rIns="0" bIns="0" rtlCol="0" anchor="ctr"/>
          <a:lstStyle/>
          <a:p>
            <a:pPr marL="0" indent="0">
              <a:buNone/>
            </a:pPr>
            <a:r>
              <a:rPr lang="en-US" sz="1600" b="1" dirty="0">
                <a:solidFill>
                  <a:srgbClr val="14233F"/>
                </a:solidFill>
                <a:latin typeface="Cambria" pitchFamily="34" charset="0"/>
                <a:ea typeface="Cambria" pitchFamily="34" charset="-122"/>
                <a:cs typeface="Cambria" pitchFamily="34" charset="-120"/>
              </a:rPr>
              <a:t>Where it runs — one image, every cloud</a:t>
            </a:r>
            <a:endParaRPr lang="en-US" sz="1600" dirty="0"/>
          </a:p>
        </p:txBody>
      </p:sp>
      <p:sp>
        <p:nvSpPr>
          <p:cNvPr id="22" name="Shape 20"/>
          <p:cNvSpPr/>
          <p:nvPr/>
        </p:nvSpPr>
        <p:spPr>
          <a:xfrm>
            <a:off x="6172200" y="3063240"/>
            <a:ext cx="1691640" cy="457200"/>
          </a:xfrm>
          <a:prstGeom prst="roundRect">
            <a:avLst>
              <a:gd name="adj" fmla="val 20000"/>
            </a:avLst>
          </a:prstGeom>
          <a:solidFill>
            <a:srgbClr val="EAFBF5"/>
          </a:solidFill>
          <a:ln w="12700">
            <a:solidFill>
              <a:srgbClr val="22D3AA"/>
            </a:solidFill>
            <a:prstDash val="solid"/>
          </a:ln>
        </p:spPr>
        <p:txBody>
          <a:bodyPr/>
          <a:lstStyle/>
          <a:p>
            <a:endParaRPr/>
          </a:p>
        </p:txBody>
      </p:sp>
      <p:sp>
        <p:nvSpPr>
          <p:cNvPr id="23" name="Text 21"/>
          <p:cNvSpPr/>
          <p:nvPr/>
        </p:nvSpPr>
        <p:spPr>
          <a:xfrm>
            <a:off x="6172200" y="3063240"/>
            <a:ext cx="1691640" cy="457200"/>
          </a:xfrm>
          <a:prstGeom prst="rect">
            <a:avLst/>
          </a:prstGeom>
          <a:noFill/>
          <a:ln/>
        </p:spPr>
        <p:txBody>
          <a:bodyPr wrap="square" lIns="0" tIns="0" rIns="0" bIns="0" rtlCol="0" anchor="ctr"/>
          <a:lstStyle/>
          <a:p>
            <a:pPr marL="0" indent="0" algn="ctr">
              <a:buNone/>
            </a:pPr>
            <a:r>
              <a:rPr lang="en-US" sz="1150" b="1" dirty="0">
                <a:solidFill>
                  <a:srgbClr val="0E9E80"/>
                </a:solidFill>
                <a:latin typeface="Calibri" pitchFamily="34" charset="0"/>
                <a:ea typeface="Calibri" pitchFamily="34" charset="-122"/>
                <a:cs typeface="Calibri" pitchFamily="34" charset="-120"/>
              </a:rPr>
              <a:t>Docker</a:t>
            </a:r>
            <a:endParaRPr lang="en-US" sz="1150" dirty="0"/>
          </a:p>
        </p:txBody>
      </p:sp>
      <p:sp>
        <p:nvSpPr>
          <p:cNvPr id="24" name="Shape 22"/>
          <p:cNvSpPr/>
          <p:nvPr/>
        </p:nvSpPr>
        <p:spPr>
          <a:xfrm>
            <a:off x="8001000" y="3063240"/>
            <a:ext cx="1691640" cy="457200"/>
          </a:xfrm>
          <a:prstGeom prst="roundRect">
            <a:avLst>
              <a:gd name="adj" fmla="val 20000"/>
            </a:avLst>
          </a:prstGeom>
          <a:solidFill>
            <a:srgbClr val="EAFBF5"/>
          </a:solidFill>
          <a:ln w="12700">
            <a:solidFill>
              <a:srgbClr val="22D3AA"/>
            </a:solidFill>
            <a:prstDash val="solid"/>
          </a:ln>
        </p:spPr>
        <p:txBody>
          <a:bodyPr/>
          <a:lstStyle/>
          <a:p>
            <a:endParaRPr/>
          </a:p>
        </p:txBody>
      </p:sp>
      <p:sp>
        <p:nvSpPr>
          <p:cNvPr id="25" name="Text 23"/>
          <p:cNvSpPr/>
          <p:nvPr/>
        </p:nvSpPr>
        <p:spPr>
          <a:xfrm>
            <a:off x="8001000" y="3063240"/>
            <a:ext cx="1691640" cy="457200"/>
          </a:xfrm>
          <a:prstGeom prst="rect">
            <a:avLst/>
          </a:prstGeom>
          <a:noFill/>
          <a:ln/>
        </p:spPr>
        <p:txBody>
          <a:bodyPr wrap="square" lIns="0" tIns="0" rIns="0" bIns="0" rtlCol="0" anchor="ctr"/>
          <a:lstStyle/>
          <a:p>
            <a:pPr marL="0" indent="0" algn="ctr">
              <a:buNone/>
            </a:pPr>
            <a:r>
              <a:rPr lang="en-US" sz="1150" b="1" dirty="0">
                <a:solidFill>
                  <a:srgbClr val="0E9E80"/>
                </a:solidFill>
                <a:latin typeface="Calibri" pitchFamily="34" charset="0"/>
                <a:ea typeface="Calibri" pitchFamily="34" charset="-122"/>
                <a:cs typeface="Calibri" pitchFamily="34" charset="-120"/>
              </a:rPr>
              <a:t>Kubernetes</a:t>
            </a:r>
            <a:endParaRPr lang="en-US" sz="1150" dirty="0"/>
          </a:p>
        </p:txBody>
      </p:sp>
      <p:sp>
        <p:nvSpPr>
          <p:cNvPr id="26" name="Shape 24"/>
          <p:cNvSpPr/>
          <p:nvPr/>
        </p:nvSpPr>
        <p:spPr>
          <a:xfrm>
            <a:off x="9829800" y="3063240"/>
            <a:ext cx="1691640" cy="457200"/>
          </a:xfrm>
          <a:prstGeom prst="roundRect">
            <a:avLst>
              <a:gd name="adj" fmla="val 20000"/>
            </a:avLst>
          </a:prstGeom>
          <a:solidFill>
            <a:srgbClr val="EAFBF5"/>
          </a:solidFill>
          <a:ln w="12700">
            <a:solidFill>
              <a:srgbClr val="22D3AA"/>
            </a:solidFill>
            <a:prstDash val="solid"/>
          </a:ln>
        </p:spPr>
        <p:txBody>
          <a:bodyPr/>
          <a:lstStyle/>
          <a:p>
            <a:endParaRPr/>
          </a:p>
        </p:txBody>
      </p:sp>
      <p:sp>
        <p:nvSpPr>
          <p:cNvPr id="27" name="Text 25"/>
          <p:cNvSpPr/>
          <p:nvPr/>
        </p:nvSpPr>
        <p:spPr>
          <a:xfrm>
            <a:off x="9829800" y="3063240"/>
            <a:ext cx="1691640" cy="457200"/>
          </a:xfrm>
          <a:prstGeom prst="rect">
            <a:avLst/>
          </a:prstGeom>
          <a:noFill/>
          <a:ln/>
        </p:spPr>
        <p:txBody>
          <a:bodyPr wrap="square" lIns="0" tIns="0" rIns="0" bIns="0" rtlCol="0" anchor="ctr"/>
          <a:lstStyle/>
          <a:p>
            <a:pPr marL="0" indent="0" algn="ctr">
              <a:buNone/>
            </a:pPr>
            <a:r>
              <a:rPr lang="en-US" sz="1150" b="1" dirty="0">
                <a:solidFill>
                  <a:srgbClr val="0E9E80"/>
                </a:solidFill>
                <a:latin typeface="Calibri" pitchFamily="34" charset="0"/>
                <a:ea typeface="Calibri" pitchFamily="34" charset="-122"/>
                <a:cs typeface="Calibri" pitchFamily="34" charset="-120"/>
              </a:rPr>
              <a:t>Cloud Run</a:t>
            </a:r>
            <a:endParaRPr lang="en-US" sz="1150" dirty="0"/>
          </a:p>
        </p:txBody>
      </p:sp>
      <p:sp>
        <p:nvSpPr>
          <p:cNvPr id="28" name="Shape 26"/>
          <p:cNvSpPr/>
          <p:nvPr/>
        </p:nvSpPr>
        <p:spPr>
          <a:xfrm>
            <a:off x="6172200" y="3666744"/>
            <a:ext cx="1691640" cy="457200"/>
          </a:xfrm>
          <a:prstGeom prst="roundRect">
            <a:avLst>
              <a:gd name="adj" fmla="val 20000"/>
            </a:avLst>
          </a:prstGeom>
          <a:solidFill>
            <a:srgbClr val="EAFBF5"/>
          </a:solidFill>
          <a:ln w="12700">
            <a:solidFill>
              <a:srgbClr val="22D3AA"/>
            </a:solidFill>
            <a:prstDash val="solid"/>
          </a:ln>
        </p:spPr>
        <p:txBody>
          <a:bodyPr/>
          <a:lstStyle/>
          <a:p>
            <a:endParaRPr/>
          </a:p>
        </p:txBody>
      </p:sp>
      <p:sp>
        <p:nvSpPr>
          <p:cNvPr id="29" name="Text 27"/>
          <p:cNvSpPr/>
          <p:nvPr/>
        </p:nvSpPr>
        <p:spPr>
          <a:xfrm>
            <a:off x="6172200" y="3666744"/>
            <a:ext cx="1691640" cy="457200"/>
          </a:xfrm>
          <a:prstGeom prst="rect">
            <a:avLst/>
          </a:prstGeom>
          <a:noFill/>
          <a:ln/>
        </p:spPr>
        <p:txBody>
          <a:bodyPr wrap="square" lIns="0" tIns="0" rIns="0" bIns="0" rtlCol="0" anchor="ctr"/>
          <a:lstStyle/>
          <a:p>
            <a:pPr marL="0" indent="0" algn="ctr">
              <a:buNone/>
            </a:pPr>
            <a:r>
              <a:rPr lang="en-US" sz="1150" b="1" dirty="0">
                <a:solidFill>
                  <a:srgbClr val="0E9E80"/>
                </a:solidFill>
                <a:latin typeface="Calibri" pitchFamily="34" charset="0"/>
                <a:ea typeface="Calibri" pitchFamily="34" charset="-122"/>
                <a:cs typeface="Calibri" pitchFamily="34" charset="-120"/>
              </a:rPr>
              <a:t>Databricks App</a:t>
            </a:r>
            <a:endParaRPr lang="en-US" sz="1150" dirty="0"/>
          </a:p>
        </p:txBody>
      </p:sp>
      <p:sp>
        <p:nvSpPr>
          <p:cNvPr id="30" name="Shape 28"/>
          <p:cNvSpPr/>
          <p:nvPr/>
        </p:nvSpPr>
        <p:spPr>
          <a:xfrm>
            <a:off x="8001000" y="3666744"/>
            <a:ext cx="1691640" cy="457200"/>
          </a:xfrm>
          <a:prstGeom prst="roundRect">
            <a:avLst>
              <a:gd name="adj" fmla="val 20000"/>
            </a:avLst>
          </a:prstGeom>
          <a:solidFill>
            <a:srgbClr val="EAFBF5"/>
          </a:solidFill>
          <a:ln w="12700">
            <a:solidFill>
              <a:srgbClr val="22D3AA"/>
            </a:solidFill>
            <a:prstDash val="solid"/>
          </a:ln>
        </p:spPr>
        <p:txBody>
          <a:bodyPr/>
          <a:lstStyle/>
          <a:p>
            <a:endParaRPr/>
          </a:p>
        </p:txBody>
      </p:sp>
      <p:sp>
        <p:nvSpPr>
          <p:cNvPr id="31" name="Text 29"/>
          <p:cNvSpPr/>
          <p:nvPr/>
        </p:nvSpPr>
        <p:spPr>
          <a:xfrm>
            <a:off x="8001000" y="3666744"/>
            <a:ext cx="1691640" cy="457200"/>
          </a:xfrm>
          <a:prstGeom prst="rect">
            <a:avLst/>
          </a:prstGeom>
          <a:noFill/>
          <a:ln/>
        </p:spPr>
        <p:txBody>
          <a:bodyPr wrap="square" lIns="0" tIns="0" rIns="0" bIns="0" rtlCol="0" anchor="ctr"/>
          <a:lstStyle/>
          <a:p>
            <a:pPr marL="0" indent="0" algn="ctr">
              <a:buNone/>
            </a:pPr>
            <a:r>
              <a:rPr lang="en-US" sz="1150" b="1" dirty="0">
                <a:solidFill>
                  <a:srgbClr val="0E9E80"/>
                </a:solidFill>
                <a:latin typeface="Calibri" pitchFamily="34" charset="0"/>
                <a:ea typeface="Calibri" pitchFamily="34" charset="-122"/>
                <a:cs typeface="Calibri" pitchFamily="34" charset="-120"/>
              </a:rPr>
              <a:t>MCP server</a:t>
            </a:r>
            <a:endParaRPr lang="en-US" sz="1150" dirty="0"/>
          </a:p>
        </p:txBody>
      </p:sp>
      <p:sp>
        <p:nvSpPr>
          <p:cNvPr id="32" name="Shape 30"/>
          <p:cNvSpPr/>
          <p:nvPr/>
        </p:nvSpPr>
        <p:spPr>
          <a:xfrm>
            <a:off x="9829800" y="3666744"/>
            <a:ext cx="1691640" cy="457200"/>
          </a:xfrm>
          <a:prstGeom prst="roundRect">
            <a:avLst>
              <a:gd name="adj" fmla="val 20000"/>
            </a:avLst>
          </a:prstGeom>
          <a:solidFill>
            <a:srgbClr val="EAFBF5"/>
          </a:solidFill>
          <a:ln w="12700">
            <a:solidFill>
              <a:srgbClr val="22D3AA"/>
            </a:solidFill>
            <a:prstDash val="solid"/>
          </a:ln>
        </p:spPr>
        <p:txBody>
          <a:bodyPr/>
          <a:lstStyle/>
          <a:p>
            <a:endParaRPr/>
          </a:p>
        </p:txBody>
      </p:sp>
      <p:sp>
        <p:nvSpPr>
          <p:cNvPr id="33" name="Text 31"/>
          <p:cNvSpPr/>
          <p:nvPr/>
        </p:nvSpPr>
        <p:spPr>
          <a:xfrm>
            <a:off x="9829800" y="3666744"/>
            <a:ext cx="1691640" cy="457200"/>
          </a:xfrm>
          <a:prstGeom prst="rect">
            <a:avLst/>
          </a:prstGeom>
          <a:noFill/>
          <a:ln/>
        </p:spPr>
        <p:txBody>
          <a:bodyPr wrap="square" lIns="0" tIns="0" rIns="0" bIns="0" rtlCol="0" anchor="ctr"/>
          <a:lstStyle/>
          <a:p>
            <a:pPr marL="0" indent="0" algn="ctr">
              <a:buNone/>
            </a:pPr>
            <a:r>
              <a:rPr lang="en-US" sz="1150" b="1" dirty="0">
                <a:solidFill>
                  <a:srgbClr val="0E9E80"/>
                </a:solidFill>
                <a:latin typeface="Calibri" pitchFamily="34" charset="0"/>
                <a:ea typeface="Calibri" pitchFamily="34" charset="-122"/>
                <a:cs typeface="Calibri" pitchFamily="34" charset="-120"/>
              </a:rPr>
              <a:t>Local CLI</a:t>
            </a:r>
            <a:endParaRPr lang="en-US" sz="1150" dirty="0"/>
          </a:p>
        </p:txBody>
      </p:sp>
      <p:sp>
        <p:nvSpPr>
          <p:cNvPr id="34" name="Text 32"/>
          <p:cNvSpPr/>
          <p:nvPr/>
        </p:nvSpPr>
        <p:spPr>
          <a:xfrm>
            <a:off x="6172200" y="4434840"/>
            <a:ext cx="5486400" cy="548640"/>
          </a:xfrm>
          <a:prstGeom prst="rect">
            <a:avLst/>
          </a:prstGeom>
          <a:noFill/>
          <a:ln/>
        </p:spPr>
        <p:txBody>
          <a:bodyPr wrap="square" lIns="0" tIns="0" rIns="0" bIns="0" rtlCol="0" anchor="ctr"/>
          <a:lstStyle/>
          <a:p>
            <a:pPr marL="0" indent="0">
              <a:lnSpc>
                <a:spcPct val="105000"/>
              </a:lnSpc>
              <a:buNone/>
            </a:pPr>
            <a:r>
              <a:rPr lang="en-US" sz="1150" i="1" dirty="0">
                <a:solidFill>
                  <a:srgbClr val="5D6B8C"/>
                </a:solidFill>
                <a:latin typeface="Calibri" pitchFamily="34" charset="0"/>
                <a:ea typeface="Calibri" pitchFamily="34" charset="-122"/>
                <a:cs typeface="Calibri" pitchFamily="34" charset="-120"/>
              </a:rPr>
              <a:t>Runs on AWS (ECS/EKS) · Azure (ACI/AKS/Container Apps) · GCP (Cloud Run/GKE) · on-prem Kubernetes</a:t>
            </a:r>
            <a:endParaRPr lang="en-US" sz="1150" dirty="0"/>
          </a:p>
        </p:txBody>
      </p:sp>
      <p:sp>
        <p:nvSpPr>
          <p:cNvPr id="35" name="Shape 33"/>
          <p:cNvSpPr/>
          <p:nvPr/>
        </p:nvSpPr>
        <p:spPr>
          <a:xfrm>
            <a:off x="640080" y="5303520"/>
            <a:ext cx="2556434" cy="914400"/>
          </a:xfrm>
          <a:prstGeom prst="roundRect">
            <a:avLst>
              <a:gd name="adj" fmla="val 9000"/>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36" name="Text 34"/>
          <p:cNvSpPr/>
          <p:nvPr/>
        </p:nvSpPr>
        <p:spPr>
          <a:xfrm>
            <a:off x="841248" y="5413248"/>
            <a:ext cx="2190674" cy="320040"/>
          </a:xfrm>
          <a:prstGeom prst="rect">
            <a:avLst/>
          </a:prstGeom>
          <a:noFill/>
          <a:ln/>
        </p:spPr>
        <p:txBody>
          <a:bodyPr wrap="square" lIns="0" tIns="0" rIns="0" bIns="0" rtlCol="0" anchor="ctr"/>
          <a:lstStyle/>
          <a:p>
            <a:pPr marL="0" indent="0">
              <a:buNone/>
            </a:pPr>
            <a:r>
              <a:rPr lang="en-US" sz="1300" b="1" dirty="0">
                <a:solidFill>
                  <a:srgbClr val="0E9E80"/>
                </a:solidFill>
                <a:latin typeface="Cambria" pitchFamily="34" charset="0"/>
                <a:ea typeface="Cambria" pitchFamily="34" charset="-122"/>
                <a:cs typeface="Cambria" pitchFamily="34" charset="-120"/>
              </a:rPr>
              <a:t>One container</a:t>
            </a:r>
            <a:endParaRPr lang="en-US" sz="1300" dirty="0"/>
          </a:p>
        </p:txBody>
      </p:sp>
      <p:sp>
        <p:nvSpPr>
          <p:cNvPr id="37" name="Text 35"/>
          <p:cNvSpPr/>
          <p:nvPr/>
        </p:nvSpPr>
        <p:spPr>
          <a:xfrm>
            <a:off x="841248" y="5724144"/>
            <a:ext cx="2190674" cy="45720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same image, every cloud</a:t>
            </a:r>
            <a:endParaRPr lang="en-US" sz="1050" dirty="0"/>
          </a:p>
        </p:txBody>
      </p:sp>
      <p:sp>
        <p:nvSpPr>
          <p:cNvPr id="38" name="Shape 36"/>
          <p:cNvSpPr/>
          <p:nvPr/>
        </p:nvSpPr>
        <p:spPr>
          <a:xfrm>
            <a:off x="3425114" y="5303520"/>
            <a:ext cx="2556434" cy="914400"/>
          </a:xfrm>
          <a:prstGeom prst="roundRect">
            <a:avLst>
              <a:gd name="adj" fmla="val 9000"/>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39" name="Text 37"/>
          <p:cNvSpPr/>
          <p:nvPr/>
        </p:nvSpPr>
        <p:spPr>
          <a:xfrm>
            <a:off x="3626282" y="5413248"/>
            <a:ext cx="2190674" cy="320040"/>
          </a:xfrm>
          <a:prstGeom prst="rect">
            <a:avLst/>
          </a:prstGeom>
          <a:noFill/>
          <a:ln/>
        </p:spPr>
        <p:txBody>
          <a:bodyPr wrap="square" lIns="0" tIns="0" rIns="0" bIns="0" rtlCol="0" anchor="ctr"/>
          <a:lstStyle/>
          <a:p>
            <a:pPr marL="0" indent="0">
              <a:buNone/>
            </a:pPr>
            <a:r>
              <a:rPr lang="en-US" sz="1300" b="1" dirty="0">
                <a:solidFill>
                  <a:srgbClr val="0E9E80"/>
                </a:solidFill>
                <a:latin typeface="Cambria" pitchFamily="34" charset="0"/>
                <a:ea typeface="Cambria" pitchFamily="34" charset="-122"/>
                <a:cs typeface="Cambria" pitchFamily="34" charset="-120"/>
              </a:rPr>
              <a:t>12-factor config</a:t>
            </a:r>
            <a:endParaRPr lang="en-US" sz="1300" dirty="0"/>
          </a:p>
        </p:txBody>
      </p:sp>
      <p:sp>
        <p:nvSpPr>
          <p:cNvPr id="40" name="Text 38"/>
          <p:cNvSpPr/>
          <p:nvPr/>
        </p:nvSpPr>
        <p:spPr>
          <a:xfrm>
            <a:off x="3626282" y="5724144"/>
            <a:ext cx="2190674" cy="45720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move clouds = env change, not code</a:t>
            </a:r>
            <a:endParaRPr lang="en-US" sz="1050" dirty="0"/>
          </a:p>
        </p:txBody>
      </p:sp>
      <p:sp>
        <p:nvSpPr>
          <p:cNvPr id="41" name="Shape 39"/>
          <p:cNvSpPr/>
          <p:nvPr/>
        </p:nvSpPr>
        <p:spPr>
          <a:xfrm>
            <a:off x="6210148" y="5303520"/>
            <a:ext cx="2556434" cy="914400"/>
          </a:xfrm>
          <a:prstGeom prst="roundRect">
            <a:avLst>
              <a:gd name="adj" fmla="val 9000"/>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42" name="Text 40"/>
          <p:cNvSpPr/>
          <p:nvPr/>
        </p:nvSpPr>
        <p:spPr>
          <a:xfrm>
            <a:off x="6411316" y="5413248"/>
            <a:ext cx="2190674" cy="320040"/>
          </a:xfrm>
          <a:prstGeom prst="rect">
            <a:avLst/>
          </a:prstGeom>
          <a:noFill/>
          <a:ln/>
        </p:spPr>
        <p:txBody>
          <a:bodyPr wrap="square" lIns="0" tIns="0" rIns="0" bIns="0" rtlCol="0" anchor="ctr"/>
          <a:lstStyle/>
          <a:p>
            <a:pPr marL="0" indent="0">
              <a:buNone/>
            </a:pPr>
            <a:r>
              <a:rPr lang="en-US" sz="1300" b="1" dirty="0">
                <a:solidFill>
                  <a:srgbClr val="0E9E80"/>
                </a:solidFill>
                <a:latin typeface="Cambria" pitchFamily="34" charset="0"/>
                <a:ea typeface="Cambria" pitchFamily="34" charset="-122"/>
                <a:cs typeface="Cambria" pitchFamily="34" charset="-120"/>
              </a:rPr>
              <a:t>Model-neutral</a:t>
            </a:r>
            <a:endParaRPr lang="en-US" sz="1300" dirty="0"/>
          </a:p>
        </p:txBody>
      </p:sp>
      <p:sp>
        <p:nvSpPr>
          <p:cNvPr id="43" name="Text 41"/>
          <p:cNvSpPr/>
          <p:nvPr/>
        </p:nvSpPr>
        <p:spPr>
          <a:xfrm>
            <a:off x="6411316" y="5724144"/>
            <a:ext cx="2190674" cy="45720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any OpenAI-compatible gateway, or self-host</a:t>
            </a:r>
            <a:endParaRPr lang="en-US" sz="1050" dirty="0"/>
          </a:p>
        </p:txBody>
      </p:sp>
      <p:sp>
        <p:nvSpPr>
          <p:cNvPr id="44" name="Shape 42"/>
          <p:cNvSpPr/>
          <p:nvPr/>
        </p:nvSpPr>
        <p:spPr>
          <a:xfrm>
            <a:off x="8995181" y="5303520"/>
            <a:ext cx="2556434" cy="914400"/>
          </a:xfrm>
          <a:prstGeom prst="roundRect">
            <a:avLst>
              <a:gd name="adj" fmla="val 9000"/>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45" name="Text 43"/>
          <p:cNvSpPr/>
          <p:nvPr/>
        </p:nvSpPr>
        <p:spPr>
          <a:xfrm>
            <a:off x="9196349" y="5413248"/>
            <a:ext cx="2190674" cy="320040"/>
          </a:xfrm>
          <a:prstGeom prst="rect">
            <a:avLst/>
          </a:prstGeom>
          <a:noFill/>
          <a:ln/>
        </p:spPr>
        <p:txBody>
          <a:bodyPr wrap="square" lIns="0" tIns="0" rIns="0" bIns="0" rtlCol="0" anchor="ctr"/>
          <a:lstStyle/>
          <a:p>
            <a:pPr marL="0" indent="0">
              <a:buNone/>
            </a:pPr>
            <a:r>
              <a:rPr lang="en-US" sz="1300" b="1" dirty="0">
                <a:solidFill>
                  <a:srgbClr val="0E9E80"/>
                </a:solidFill>
                <a:latin typeface="Cambria" pitchFamily="34" charset="0"/>
                <a:ea typeface="Cambria" pitchFamily="34" charset="-122"/>
                <a:cs typeface="Cambria" pitchFamily="34" charset="-120"/>
              </a:rPr>
              <a:t>Data-neutral</a:t>
            </a:r>
            <a:endParaRPr lang="en-US" sz="1300" dirty="0"/>
          </a:p>
        </p:txBody>
      </p:sp>
      <p:sp>
        <p:nvSpPr>
          <p:cNvPr id="46" name="Text 44"/>
          <p:cNvSpPr/>
          <p:nvPr/>
        </p:nvSpPr>
        <p:spPr>
          <a:xfrm>
            <a:off x="9196349" y="5724144"/>
            <a:ext cx="2190674" cy="45720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swap the adapter; ontology travels in the manifest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MESSAGING</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What this means for each leader</a:t>
            </a:r>
            <a:endParaRPr lang="en-US" sz="3000" dirty="0"/>
          </a:p>
        </p:txBody>
      </p:sp>
      <p:sp>
        <p:nvSpPr>
          <p:cNvPr id="5" name="Shape 3"/>
          <p:cNvSpPr/>
          <p:nvPr/>
        </p:nvSpPr>
        <p:spPr>
          <a:xfrm>
            <a:off x="640080" y="1965960"/>
            <a:ext cx="3393338" cy="3931920"/>
          </a:xfrm>
          <a:prstGeom prst="roundRect">
            <a:avLst>
              <a:gd name="adj" fmla="val 2425"/>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6" name="Shape 4"/>
          <p:cNvSpPr/>
          <p:nvPr/>
        </p:nvSpPr>
        <p:spPr>
          <a:xfrm>
            <a:off x="914400" y="2194560"/>
            <a:ext cx="640080" cy="640080"/>
          </a:xfrm>
          <a:prstGeom prst="ellipse">
            <a:avLst/>
          </a:prstGeom>
          <a:solidFill>
            <a:srgbClr val="13203A"/>
          </a:solidFill>
          <a:ln/>
        </p:spPr>
        <p:txBody>
          <a:bodyPr/>
          <a:lstStyle/>
          <a:p>
            <a:endParaRPr/>
          </a:p>
        </p:txBody>
      </p:sp>
      <p:sp>
        <p:nvSpPr>
          <p:cNvPr id="7" name="Text 5"/>
          <p:cNvSpPr/>
          <p:nvPr/>
        </p:nvSpPr>
        <p:spPr>
          <a:xfrm>
            <a:off x="914400" y="2194560"/>
            <a:ext cx="640080" cy="640080"/>
          </a:xfrm>
          <a:prstGeom prst="rect">
            <a:avLst/>
          </a:prstGeom>
          <a:noFill/>
          <a:ln/>
        </p:spPr>
        <p:txBody>
          <a:bodyPr wrap="square" lIns="0" tIns="0" rIns="0" bIns="0" rtlCol="0" anchor="ctr"/>
          <a:lstStyle/>
          <a:p>
            <a:pPr marL="0" indent="0" algn="ctr">
              <a:buNone/>
            </a:pPr>
            <a:r>
              <a:rPr lang="en-US" sz="1600" b="1" dirty="0">
                <a:solidFill>
                  <a:srgbClr val="22D3AA"/>
                </a:solidFill>
                <a:latin typeface="Cambria" pitchFamily="34" charset="0"/>
                <a:ea typeface="Cambria" pitchFamily="34" charset="-122"/>
                <a:cs typeface="Cambria" pitchFamily="34" charset="-120"/>
              </a:rPr>
              <a:t>C</a:t>
            </a:r>
            <a:endParaRPr lang="en-US" sz="1600" dirty="0"/>
          </a:p>
        </p:txBody>
      </p:sp>
      <p:sp>
        <p:nvSpPr>
          <p:cNvPr id="8" name="Text 6"/>
          <p:cNvSpPr/>
          <p:nvPr/>
        </p:nvSpPr>
        <p:spPr>
          <a:xfrm>
            <a:off x="1645920" y="2212848"/>
            <a:ext cx="2204618" cy="365760"/>
          </a:xfrm>
          <a:prstGeom prst="rect">
            <a:avLst/>
          </a:prstGeom>
          <a:noFill/>
          <a:ln/>
        </p:spPr>
        <p:txBody>
          <a:bodyPr wrap="square" lIns="0" tIns="0" rIns="0" bIns="0" rtlCol="0" anchor="ctr"/>
          <a:lstStyle/>
          <a:p>
            <a:pPr marL="0" indent="0">
              <a:buNone/>
            </a:pPr>
            <a:r>
              <a:rPr lang="en-US" sz="1800" b="1" dirty="0">
                <a:solidFill>
                  <a:srgbClr val="14233F"/>
                </a:solidFill>
                <a:latin typeface="Cambria" pitchFamily="34" charset="0"/>
                <a:ea typeface="Cambria" pitchFamily="34" charset="-122"/>
                <a:cs typeface="Cambria" pitchFamily="34" charset="-120"/>
              </a:rPr>
              <a:t>CEO</a:t>
            </a:r>
            <a:endParaRPr lang="en-US" sz="1800" dirty="0"/>
          </a:p>
        </p:txBody>
      </p:sp>
      <p:sp>
        <p:nvSpPr>
          <p:cNvPr id="9" name="Text 7"/>
          <p:cNvSpPr/>
          <p:nvPr/>
        </p:nvSpPr>
        <p:spPr>
          <a:xfrm>
            <a:off x="1645920" y="2578608"/>
            <a:ext cx="2204618" cy="274320"/>
          </a:xfrm>
          <a:prstGeom prst="rect">
            <a:avLst/>
          </a:prstGeom>
          <a:noFill/>
          <a:ln/>
        </p:spPr>
        <p:txBody>
          <a:bodyPr wrap="square" lIns="0" tIns="0" rIns="0" bIns="0" rtlCol="0" anchor="ctr"/>
          <a:lstStyle/>
          <a:p>
            <a:pPr marL="0" indent="0">
              <a:buNone/>
            </a:pPr>
            <a:r>
              <a:rPr lang="en-US" sz="1000" b="1" kern="0" spc="100" dirty="0">
                <a:solidFill>
                  <a:srgbClr val="0E9E80"/>
                </a:solidFill>
                <a:latin typeface="Calibri" pitchFamily="34" charset="0"/>
                <a:ea typeface="Calibri" pitchFamily="34" charset="-122"/>
                <a:cs typeface="Calibri" pitchFamily="34" charset="-120"/>
              </a:rPr>
              <a:t>STRATEGIC</a:t>
            </a:r>
            <a:endParaRPr lang="en-US" sz="1000" dirty="0"/>
          </a:p>
        </p:txBody>
      </p:sp>
      <p:sp>
        <p:nvSpPr>
          <p:cNvPr id="10" name="Text 8"/>
          <p:cNvSpPr/>
          <p:nvPr/>
        </p:nvSpPr>
        <p:spPr>
          <a:xfrm>
            <a:off x="914400" y="3063240"/>
            <a:ext cx="2844698" cy="182880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Compete on speed: ship new AI capability as configuration, not multi-month projects. One portable, governed platform — not a sprawl of pilots or vendor lock-in.</a:t>
            </a:r>
            <a:endParaRPr lang="en-US" sz="1250" dirty="0"/>
          </a:p>
        </p:txBody>
      </p:sp>
      <p:sp>
        <p:nvSpPr>
          <p:cNvPr id="11" name="Shape 9"/>
          <p:cNvSpPr/>
          <p:nvPr/>
        </p:nvSpPr>
        <p:spPr>
          <a:xfrm>
            <a:off x="914400" y="5074920"/>
            <a:ext cx="2844698" cy="0"/>
          </a:xfrm>
          <a:prstGeom prst="line">
            <a:avLst/>
          </a:prstGeom>
          <a:noFill/>
          <a:ln w="12700">
            <a:solidFill>
              <a:srgbClr val="DCE6F2"/>
            </a:solidFill>
            <a:prstDash val="solid"/>
          </a:ln>
        </p:spPr>
        <p:txBody>
          <a:bodyPr/>
          <a:lstStyle/>
          <a:p>
            <a:endParaRPr/>
          </a:p>
        </p:txBody>
      </p:sp>
      <p:sp>
        <p:nvSpPr>
          <p:cNvPr id="12" name="Text 10"/>
          <p:cNvSpPr/>
          <p:nvPr/>
        </p:nvSpPr>
        <p:spPr>
          <a:xfrm>
            <a:off x="914400" y="5166360"/>
            <a:ext cx="2844698" cy="640080"/>
          </a:xfrm>
          <a:prstGeom prst="rect">
            <a:avLst/>
          </a:prstGeom>
          <a:noFill/>
          <a:ln/>
        </p:spPr>
        <p:txBody>
          <a:bodyPr wrap="square" lIns="0" tIns="0" rIns="0" bIns="0" rtlCol="0" anchor="ctr"/>
          <a:lstStyle/>
          <a:p>
            <a:pPr marL="0" indent="0">
              <a:lnSpc>
                <a:spcPct val="103000"/>
              </a:lnSpc>
              <a:buNone/>
            </a:pPr>
            <a:r>
              <a:rPr lang="en-US" sz="1200" b="1" i="1" dirty="0">
                <a:solidFill>
                  <a:srgbClr val="14233F"/>
                </a:solidFill>
                <a:latin typeface="Calibri" pitchFamily="34" charset="0"/>
                <a:ea typeface="Calibri" pitchFamily="34" charset="-122"/>
                <a:cs typeface="Calibri" pitchFamily="34" charset="-120"/>
              </a:rPr>
              <a:t>Outcome: faster transformation, defensible moat.</a:t>
            </a:r>
            <a:endParaRPr lang="en-US" sz="1200" dirty="0"/>
          </a:p>
        </p:txBody>
      </p:sp>
      <p:sp>
        <p:nvSpPr>
          <p:cNvPr id="13" name="Shape 11"/>
          <p:cNvSpPr/>
          <p:nvPr/>
        </p:nvSpPr>
        <p:spPr>
          <a:xfrm>
            <a:off x="4399178" y="1965960"/>
            <a:ext cx="3393338" cy="3931920"/>
          </a:xfrm>
          <a:prstGeom prst="roundRect">
            <a:avLst>
              <a:gd name="adj" fmla="val 2425"/>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4" name="Shape 12"/>
          <p:cNvSpPr/>
          <p:nvPr/>
        </p:nvSpPr>
        <p:spPr>
          <a:xfrm>
            <a:off x="4673498" y="2194560"/>
            <a:ext cx="640080" cy="640080"/>
          </a:xfrm>
          <a:prstGeom prst="ellipse">
            <a:avLst/>
          </a:prstGeom>
          <a:solidFill>
            <a:srgbClr val="13203A"/>
          </a:solidFill>
          <a:ln/>
        </p:spPr>
        <p:txBody>
          <a:bodyPr/>
          <a:lstStyle/>
          <a:p>
            <a:endParaRPr/>
          </a:p>
        </p:txBody>
      </p:sp>
      <p:sp>
        <p:nvSpPr>
          <p:cNvPr id="15" name="Text 13"/>
          <p:cNvSpPr/>
          <p:nvPr/>
        </p:nvSpPr>
        <p:spPr>
          <a:xfrm>
            <a:off x="4673498" y="2194560"/>
            <a:ext cx="640080" cy="640080"/>
          </a:xfrm>
          <a:prstGeom prst="rect">
            <a:avLst/>
          </a:prstGeom>
          <a:noFill/>
          <a:ln/>
        </p:spPr>
        <p:txBody>
          <a:bodyPr wrap="square" lIns="0" tIns="0" rIns="0" bIns="0" rtlCol="0" anchor="ctr"/>
          <a:lstStyle/>
          <a:p>
            <a:pPr marL="0" indent="0" algn="ctr">
              <a:buNone/>
            </a:pPr>
            <a:r>
              <a:rPr lang="en-US" sz="1600" b="1" dirty="0">
                <a:solidFill>
                  <a:srgbClr val="22D3AA"/>
                </a:solidFill>
                <a:latin typeface="Cambria" pitchFamily="34" charset="0"/>
                <a:ea typeface="Cambria" pitchFamily="34" charset="-122"/>
                <a:cs typeface="Cambria" pitchFamily="34" charset="-120"/>
              </a:rPr>
              <a:t>$</a:t>
            </a:r>
            <a:endParaRPr lang="en-US" sz="1600" dirty="0"/>
          </a:p>
        </p:txBody>
      </p:sp>
      <p:sp>
        <p:nvSpPr>
          <p:cNvPr id="16" name="Text 14"/>
          <p:cNvSpPr/>
          <p:nvPr/>
        </p:nvSpPr>
        <p:spPr>
          <a:xfrm>
            <a:off x="5405018" y="2212848"/>
            <a:ext cx="2204618" cy="365760"/>
          </a:xfrm>
          <a:prstGeom prst="rect">
            <a:avLst/>
          </a:prstGeom>
          <a:noFill/>
          <a:ln/>
        </p:spPr>
        <p:txBody>
          <a:bodyPr wrap="square" lIns="0" tIns="0" rIns="0" bIns="0" rtlCol="0" anchor="ctr"/>
          <a:lstStyle/>
          <a:p>
            <a:pPr marL="0" indent="0">
              <a:buNone/>
            </a:pPr>
            <a:r>
              <a:rPr lang="en-US" sz="1800" b="1" dirty="0">
                <a:solidFill>
                  <a:srgbClr val="14233F"/>
                </a:solidFill>
                <a:latin typeface="Cambria" pitchFamily="34" charset="0"/>
                <a:ea typeface="Cambria" pitchFamily="34" charset="-122"/>
                <a:cs typeface="Cambria" pitchFamily="34" charset="-120"/>
              </a:rPr>
              <a:t>CFO</a:t>
            </a:r>
            <a:endParaRPr lang="en-US" sz="1800" dirty="0"/>
          </a:p>
        </p:txBody>
      </p:sp>
      <p:sp>
        <p:nvSpPr>
          <p:cNvPr id="17" name="Text 15"/>
          <p:cNvSpPr/>
          <p:nvPr/>
        </p:nvSpPr>
        <p:spPr>
          <a:xfrm>
            <a:off x="5405018" y="2578608"/>
            <a:ext cx="2204618" cy="274320"/>
          </a:xfrm>
          <a:prstGeom prst="rect">
            <a:avLst/>
          </a:prstGeom>
          <a:noFill/>
          <a:ln/>
        </p:spPr>
        <p:txBody>
          <a:bodyPr wrap="square" lIns="0" tIns="0" rIns="0" bIns="0" rtlCol="0" anchor="ctr"/>
          <a:lstStyle/>
          <a:p>
            <a:pPr marL="0" indent="0">
              <a:buNone/>
            </a:pPr>
            <a:r>
              <a:rPr lang="en-US" sz="1000" b="1" kern="0" spc="100" dirty="0">
                <a:solidFill>
                  <a:srgbClr val="0E9E80"/>
                </a:solidFill>
                <a:latin typeface="Calibri" pitchFamily="34" charset="0"/>
                <a:ea typeface="Calibri" pitchFamily="34" charset="-122"/>
                <a:cs typeface="Calibri" pitchFamily="34" charset="-120"/>
              </a:rPr>
              <a:t>FINANCIAL</a:t>
            </a:r>
            <a:endParaRPr lang="en-US" sz="1000" dirty="0"/>
          </a:p>
        </p:txBody>
      </p:sp>
      <p:sp>
        <p:nvSpPr>
          <p:cNvPr id="18" name="Text 16"/>
          <p:cNvSpPr/>
          <p:nvPr/>
        </p:nvSpPr>
        <p:spPr>
          <a:xfrm>
            <a:off x="4673498" y="3063240"/>
            <a:ext cx="2844698" cy="182880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~80% fewer builds, far lower run cost, ~4-month payback and ~$3.6M 3-yr savings on a 10-capability estate — with the model fully transparent and editable.</a:t>
            </a:r>
            <a:endParaRPr lang="en-US" sz="1250" dirty="0"/>
          </a:p>
        </p:txBody>
      </p:sp>
      <p:sp>
        <p:nvSpPr>
          <p:cNvPr id="19" name="Shape 17"/>
          <p:cNvSpPr/>
          <p:nvPr/>
        </p:nvSpPr>
        <p:spPr>
          <a:xfrm>
            <a:off x="4673498" y="5074920"/>
            <a:ext cx="2844698" cy="0"/>
          </a:xfrm>
          <a:prstGeom prst="line">
            <a:avLst/>
          </a:prstGeom>
          <a:noFill/>
          <a:ln w="12700">
            <a:solidFill>
              <a:srgbClr val="DCE6F2"/>
            </a:solidFill>
            <a:prstDash val="solid"/>
          </a:ln>
        </p:spPr>
        <p:txBody>
          <a:bodyPr/>
          <a:lstStyle/>
          <a:p>
            <a:endParaRPr/>
          </a:p>
        </p:txBody>
      </p:sp>
      <p:sp>
        <p:nvSpPr>
          <p:cNvPr id="20" name="Text 18"/>
          <p:cNvSpPr/>
          <p:nvPr/>
        </p:nvSpPr>
        <p:spPr>
          <a:xfrm>
            <a:off x="4673498" y="5166360"/>
            <a:ext cx="2844698" cy="640080"/>
          </a:xfrm>
          <a:prstGeom prst="rect">
            <a:avLst/>
          </a:prstGeom>
          <a:noFill/>
          <a:ln/>
        </p:spPr>
        <p:txBody>
          <a:bodyPr wrap="square" lIns="0" tIns="0" rIns="0" bIns="0" rtlCol="0" anchor="ctr"/>
          <a:lstStyle/>
          <a:p>
            <a:pPr marL="0" indent="0">
              <a:lnSpc>
                <a:spcPct val="103000"/>
              </a:lnSpc>
              <a:buNone/>
            </a:pPr>
            <a:r>
              <a:rPr lang="en-US" sz="1200" b="1" i="1" dirty="0">
                <a:solidFill>
                  <a:srgbClr val="14233F"/>
                </a:solidFill>
                <a:latin typeface="Calibri" pitchFamily="34" charset="0"/>
                <a:ea typeface="Calibri" pitchFamily="34" charset="-122"/>
                <a:cs typeface="Calibri" pitchFamily="34" charset="-120"/>
              </a:rPr>
              <a:t>Outcome: lower TCO, fast, auditable ROI.</a:t>
            </a:r>
            <a:endParaRPr lang="en-US" sz="1200" dirty="0"/>
          </a:p>
        </p:txBody>
      </p:sp>
      <p:sp>
        <p:nvSpPr>
          <p:cNvPr id="21" name="Shape 19"/>
          <p:cNvSpPr/>
          <p:nvPr/>
        </p:nvSpPr>
        <p:spPr>
          <a:xfrm>
            <a:off x="8158277" y="1965960"/>
            <a:ext cx="3393338" cy="3931920"/>
          </a:xfrm>
          <a:prstGeom prst="roundRect">
            <a:avLst>
              <a:gd name="adj" fmla="val 2425"/>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2" name="Shape 20"/>
          <p:cNvSpPr/>
          <p:nvPr/>
        </p:nvSpPr>
        <p:spPr>
          <a:xfrm>
            <a:off x="8432597" y="2194560"/>
            <a:ext cx="640080" cy="640080"/>
          </a:xfrm>
          <a:prstGeom prst="ellipse">
            <a:avLst/>
          </a:prstGeom>
          <a:solidFill>
            <a:srgbClr val="13203A"/>
          </a:solidFill>
          <a:ln/>
        </p:spPr>
        <p:txBody>
          <a:bodyPr/>
          <a:lstStyle/>
          <a:p>
            <a:endParaRPr/>
          </a:p>
        </p:txBody>
      </p:sp>
      <p:sp>
        <p:nvSpPr>
          <p:cNvPr id="23" name="Text 21"/>
          <p:cNvSpPr/>
          <p:nvPr/>
        </p:nvSpPr>
        <p:spPr>
          <a:xfrm>
            <a:off x="8432597" y="2194560"/>
            <a:ext cx="640080" cy="640080"/>
          </a:xfrm>
          <a:prstGeom prst="rect">
            <a:avLst/>
          </a:prstGeom>
          <a:noFill/>
          <a:ln/>
        </p:spPr>
        <p:txBody>
          <a:bodyPr wrap="square" lIns="0" tIns="0" rIns="0" bIns="0" rtlCol="0" anchor="ctr"/>
          <a:lstStyle/>
          <a:p>
            <a:pPr marL="0" indent="0" algn="ctr">
              <a:buNone/>
            </a:pPr>
            <a:r>
              <a:rPr lang="en-US" sz="1600" b="1" dirty="0">
                <a:solidFill>
                  <a:srgbClr val="22D3AA"/>
                </a:solidFill>
                <a:latin typeface="Cambria" pitchFamily="34" charset="0"/>
                <a:ea typeface="Cambria" pitchFamily="34" charset="-122"/>
                <a:cs typeface="Cambria" pitchFamily="34" charset="-120"/>
              </a:rPr>
              <a:t>AI</a:t>
            </a:r>
            <a:endParaRPr lang="en-US" sz="1600" dirty="0"/>
          </a:p>
        </p:txBody>
      </p:sp>
      <p:sp>
        <p:nvSpPr>
          <p:cNvPr id="24" name="Text 22"/>
          <p:cNvSpPr/>
          <p:nvPr/>
        </p:nvSpPr>
        <p:spPr>
          <a:xfrm>
            <a:off x="9164117" y="2212848"/>
            <a:ext cx="2204618" cy="365760"/>
          </a:xfrm>
          <a:prstGeom prst="rect">
            <a:avLst/>
          </a:prstGeom>
          <a:noFill/>
          <a:ln/>
        </p:spPr>
        <p:txBody>
          <a:bodyPr wrap="square" lIns="0" tIns="0" rIns="0" bIns="0" rtlCol="0" anchor="ctr"/>
          <a:lstStyle/>
          <a:p>
            <a:pPr marL="0" indent="0">
              <a:buNone/>
            </a:pPr>
            <a:r>
              <a:rPr lang="en-US" sz="1800" b="1" dirty="0">
                <a:solidFill>
                  <a:srgbClr val="14233F"/>
                </a:solidFill>
                <a:latin typeface="Cambria" pitchFamily="34" charset="0"/>
                <a:ea typeface="Cambria" pitchFamily="34" charset="-122"/>
                <a:cs typeface="Cambria" pitchFamily="34" charset="-120"/>
              </a:rPr>
              <a:t>Chief AI Officer</a:t>
            </a:r>
            <a:endParaRPr lang="en-US" sz="1800" dirty="0"/>
          </a:p>
        </p:txBody>
      </p:sp>
      <p:sp>
        <p:nvSpPr>
          <p:cNvPr id="25" name="Text 23"/>
          <p:cNvSpPr/>
          <p:nvPr/>
        </p:nvSpPr>
        <p:spPr>
          <a:xfrm>
            <a:off x="9164117" y="2578608"/>
            <a:ext cx="2204618" cy="274320"/>
          </a:xfrm>
          <a:prstGeom prst="rect">
            <a:avLst/>
          </a:prstGeom>
          <a:noFill/>
          <a:ln/>
        </p:spPr>
        <p:txBody>
          <a:bodyPr wrap="square" lIns="0" tIns="0" rIns="0" bIns="0" rtlCol="0" anchor="ctr"/>
          <a:lstStyle/>
          <a:p>
            <a:pPr marL="0" indent="0">
              <a:buNone/>
            </a:pPr>
            <a:r>
              <a:rPr lang="en-US" sz="1000" b="1" kern="0" spc="100" dirty="0">
                <a:solidFill>
                  <a:srgbClr val="0E9E80"/>
                </a:solidFill>
                <a:latin typeface="Calibri" pitchFamily="34" charset="0"/>
                <a:ea typeface="Calibri" pitchFamily="34" charset="-122"/>
                <a:cs typeface="Calibri" pitchFamily="34" charset="-120"/>
              </a:rPr>
              <a:t>TECHNICAL &amp; GOVERNANCE</a:t>
            </a:r>
            <a:endParaRPr lang="en-US" sz="1000" dirty="0"/>
          </a:p>
        </p:txBody>
      </p:sp>
      <p:sp>
        <p:nvSpPr>
          <p:cNvPr id="26" name="Text 24"/>
          <p:cNvSpPr/>
          <p:nvPr/>
        </p:nvSpPr>
        <p:spPr>
          <a:xfrm>
            <a:off x="8432597" y="3063240"/>
            <a:ext cx="2844698" cy="1828800"/>
          </a:xfrm>
          <a:prstGeom prst="rect">
            <a:avLst/>
          </a:prstGeom>
          <a:noFill/>
          <a:ln/>
        </p:spPr>
        <p:txBody>
          <a:bodyPr wrap="square" lIns="0" tIns="0" rIns="0" bIns="0" rtlCol="0" anchor="ctr"/>
          <a:lstStyle/>
          <a:p>
            <a:pPr marL="0" indent="0">
              <a:lnSpc>
                <a:spcPct val="108000"/>
              </a:lnSpc>
              <a:buNone/>
            </a:pPr>
            <a:r>
              <a:rPr lang="en-US" sz="1250" dirty="0">
                <a:solidFill>
                  <a:srgbClr val="5D6B8C"/>
                </a:solidFill>
                <a:latin typeface="Calibri" pitchFamily="34" charset="0"/>
                <a:ea typeface="Calibri" pitchFamily="34" charset="-122"/>
                <a:cs typeface="Calibri" pitchFamily="34" charset="-120"/>
              </a:rPr>
              <a:t>One substrate with shared memory, canonical ontology and accountable autonomy; uniform guardrails, full observability, open-weight models self-hosted in-perimeter.</a:t>
            </a:r>
            <a:endParaRPr lang="en-US" sz="1250" dirty="0"/>
          </a:p>
        </p:txBody>
      </p:sp>
      <p:sp>
        <p:nvSpPr>
          <p:cNvPr id="27" name="Shape 25"/>
          <p:cNvSpPr/>
          <p:nvPr/>
        </p:nvSpPr>
        <p:spPr>
          <a:xfrm>
            <a:off x="8432597" y="5074920"/>
            <a:ext cx="2844698" cy="0"/>
          </a:xfrm>
          <a:prstGeom prst="line">
            <a:avLst/>
          </a:prstGeom>
          <a:noFill/>
          <a:ln w="12700">
            <a:solidFill>
              <a:srgbClr val="DCE6F2"/>
            </a:solidFill>
            <a:prstDash val="solid"/>
          </a:ln>
        </p:spPr>
        <p:txBody>
          <a:bodyPr/>
          <a:lstStyle/>
          <a:p>
            <a:endParaRPr/>
          </a:p>
        </p:txBody>
      </p:sp>
      <p:sp>
        <p:nvSpPr>
          <p:cNvPr id="28" name="Text 26"/>
          <p:cNvSpPr/>
          <p:nvPr/>
        </p:nvSpPr>
        <p:spPr>
          <a:xfrm>
            <a:off x="8432597" y="5166360"/>
            <a:ext cx="2844698" cy="640080"/>
          </a:xfrm>
          <a:prstGeom prst="rect">
            <a:avLst/>
          </a:prstGeom>
          <a:noFill/>
          <a:ln/>
        </p:spPr>
        <p:txBody>
          <a:bodyPr wrap="square" lIns="0" tIns="0" rIns="0" bIns="0" rtlCol="0" anchor="ctr"/>
          <a:lstStyle/>
          <a:p>
            <a:pPr marL="0" indent="0">
              <a:lnSpc>
                <a:spcPct val="103000"/>
              </a:lnSpc>
              <a:buNone/>
            </a:pPr>
            <a:r>
              <a:rPr lang="en-US" sz="1200" b="1" i="1" dirty="0">
                <a:solidFill>
                  <a:srgbClr val="14233F"/>
                </a:solidFill>
                <a:latin typeface="Calibri" pitchFamily="34" charset="0"/>
                <a:ea typeface="Calibri" pitchFamily="34" charset="-122"/>
                <a:cs typeface="Calibri" pitchFamily="34" charset="-120"/>
              </a:rPr>
              <a:t>Outcome: scale safely, avoid lock-in.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PATH TO VALUE</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A staged, low-risk rollout</a:t>
            </a:r>
          </a:p>
        </p:txBody>
      </p:sp>
      <p:sp>
        <p:nvSpPr>
          <p:cNvPr id="5" name="TextBox 4"/>
          <p:cNvSpPr txBox="1"/>
          <p:nvPr/>
        </p:nvSpPr>
        <p:spPr>
          <a:xfrm>
            <a:off x="640080" y="1627632"/>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Prove, then expand, then scale — read-only first, writes gated and human-approved until validated.</a:t>
            </a:r>
          </a:p>
        </p:txBody>
      </p:sp>
      <p:sp>
        <p:nvSpPr>
          <p:cNvPr id="6" name="Rounded Rectangle 5"/>
          <p:cNvSpPr/>
          <p:nvPr/>
        </p:nvSpPr>
        <p:spPr>
          <a:xfrm>
            <a:off x="640080" y="2514600"/>
            <a:ext cx="3520440" cy="3246120"/>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19" y="2788920"/>
            <a:ext cx="502920" cy="502920"/>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19" y="2807208"/>
            <a:ext cx="502920" cy="466344"/>
          </a:xfrm>
          <a:prstGeom prst="rect">
            <a:avLst/>
          </a:prstGeom>
          <a:noFill/>
        </p:spPr>
        <p:txBody>
          <a:bodyPr wrap="square" lIns="0" tIns="0" rIns="0" bIns="0" anchor="ctr"/>
          <a:lstStyle/>
          <a:p>
            <a:pPr algn="ctr"/>
            <a:r>
              <a:rPr sz="1600" b="1">
                <a:solidFill>
                  <a:srgbClr val="FFFFFF"/>
                </a:solidFill>
                <a:latin typeface="Calibri"/>
              </a:rPr>
              <a:t>1</a:t>
            </a:r>
          </a:p>
        </p:txBody>
      </p:sp>
      <p:sp>
        <p:nvSpPr>
          <p:cNvPr id="9" name="TextBox 8"/>
          <p:cNvSpPr txBox="1"/>
          <p:nvPr/>
        </p:nvSpPr>
        <p:spPr>
          <a:xfrm>
            <a:off x="960119" y="3429000"/>
            <a:ext cx="2880360" cy="274320"/>
          </a:xfrm>
          <a:prstGeom prst="rect">
            <a:avLst/>
          </a:prstGeom>
          <a:noFill/>
        </p:spPr>
        <p:txBody>
          <a:bodyPr wrap="square" lIns="0" tIns="0" rIns="0" bIns="0" anchor="t"/>
          <a:lstStyle/>
          <a:p>
            <a:pPr algn="l"/>
            <a:r>
              <a:rPr sz="1050" b="1">
                <a:solidFill>
                  <a:srgbClr val="0E9E80"/>
                </a:solidFill>
                <a:latin typeface="Calibri"/>
              </a:rPr>
              <a:t>PHASE 1 · WEEKS 0–6</a:t>
            </a:r>
          </a:p>
        </p:txBody>
      </p:sp>
      <p:sp>
        <p:nvSpPr>
          <p:cNvPr id="10" name="TextBox 9"/>
          <p:cNvSpPr txBox="1"/>
          <p:nvPr/>
        </p:nvSpPr>
        <p:spPr>
          <a:xfrm>
            <a:off x="941832" y="3703320"/>
            <a:ext cx="2880360" cy="502920"/>
          </a:xfrm>
          <a:prstGeom prst="rect">
            <a:avLst/>
          </a:prstGeom>
          <a:noFill/>
        </p:spPr>
        <p:txBody>
          <a:bodyPr wrap="square" lIns="0" tIns="0" rIns="0" bIns="0" anchor="t"/>
          <a:lstStyle/>
          <a:p>
            <a:pPr algn="l"/>
            <a:r>
              <a:rPr sz="2600" b="1">
                <a:solidFill>
                  <a:srgbClr val="14233F"/>
                </a:solidFill>
                <a:latin typeface="Cambria"/>
              </a:rPr>
              <a:t>Prove</a:t>
            </a:r>
          </a:p>
        </p:txBody>
      </p:sp>
      <p:sp>
        <p:nvSpPr>
          <p:cNvPr id="11" name="TextBox 10"/>
          <p:cNvSpPr txBox="1"/>
          <p:nvPr/>
        </p:nvSpPr>
        <p:spPr>
          <a:xfrm>
            <a:off x="960119" y="4343400"/>
            <a:ext cx="2880360" cy="1280160"/>
          </a:xfrm>
          <a:prstGeom prst="rect">
            <a:avLst/>
          </a:prstGeom>
          <a:noFill/>
        </p:spPr>
        <p:txBody>
          <a:bodyPr wrap="square" lIns="0" tIns="0" rIns="0" bIns="0" anchor="t"/>
          <a:lstStyle/>
          <a:p>
            <a:pPr algn="l">
              <a:lnSpc>
                <a:spcPct val="106000"/>
              </a:lnSpc>
            </a:pPr>
            <a:r>
              <a:rPr sz="1200" b="0">
                <a:solidFill>
                  <a:srgbClr val="5D6B8C"/>
                </a:solidFill>
                <a:latin typeface="Calibri"/>
              </a:rPr>
              <a:t>Stand up UNAI read-only on one use case (e.g. Supplier Disruption) against your lakehouse; induce the canonical ontology; demo measured value.</a:t>
            </a:r>
          </a:p>
        </p:txBody>
      </p:sp>
      <p:sp>
        <p:nvSpPr>
          <p:cNvPr id="12" name="Rounded Rectangle 11"/>
          <p:cNvSpPr/>
          <p:nvPr/>
        </p:nvSpPr>
        <p:spPr>
          <a:xfrm>
            <a:off x="4325112" y="2514600"/>
            <a:ext cx="3520440" cy="3246120"/>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45152" y="2788920"/>
            <a:ext cx="502920" cy="502920"/>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45152" y="2807208"/>
            <a:ext cx="502920" cy="466344"/>
          </a:xfrm>
          <a:prstGeom prst="rect">
            <a:avLst/>
          </a:prstGeom>
          <a:noFill/>
        </p:spPr>
        <p:txBody>
          <a:bodyPr wrap="square" lIns="0" tIns="0" rIns="0" bIns="0" anchor="ctr"/>
          <a:lstStyle/>
          <a:p>
            <a:pPr algn="ctr"/>
            <a:r>
              <a:rPr sz="1600" b="1">
                <a:solidFill>
                  <a:srgbClr val="FFFFFF"/>
                </a:solidFill>
                <a:latin typeface="Calibri"/>
              </a:rPr>
              <a:t>2</a:t>
            </a:r>
          </a:p>
        </p:txBody>
      </p:sp>
      <p:sp>
        <p:nvSpPr>
          <p:cNvPr id="15" name="TextBox 14"/>
          <p:cNvSpPr txBox="1"/>
          <p:nvPr/>
        </p:nvSpPr>
        <p:spPr>
          <a:xfrm>
            <a:off x="4645152" y="3429000"/>
            <a:ext cx="2880360" cy="274320"/>
          </a:xfrm>
          <a:prstGeom prst="rect">
            <a:avLst/>
          </a:prstGeom>
          <a:noFill/>
        </p:spPr>
        <p:txBody>
          <a:bodyPr wrap="square" lIns="0" tIns="0" rIns="0" bIns="0" anchor="t"/>
          <a:lstStyle/>
          <a:p>
            <a:pPr algn="l"/>
            <a:r>
              <a:rPr sz="1050" b="1">
                <a:solidFill>
                  <a:srgbClr val="0E9E80"/>
                </a:solidFill>
                <a:latin typeface="Calibri"/>
              </a:rPr>
              <a:t>PHASE 2 · WEEKS 6–14</a:t>
            </a:r>
          </a:p>
        </p:txBody>
      </p:sp>
      <p:sp>
        <p:nvSpPr>
          <p:cNvPr id="16" name="TextBox 15"/>
          <p:cNvSpPr txBox="1"/>
          <p:nvPr/>
        </p:nvSpPr>
        <p:spPr>
          <a:xfrm>
            <a:off x="4626864" y="3703320"/>
            <a:ext cx="2880360" cy="502920"/>
          </a:xfrm>
          <a:prstGeom prst="rect">
            <a:avLst/>
          </a:prstGeom>
          <a:noFill/>
        </p:spPr>
        <p:txBody>
          <a:bodyPr wrap="square" lIns="0" tIns="0" rIns="0" bIns="0" anchor="t"/>
          <a:lstStyle/>
          <a:p>
            <a:pPr algn="l"/>
            <a:r>
              <a:rPr sz="2600" b="1">
                <a:solidFill>
                  <a:srgbClr val="14233F"/>
                </a:solidFill>
                <a:latin typeface="Cambria"/>
              </a:rPr>
              <a:t>Expand</a:t>
            </a:r>
          </a:p>
        </p:txBody>
      </p:sp>
      <p:sp>
        <p:nvSpPr>
          <p:cNvPr id="17" name="TextBox 16"/>
          <p:cNvSpPr txBox="1"/>
          <p:nvPr/>
        </p:nvSpPr>
        <p:spPr>
          <a:xfrm>
            <a:off x="4645152" y="4343400"/>
            <a:ext cx="2880360" cy="1280160"/>
          </a:xfrm>
          <a:prstGeom prst="rect">
            <a:avLst/>
          </a:prstGeom>
          <a:noFill/>
        </p:spPr>
        <p:txBody>
          <a:bodyPr wrap="square" lIns="0" tIns="0" rIns="0" bIns="0" anchor="t"/>
          <a:lstStyle/>
          <a:p>
            <a:pPr algn="l">
              <a:lnSpc>
                <a:spcPct val="106000"/>
              </a:lnSpc>
            </a:pPr>
            <a:r>
              <a:rPr sz="1200" b="0">
                <a:solidFill>
                  <a:srgbClr val="5D6B8C"/>
                </a:solidFill>
                <a:latin typeface="Calibri"/>
              </a:rPr>
              <a:t>Add 2–3 use cases as tool packs (Spares, RMA); enable gated write-back; wire guardrails, observability and the AI gateway.</a:t>
            </a:r>
          </a:p>
        </p:txBody>
      </p:sp>
      <p:sp>
        <p:nvSpPr>
          <p:cNvPr id="18" name="Rounded Rectangle 17"/>
          <p:cNvSpPr/>
          <p:nvPr/>
        </p:nvSpPr>
        <p:spPr>
          <a:xfrm>
            <a:off x="8010144" y="2514600"/>
            <a:ext cx="3520440" cy="324612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30184" y="2788920"/>
            <a:ext cx="502920" cy="502920"/>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0184" y="2807208"/>
            <a:ext cx="502920" cy="466344"/>
          </a:xfrm>
          <a:prstGeom prst="rect">
            <a:avLst/>
          </a:prstGeom>
          <a:noFill/>
        </p:spPr>
        <p:txBody>
          <a:bodyPr wrap="square" lIns="0" tIns="0" rIns="0" bIns="0" anchor="ctr"/>
          <a:lstStyle/>
          <a:p>
            <a:pPr algn="ctr"/>
            <a:r>
              <a:rPr sz="1600" b="1">
                <a:solidFill>
                  <a:srgbClr val="FFFFFF"/>
                </a:solidFill>
                <a:latin typeface="Calibri"/>
              </a:rPr>
              <a:t>3</a:t>
            </a:r>
          </a:p>
        </p:txBody>
      </p:sp>
      <p:sp>
        <p:nvSpPr>
          <p:cNvPr id="21" name="TextBox 20"/>
          <p:cNvSpPr txBox="1"/>
          <p:nvPr/>
        </p:nvSpPr>
        <p:spPr>
          <a:xfrm>
            <a:off x="8330184" y="3429000"/>
            <a:ext cx="2880360" cy="274320"/>
          </a:xfrm>
          <a:prstGeom prst="rect">
            <a:avLst/>
          </a:prstGeom>
          <a:noFill/>
        </p:spPr>
        <p:txBody>
          <a:bodyPr wrap="square" lIns="0" tIns="0" rIns="0" bIns="0" anchor="t"/>
          <a:lstStyle/>
          <a:p>
            <a:pPr algn="l"/>
            <a:r>
              <a:rPr sz="1050" b="1">
                <a:solidFill>
                  <a:srgbClr val="0E9E80"/>
                </a:solidFill>
                <a:latin typeface="Calibri"/>
              </a:rPr>
              <a:t>PHASE 3 · QUARTER 2+</a:t>
            </a:r>
          </a:p>
        </p:txBody>
      </p:sp>
      <p:sp>
        <p:nvSpPr>
          <p:cNvPr id="22" name="TextBox 21"/>
          <p:cNvSpPr txBox="1"/>
          <p:nvPr/>
        </p:nvSpPr>
        <p:spPr>
          <a:xfrm>
            <a:off x="8311896" y="3703320"/>
            <a:ext cx="2880360" cy="502920"/>
          </a:xfrm>
          <a:prstGeom prst="rect">
            <a:avLst/>
          </a:prstGeom>
          <a:noFill/>
        </p:spPr>
        <p:txBody>
          <a:bodyPr wrap="square" lIns="0" tIns="0" rIns="0" bIns="0" anchor="t"/>
          <a:lstStyle/>
          <a:p>
            <a:pPr algn="l"/>
            <a:r>
              <a:rPr sz="2600" b="1">
                <a:solidFill>
                  <a:srgbClr val="14233F"/>
                </a:solidFill>
                <a:latin typeface="Cambria"/>
              </a:rPr>
              <a:t>Scale</a:t>
            </a:r>
          </a:p>
        </p:txBody>
      </p:sp>
      <p:sp>
        <p:nvSpPr>
          <p:cNvPr id="23" name="TextBox 22"/>
          <p:cNvSpPr txBox="1"/>
          <p:nvPr/>
        </p:nvSpPr>
        <p:spPr>
          <a:xfrm>
            <a:off x="8330184" y="4343400"/>
            <a:ext cx="2880360" cy="1280160"/>
          </a:xfrm>
          <a:prstGeom prst="rect">
            <a:avLst/>
          </a:prstGeom>
          <a:noFill/>
        </p:spPr>
        <p:txBody>
          <a:bodyPr wrap="square" lIns="0" tIns="0" rIns="0" bIns="0" anchor="t"/>
          <a:lstStyle/>
          <a:p>
            <a:pPr algn="l">
              <a:lnSpc>
                <a:spcPct val="106000"/>
              </a:lnSpc>
            </a:pPr>
            <a:r>
              <a:rPr sz="1200" b="0">
                <a:solidFill>
                  <a:srgbClr val="5D6B8C"/>
                </a:solidFill>
                <a:latin typeface="Calibri"/>
              </a:rPr>
              <a:t>Roll across functions on the shared substrate; self-host the model in-perimeter; new capability becomes a configuration.</a:t>
            </a:r>
          </a:p>
        </p:txBody>
      </p:sp>
      <p:sp>
        <p:nvSpPr>
          <p:cNvPr id="24" name="Rounded Rectangle 23"/>
          <p:cNvSpPr/>
          <p:nvPr/>
        </p:nvSpPr>
        <p:spPr>
          <a:xfrm>
            <a:off x="640080" y="5989320"/>
            <a:ext cx="10908792" cy="457200"/>
          </a:xfrm>
          <a:prstGeom prst="roundRect">
            <a:avLst/>
          </a:prstGeom>
          <a:solidFill>
            <a:srgbClr val="FB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6016752"/>
            <a:ext cx="10515600" cy="402336"/>
          </a:xfrm>
          <a:prstGeom prst="rect">
            <a:avLst/>
          </a:prstGeom>
          <a:noFill/>
        </p:spPr>
        <p:txBody>
          <a:bodyPr wrap="square" lIns="0" tIns="0" rIns="0" bIns="0" anchor="ctr"/>
          <a:lstStyle/>
          <a:p>
            <a:pPr algn="l"/>
            <a:r>
              <a:rPr sz="1100" b="0">
                <a:solidFill>
                  <a:srgbClr val="7A5B12"/>
                </a:solidFill>
                <a:latin typeface="Calibri"/>
              </a:rPr>
              <a:t>Read-only first; writes gated and human-approved until validated. Risk is contained at every step.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PRICING</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Transparent by construction — you can see the build-up</a:t>
            </a:r>
            <a:endParaRPr lang="en-US" sz="3000" dirty="0"/>
          </a:p>
        </p:txBody>
      </p:sp>
      <p:sp>
        <p:nvSpPr>
          <p:cNvPr id="5" name="Text 3"/>
          <p:cNvSpPr/>
          <p:nvPr/>
        </p:nvSpPr>
        <p:spPr>
          <a:xfrm>
            <a:off x="640080" y="1572768"/>
            <a:ext cx="10911535" cy="658368"/>
          </a:xfrm>
          <a:prstGeom prst="rect">
            <a:avLst/>
          </a:prstGeom>
          <a:noFill/>
          <a:ln/>
        </p:spPr>
        <p:txBody>
          <a:bodyPr wrap="square" lIns="0" tIns="0" rIns="0" bIns="0" rtlCol="0" anchor="ctr"/>
          <a:lstStyle/>
          <a:p>
            <a:pPr marL="0" indent="0">
              <a:lnSpc>
                <a:spcPct val="105000"/>
              </a:lnSpc>
              <a:buNone/>
            </a:pPr>
            <a:r>
              <a:rPr lang="en-US" sz="1500" dirty="0">
                <a:solidFill>
                  <a:srgbClr val="5D6B8C"/>
                </a:solidFill>
                <a:latin typeface="Calibri" pitchFamily="34" charset="0"/>
                <a:ea typeface="Calibri" pitchFamily="34" charset="-122"/>
                <a:cs typeface="Calibri" pitchFamily="34" charset="-120"/>
              </a:rPr>
              <a:t>Value-based and decomposable: charge on capabilities (tool packs) in production — the thing that grows with customer value — never per agent. Every price is an addition of line items, so it's easy to justify.</a:t>
            </a:r>
            <a:endParaRPr lang="en-US" sz="1500" dirty="0"/>
          </a:p>
        </p:txBody>
      </p:sp>
      <p:sp>
        <p:nvSpPr>
          <p:cNvPr id="6" name="Shape 4"/>
          <p:cNvSpPr/>
          <p:nvPr/>
        </p:nvSpPr>
        <p:spPr>
          <a:xfrm>
            <a:off x="640080" y="2377440"/>
            <a:ext cx="6492240" cy="3703320"/>
          </a:xfrm>
          <a:prstGeom prst="roundRect">
            <a:avLst>
              <a:gd name="adj" fmla="val 2222"/>
            </a:avLst>
          </a:prstGeom>
          <a:solidFill>
            <a:srgbClr val="FFFFFF"/>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7" name="Text 5"/>
          <p:cNvSpPr/>
          <p:nvPr/>
        </p:nvSpPr>
        <p:spPr>
          <a:xfrm>
            <a:off x="960120" y="2560320"/>
            <a:ext cx="5852160" cy="365760"/>
          </a:xfrm>
          <a:prstGeom prst="rect">
            <a:avLst/>
          </a:prstGeom>
          <a:noFill/>
          <a:ln/>
        </p:spPr>
        <p:txBody>
          <a:bodyPr wrap="square" lIns="0" tIns="0" rIns="0" bIns="0" rtlCol="0" anchor="ctr"/>
          <a:lstStyle/>
          <a:p>
            <a:pPr marL="0" indent="0">
              <a:buNone/>
            </a:pPr>
            <a:r>
              <a:rPr lang="en-US" sz="1600" b="1" dirty="0">
                <a:solidFill>
                  <a:srgbClr val="14233F"/>
                </a:solidFill>
                <a:latin typeface="Cambria" pitchFamily="34" charset="0"/>
                <a:ea typeface="Cambria" pitchFamily="34" charset="-122"/>
                <a:cs typeface="Cambria" pitchFamily="34" charset="-120"/>
              </a:rPr>
              <a:t>How a price is built</a:t>
            </a:r>
            <a:endParaRPr lang="en-US" sz="1600" dirty="0"/>
          </a:p>
        </p:txBody>
      </p:sp>
      <p:sp>
        <p:nvSpPr>
          <p:cNvPr id="8" name="Text 6"/>
          <p:cNvSpPr/>
          <p:nvPr/>
        </p:nvSpPr>
        <p:spPr>
          <a:xfrm>
            <a:off x="960120" y="3017520"/>
            <a:ext cx="2286000" cy="502920"/>
          </a:xfrm>
          <a:prstGeom prst="rect">
            <a:avLst/>
          </a:prstGeom>
          <a:noFill/>
          <a:ln/>
        </p:spPr>
        <p:txBody>
          <a:bodyPr wrap="square" lIns="0" tIns="0" rIns="0" bIns="0" rtlCol="0" anchor="t"/>
          <a:lstStyle/>
          <a:p>
            <a:pPr marL="0" indent="0">
              <a:buNone/>
            </a:pPr>
            <a:r>
              <a:rPr lang="en-US" sz="1300" b="1" dirty="0">
                <a:solidFill>
                  <a:srgbClr val="14233F"/>
                </a:solidFill>
                <a:latin typeface="Cambria" pitchFamily="34" charset="0"/>
                <a:ea typeface="Cambria" pitchFamily="34" charset="-122"/>
                <a:cs typeface="Cambria" pitchFamily="34" charset="-120"/>
              </a:rPr>
              <a:t>Platform base</a:t>
            </a:r>
            <a:endParaRPr lang="en-US" sz="1300" dirty="0"/>
          </a:p>
        </p:txBody>
      </p:sp>
      <p:sp>
        <p:nvSpPr>
          <p:cNvPr id="9" name="Text 7"/>
          <p:cNvSpPr/>
          <p:nvPr/>
        </p:nvSpPr>
        <p:spPr>
          <a:xfrm>
            <a:off x="3291840" y="3017520"/>
            <a:ext cx="2926080" cy="50292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runtime · 7 shared layers · governance · observability · support</a:t>
            </a:r>
            <a:endParaRPr lang="en-US" sz="1050" dirty="0"/>
          </a:p>
        </p:txBody>
      </p:sp>
      <p:sp>
        <p:nvSpPr>
          <p:cNvPr id="10" name="Text 8"/>
          <p:cNvSpPr/>
          <p:nvPr/>
        </p:nvSpPr>
        <p:spPr>
          <a:xfrm>
            <a:off x="6217920" y="3017520"/>
            <a:ext cx="777240" cy="502920"/>
          </a:xfrm>
          <a:prstGeom prst="rect">
            <a:avLst/>
          </a:prstGeom>
          <a:noFill/>
          <a:ln/>
        </p:spPr>
        <p:txBody>
          <a:bodyPr wrap="square" lIns="0" tIns="0" rIns="0" bIns="0" rtlCol="0" anchor="ctr"/>
          <a:lstStyle/>
          <a:p>
            <a:pPr marL="0" indent="0" algn="r">
              <a:buNone/>
            </a:pPr>
            <a:r>
              <a:rPr lang="en-US" sz="1150" b="1" dirty="0">
                <a:solidFill>
                  <a:srgbClr val="14233F"/>
                </a:solidFill>
                <a:latin typeface="Calibri" pitchFamily="34" charset="0"/>
                <a:ea typeface="Calibri" pitchFamily="34" charset="-122"/>
                <a:cs typeface="Calibri" pitchFamily="34" charset="-120"/>
              </a:rPr>
              <a:t>$60k</a:t>
            </a:r>
            <a:endParaRPr lang="en-US" sz="1150" dirty="0"/>
          </a:p>
        </p:txBody>
      </p:sp>
      <p:sp>
        <p:nvSpPr>
          <p:cNvPr id="11" name="Text 9"/>
          <p:cNvSpPr/>
          <p:nvPr/>
        </p:nvSpPr>
        <p:spPr>
          <a:xfrm>
            <a:off x="960120" y="3584448"/>
            <a:ext cx="2286000" cy="502920"/>
          </a:xfrm>
          <a:prstGeom prst="rect">
            <a:avLst/>
          </a:prstGeom>
          <a:noFill/>
          <a:ln/>
        </p:spPr>
        <p:txBody>
          <a:bodyPr wrap="square" lIns="0" tIns="0" rIns="0" bIns="0" rtlCol="0" anchor="t"/>
          <a:lstStyle/>
          <a:p>
            <a:pPr marL="0" indent="0">
              <a:buNone/>
            </a:pPr>
            <a:r>
              <a:rPr lang="en-US" sz="1300" b="1" dirty="0">
                <a:solidFill>
                  <a:srgbClr val="0E9E80"/>
                </a:solidFill>
                <a:latin typeface="Cambria" pitchFamily="34" charset="0"/>
                <a:ea typeface="Cambria" pitchFamily="34" charset="-122"/>
                <a:cs typeface="Cambria" pitchFamily="34" charset="-120"/>
              </a:rPr>
              <a:t>+ Capability packs</a:t>
            </a:r>
            <a:endParaRPr lang="en-US" sz="1300" dirty="0"/>
          </a:p>
        </p:txBody>
      </p:sp>
      <p:sp>
        <p:nvSpPr>
          <p:cNvPr id="12" name="Text 10"/>
          <p:cNvSpPr/>
          <p:nvPr/>
        </p:nvSpPr>
        <p:spPr>
          <a:xfrm>
            <a:off x="3291840" y="3584448"/>
            <a:ext cx="2926080" cy="50292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1 pack = 1 capability (logic + ontology + governance) on the shared layers — not a new agent. Tapered.</a:t>
            </a:r>
            <a:endParaRPr lang="en-US" sz="1050" dirty="0"/>
          </a:p>
        </p:txBody>
      </p:sp>
      <p:sp>
        <p:nvSpPr>
          <p:cNvPr id="13" name="Text 11"/>
          <p:cNvSpPr/>
          <p:nvPr/>
        </p:nvSpPr>
        <p:spPr>
          <a:xfrm>
            <a:off x="6217920" y="3584448"/>
            <a:ext cx="777240" cy="502920"/>
          </a:xfrm>
          <a:prstGeom prst="rect">
            <a:avLst/>
          </a:prstGeom>
          <a:noFill/>
          <a:ln/>
        </p:spPr>
        <p:txBody>
          <a:bodyPr wrap="square" lIns="0" tIns="0" rIns="0" bIns="0" rtlCol="0" anchor="ctr"/>
          <a:lstStyle/>
          <a:p>
            <a:pPr marL="0" indent="0" algn="r">
              <a:buNone/>
            </a:pPr>
            <a:r>
              <a:rPr lang="en-US" sz="1150" b="1" dirty="0">
                <a:solidFill>
                  <a:srgbClr val="14233F"/>
                </a:solidFill>
                <a:latin typeface="Calibri" pitchFamily="34" charset="0"/>
                <a:ea typeface="Calibri" pitchFamily="34" charset="-122"/>
                <a:cs typeface="Calibri" pitchFamily="34" charset="-120"/>
              </a:rPr>
              <a:t>$25k ea</a:t>
            </a:r>
            <a:endParaRPr lang="en-US" sz="1150" dirty="0"/>
          </a:p>
        </p:txBody>
      </p:sp>
      <p:sp>
        <p:nvSpPr>
          <p:cNvPr id="14" name="Text 12"/>
          <p:cNvSpPr/>
          <p:nvPr/>
        </p:nvSpPr>
        <p:spPr>
          <a:xfrm>
            <a:off x="960120" y="4151376"/>
            <a:ext cx="2286000" cy="502920"/>
          </a:xfrm>
          <a:prstGeom prst="rect">
            <a:avLst/>
          </a:prstGeom>
          <a:noFill/>
          <a:ln/>
        </p:spPr>
        <p:txBody>
          <a:bodyPr wrap="square" lIns="0" tIns="0" rIns="0" bIns="0" rtlCol="0" anchor="t"/>
          <a:lstStyle/>
          <a:p>
            <a:pPr marL="0" indent="0">
              <a:buNone/>
            </a:pPr>
            <a:r>
              <a:rPr lang="en-US" sz="1300" b="1" dirty="0">
                <a:solidFill>
                  <a:srgbClr val="0E9E80"/>
                </a:solidFill>
                <a:latin typeface="Cambria" pitchFamily="34" charset="0"/>
                <a:ea typeface="Cambria" pitchFamily="34" charset="-122"/>
                <a:cs typeface="Cambria" pitchFamily="34" charset="-120"/>
              </a:rPr>
              <a:t>+ Connectors</a:t>
            </a:r>
            <a:endParaRPr lang="en-US" sz="1300" dirty="0"/>
          </a:p>
        </p:txBody>
      </p:sp>
      <p:sp>
        <p:nvSpPr>
          <p:cNvPr id="15" name="Text 13"/>
          <p:cNvSpPr/>
          <p:nvPr/>
        </p:nvSpPr>
        <p:spPr>
          <a:xfrm>
            <a:off x="3291840" y="4151376"/>
            <a:ext cx="2926080" cy="50292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per proprietary system; open-source connectors free</a:t>
            </a:r>
            <a:endParaRPr lang="en-US" sz="1050" dirty="0"/>
          </a:p>
        </p:txBody>
      </p:sp>
      <p:sp>
        <p:nvSpPr>
          <p:cNvPr id="16" name="Text 14"/>
          <p:cNvSpPr/>
          <p:nvPr/>
        </p:nvSpPr>
        <p:spPr>
          <a:xfrm>
            <a:off x="6217920" y="4151376"/>
            <a:ext cx="777240" cy="502920"/>
          </a:xfrm>
          <a:prstGeom prst="rect">
            <a:avLst/>
          </a:prstGeom>
          <a:noFill/>
          <a:ln/>
        </p:spPr>
        <p:txBody>
          <a:bodyPr wrap="square" lIns="0" tIns="0" rIns="0" bIns="0" rtlCol="0" anchor="ctr"/>
          <a:lstStyle/>
          <a:p>
            <a:pPr marL="0" indent="0" algn="r">
              <a:buNone/>
            </a:pPr>
            <a:r>
              <a:rPr lang="en-US" sz="1150" b="1" dirty="0">
                <a:solidFill>
                  <a:srgbClr val="14233F"/>
                </a:solidFill>
                <a:latin typeface="Calibri" pitchFamily="34" charset="0"/>
                <a:ea typeface="Calibri" pitchFamily="34" charset="-122"/>
                <a:cs typeface="Calibri" pitchFamily="34" charset="-120"/>
              </a:rPr>
              <a:t>$10k ea</a:t>
            </a:r>
            <a:endParaRPr lang="en-US" sz="1150" dirty="0"/>
          </a:p>
        </p:txBody>
      </p:sp>
      <p:sp>
        <p:nvSpPr>
          <p:cNvPr id="17" name="Text 15"/>
          <p:cNvSpPr/>
          <p:nvPr/>
        </p:nvSpPr>
        <p:spPr>
          <a:xfrm>
            <a:off x="960120" y="4718304"/>
            <a:ext cx="2286000" cy="502920"/>
          </a:xfrm>
          <a:prstGeom prst="rect">
            <a:avLst/>
          </a:prstGeom>
          <a:noFill/>
          <a:ln/>
        </p:spPr>
        <p:txBody>
          <a:bodyPr wrap="square" lIns="0" tIns="0" rIns="0" bIns="0" rtlCol="0" anchor="t"/>
          <a:lstStyle/>
          <a:p>
            <a:pPr marL="0" indent="0">
              <a:buNone/>
            </a:pPr>
            <a:r>
              <a:rPr lang="en-US" sz="1300" b="1" dirty="0">
                <a:solidFill>
                  <a:srgbClr val="0E9E80"/>
                </a:solidFill>
                <a:latin typeface="Cambria" pitchFamily="34" charset="0"/>
                <a:ea typeface="Cambria" pitchFamily="34" charset="-122"/>
                <a:cs typeface="Cambria" pitchFamily="34" charset="-120"/>
              </a:rPr>
              <a:t>+ Autonomy usage</a:t>
            </a:r>
            <a:endParaRPr lang="en-US" sz="1300" dirty="0"/>
          </a:p>
        </p:txBody>
      </p:sp>
      <p:sp>
        <p:nvSpPr>
          <p:cNvPr id="18" name="Text 16"/>
          <p:cNvSpPr/>
          <p:nvPr/>
        </p:nvSpPr>
        <p:spPr>
          <a:xfrm>
            <a:off x="3291840" y="4718304"/>
            <a:ext cx="2926080" cy="50292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1M decisions bundled; metered beyond</a:t>
            </a:r>
            <a:endParaRPr lang="en-US" sz="1050" dirty="0"/>
          </a:p>
        </p:txBody>
      </p:sp>
      <p:sp>
        <p:nvSpPr>
          <p:cNvPr id="19" name="Text 17"/>
          <p:cNvSpPr/>
          <p:nvPr/>
        </p:nvSpPr>
        <p:spPr>
          <a:xfrm>
            <a:off x="6217920" y="4718304"/>
            <a:ext cx="777240" cy="502920"/>
          </a:xfrm>
          <a:prstGeom prst="rect">
            <a:avLst/>
          </a:prstGeom>
          <a:noFill/>
          <a:ln/>
        </p:spPr>
        <p:txBody>
          <a:bodyPr wrap="square" lIns="0" tIns="0" rIns="0" bIns="0" rtlCol="0" anchor="ctr"/>
          <a:lstStyle/>
          <a:p>
            <a:pPr marL="0" indent="0" algn="r">
              <a:buNone/>
            </a:pPr>
            <a:r>
              <a:rPr lang="en-US" sz="1150" b="1" dirty="0">
                <a:solidFill>
                  <a:srgbClr val="14233F"/>
                </a:solidFill>
                <a:latin typeface="Calibri" pitchFamily="34" charset="0"/>
                <a:ea typeface="Calibri" pitchFamily="34" charset="-122"/>
                <a:cs typeface="Calibri" pitchFamily="34" charset="-120"/>
              </a:rPr>
              <a:t>$12k / M</a:t>
            </a:r>
            <a:endParaRPr lang="en-US" sz="1150" dirty="0"/>
          </a:p>
        </p:txBody>
      </p:sp>
      <p:sp>
        <p:nvSpPr>
          <p:cNvPr id="20" name="Text 18"/>
          <p:cNvSpPr/>
          <p:nvPr/>
        </p:nvSpPr>
        <p:spPr>
          <a:xfrm>
            <a:off x="960120" y="5285232"/>
            <a:ext cx="2286000" cy="502920"/>
          </a:xfrm>
          <a:prstGeom prst="rect">
            <a:avLst/>
          </a:prstGeom>
          <a:noFill/>
          <a:ln/>
        </p:spPr>
        <p:txBody>
          <a:bodyPr wrap="square" lIns="0" tIns="0" rIns="0" bIns="0" rtlCol="0" anchor="t"/>
          <a:lstStyle/>
          <a:p>
            <a:pPr marL="0" indent="0">
              <a:buNone/>
            </a:pPr>
            <a:r>
              <a:rPr lang="en-US" sz="1300" b="1" dirty="0">
                <a:solidFill>
                  <a:srgbClr val="0E9E80"/>
                </a:solidFill>
                <a:latin typeface="Cambria" pitchFamily="34" charset="0"/>
                <a:ea typeface="Cambria" pitchFamily="34" charset="-122"/>
                <a:cs typeface="Cambria" pitchFamily="34" charset="-120"/>
              </a:rPr>
              <a:t>+ Add-ons</a:t>
            </a:r>
            <a:endParaRPr lang="en-US" sz="1300" dirty="0"/>
          </a:p>
        </p:txBody>
      </p:sp>
      <p:sp>
        <p:nvSpPr>
          <p:cNvPr id="21" name="Text 19"/>
          <p:cNvSpPr/>
          <p:nvPr/>
        </p:nvSpPr>
        <p:spPr>
          <a:xfrm>
            <a:off x="3291840" y="5285232"/>
            <a:ext cx="2926080" cy="502920"/>
          </a:xfrm>
          <a:prstGeom prst="rect">
            <a:avLst/>
          </a:prstGeom>
          <a:noFill/>
          <a:ln/>
        </p:spPr>
        <p:txBody>
          <a:bodyPr wrap="square" lIns="0" tIns="0" rIns="0" bIns="0" rtlCol="0" anchor="ctr"/>
          <a:lstStyle/>
          <a:p>
            <a:pPr marL="0" indent="0">
              <a:lnSpc>
                <a:spcPct val="100000"/>
              </a:lnSpc>
              <a:buNone/>
            </a:pPr>
            <a:r>
              <a:rPr lang="en-US" sz="1050" dirty="0">
                <a:solidFill>
                  <a:srgbClr val="5D6B8C"/>
                </a:solidFill>
                <a:latin typeface="Calibri" pitchFamily="34" charset="0"/>
                <a:ea typeface="Calibri" pitchFamily="34" charset="-122"/>
                <a:cs typeface="Calibri" pitchFamily="34" charset="-120"/>
              </a:rPr>
              <a:t>Convert onboarding · self-host license · SAP connectors · SSO · support</a:t>
            </a:r>
            <a:endParaRPr lang="en-US" sz="1050" dirty="0"/>
          </a:p>
        </p:txBody>
      </p:sp>
      <p:sp>
        <p:nvSpPr>
          <p:cNvPr id="22" name="Text 20"/>
          <p:cNvSpPr/>
          <p:nvPr/>
        </p:nvSpPr>
        <p:spPr>
          <a:xfrm>
            <a:off x="6217920" y="5285232"/>
            <a:ext cx="777240" cy="502920"/>
          </a:xfrm>
          <a:prstGeom prst="rect">
            <a:avLst/>
          </a:prstGeom>
          <a:noFill/>
          <a:ln/>
        </p:spPr>
        <p:txBody>
          <a:bodyPr wrap="square" lIns="0" tIns="0" rIns="0" bIns="0" rtlCol="0" anchor="ctr"/>
          <a:lstStyle/>
          <a:p>
            <a:pPr marL="0" indent="0" algn="r">
              <a:buNone/>
            </a:pPr>
            <a:r>
              <a:rPr lang="en-US" sz="1150" b="1" dirty="0">
                <a:solidFill>
                  <a:srgbClr val="14233F"/>
                </a:solidFill>
                <a:latin typeface="Calibri" pitchFamily="34" charset="0"/>
                <a:ea typeface="Calibri" pitchFamily="34" charset="-122"/>
                <a:cs typeface="Calibri" pitchFamily="34" charset="-120"/>
              </a:rPr>
              <a:t>varies</a:t>
            </a:r>
            <a:endParaRPr lang="en-US" sz="1150" dirty="0"/>
          </a:p>
        </p:txBody>
      </p:sp>
      <p:sp>
        <p:nvSpPr>
          <p:cNvPr id="23" name="Text 21"/>
          <p:cNvSpPr/>
          <p:nvPr/>
        </p:nvSpPr>
        <p:spPr>
          <a:xfrm>
            <a:off x="960120" y="5806440"/>
            <a:ext cx="5852160" cy="274320"/>
          </a:xfrm>
          <a:prstGeom prst="rect">
            <a:avLst/>
          </a:prstGeom>
          <a:noFill/>
          <a:ln/>
        </p:spPr>
        <p:txBody>
          <a:bodyPr wrap="square" lIns="0" tIns="0" rIns="0" bIns="0" rtlCol="0" anchor="ctr"/>
          <a:lstStyle/>
          <a:p>
            <a:pPr marL="0" indent="0">
              <a:buNone/>
            </a:pPr>
            <a:r>
              <a:rPr lang="en-US" sz="1050" i="1" dirty="0">
                <a:solidFill>
                  <a:srgbClr val="5D6B8C"/>
                </a:solidFill>
                <a:latin typeface="Calibri" pitchFamily="34" charset="0"/>
                <a:ea typeface="Calibri" pitchFamily="34" charset="-122"/>
                <a:cs typeface="Calibri" pitchFamily="34" charset="-120"/>
              </a:rPr>
              <a:t>Illustrative unit prices — set to your market.</a:t>
            </a:r>
            <a:endParaRPr lang="en-US" sz="1050" dirty="0"/>
          </a:p>
        </p:txBody>
      </p:sp>
      <p:sp>
        <p:nvSpPr>
          <p:cNvPr id="24" name="Shape 22"/>
          <p:cNvSpPr/>
          <p:nvPr/>
        </p:nvSpPr>
        <p:spPr>
          <a:xfrm>
            <a:off x="7360920" y="2377440"/>
            <a:ext cx="4190695" cy="3703320"/>
          </a:xfrm>
          <a:prstGeom prst="roundRect">
            <a:avLst>
              <a:gd name="adj" fmla="val 2222"/>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5" name="Text 23"/>
          <p:cNvSpPr/>
          <p:nvPr/>
        </p:nvSpPr>
        <p:spPr>
          <a:xfrm>
            <a:off x="7680960" y="2560320"/>
            <a:ext cx="3840480" cy="365760"/>
          </a:xfrm>
          <a:prstGeom prst="rect">
            <a:avLst/>
          </a:prstGeom>
          <a:noFill/>
          <a:ln/>
        </p:spPr>
        <p:txBody>
          <a:bodyPr wrap="square" lIns="0" tIns="0" rIns="0" bIns="0" rtlCol="0" anchor="ctr"/>
          <a:lstStyle/>
          <a:p>
            <a:pPr marL="0" indent="0">
              <a:buNone/>
            </a:pPr>
            <a:r>
              <a:rPr lang="en-US" sz="1500" b="1" dirty="0">
                <a:solidFill>
                  <a:srgbClr val="14233F"/>
                </a:solidFill>
                <a:latin typeface="Cambria" pitchFamily="34" charset="0"/>
                <a:ea typeface="Cambria" pitchFamily="34" charset="-122"/>
                <a:cs typeface="Cambria" pitchFamily="34" charset="-120"/>
              </a:rPr>
              <a:t>Worked example — 10 packs</a:t>
            </a:r>
            <a:endParaRPr lang="en-US" sz="1500" dirty="0"/>
          </a:p>
        </p:txBody>
      </p:sp>
      <p:sp>
        <p:nvSpPr>
          <p:cNvPr id="26" name="Text 24"/>
          <p:cNvSpPr/>
          <p:nvPr/>
        </p:nvSpPr>
        <p:spPr>
          <a:xfrm>
            <a:off x="7680960" y="3063240"/>
            <a:ext cx="2834640" cy="365760"/>
          </a:xfrm>
          <a:prstGeom prst="rect">
            <a:avLst/>
          </a:prstGeom>
          <a:noFill/>
          <a:ln/>
        </p:spPr>
        <p:txBody>
          <a:bodyPr wrap="square" lIns="0" tIns="0" rIns="0" bIns="0" rtlCol="0" anchor="ctr"/>
          <a:lstStyle/>
          <a:p>
            <a:pPr marL="0" indent="0">
              <a:buNone/>
            </a:pPr>
            <a:r>
              <a:rPr lang="en-US" sz="1200" dirty="0">
                <a:solidFill>
                  <a:srgbClr val="5D6B8C"/>
                </a:solidFill>
                <a:latin typeface="Calibri" pitchFamily="34" charset="0"/>
                <a:ea typeface="Calibri" pitchFamily="34" charset="-122"/>
                <a:cs typeface="Calibri" pitchFamily="34" charset="-120"/>
              </a:rPr>
              <a:t>Platform base</a:t>
            </a:r>
            <a:endParaRPr lang="en-US" sz="1200" dirty="0"/>
          </a:p>
        </p:txBody>
      </p:sp>
      <p:sp>
        <p:nvSpPr>
          <p:cNvPr id="27" name="Text 25"/>
          <p:cNvSpPr/>
          <p:nvPr/>
        </p:nvSpPr>
        <p:spPr>
          <a:xfrm>
            <a:off x="10515600" y="3063240"/>
            <a:ext cx="1188720" cy="365760"/>
          </a:xfrm>
          <a:prstGeom prst="rect">
            <a:avLst/>
          </a:prstGeom>
          <a:noFill/>
          <a:ln/>
        </p:spPr>
        <p:txBody>
          <a:bodyPr wrap="square" lIns="0" tIns="0" rIns="0" bIns="0" rtlCol="0" anchor="ctr"/>
          <a:lstStyle/>
          <a:p>
            <a:pPr marL="0" indent="0" algn="r">
              <a:buNone/>
            </a:pPr>
            <a:r>
              <a:rPr lang="en-US" sz="1200" b="1" dirty="0">
                <a:solidFill>
                  <a:srgbClr val="14233F"/>
                </a:solidFill>
                <a:latin typeface="Calibri" pitchFamily="34" charset="0"/>
                <a:ea typeface="Calibri" pitchFamily="34" charset="-122"/>
                <a:cs typeface="Calibri" pitchFamily="34" charset="-120"/>
              </a:rPr>
              <a:t>$60k</a:t>
            </a:r>
            <a:endParaRPr lang="en-US" sz="1200" dirty="0"/>
          </a:p>
        </p:txBody>
      </p:sp>
      <p:sp>
        <p:nvSpPr>
          <p:cNvPr id="28" name="Text 26"/>
          <p:cNvSpPr/>
          <p:nvPr/>
        </p:nvSpPr>
        <p:spPr>
          <a:xfrm>
            <a:off x="7680960" y="3520440"/>
            <a:ext cx="2834640" cy="365760"/>
          </a:xfrm>
          <a:prstGeom prst="rect">
            <a:avLst/>
          </a:prstGeom>
          <a:noFill/>
          <a:ln/>
        </p:spPr>
        <p:txBody>
          <a:bodyPr wrap="square" lIns="0" tIns="0" rIns="0" bIns="0" rtlCol="0" anchor="ctr"/>
          <a:lstStyle/>
          <a:p>
            <a:pPr marL="0" indent="0">
              <a:buNone/>
            </a:pPr>
            <a:r>
              <a:rPr lang="en-US" sz="1200" dirty="0">
                <a:solidFill>
                  <a:srgbClr val="5D6B8C"/>
                </a:solidFill>
                <a:latin typeface="Calibri" pitchFamily="34" charset="0"/>
                <a:ea typeface="Calibri" pitchFamily="34" charset="-122"/>
                <a:cs typeface="Calibri" pitchFamily="34" charset="-120"/>
              </a:rPr>
              <a:t>10 capability packs (tapered)</a:t>
            </a:r>
            <a:endParaRPr lang="en-US" sz="1200" dirty="0"/>
          </a:p>
        </p:txBody>
      </p:sp>
      <p:sp>
        <p:nvSpPr>
          <p:cNvPr id="29" name="Text 27"/>
          <p:cNvSpPr/>
          <p:nvPr/>
        </p:nvSpPr>
        <p:spPr>
          <a:xfrm>
            <a:off x="10515600" y="3520440"/>
            <a:ext cx="1188720" cy="365760"/>
          </a:xfrm>
          <a:prstGeom prst="rect">
            <a:avLst/>
          </a:prstGeom>
          <a:noFill/>
          <a:ln/>
        </p:spPr>
        <p:txBody>
          <a:bodyPr wrap="square" lIns="0" tIns="0" rIns="0" bIns="0" rtlCol="0" anchor="ctr"/>
          <a:lstStyle/>
          <a:p>
            <a:pPr marL="0" indent="0" algn="r">
              <a:buNone/>
            </a:pPr>
            <a:r>
              <a:rPr lang="en-US" sz="1200" b="1" dirty="0">
                <a:solidFill>
                  <a:srgbClr val="14233F"/>
                </a:solidFill>
                <a:latin typeface="Calibri" pitchFamily="34" charset="0"/>
                <a:ea typeface="Calibri" pitchFamily="34" charset="-122"/>
                <a:cs typeface="Calibri" pitchFamily="34" charset="-120"/>
              </a:rPr>
              <a:t>$215k</a:t>
            </a:r>
            <a:endParaRPr lang="en-US" sz="1200" dirty="0"/>
          </a:p>
        </p:txBody>
      </p:sp>
      <p:sp>
        <p:nvSpPr>
          <p:cNvPr id="30" name="Text 28"/>
          <p:cNvSpPr/>
          <p:nvPr/>
        </p:nvSpPr>
        <p:spPr>
          <a:xfrm>
            <a:off x="7680960" y="3977640"/>
            <a:ext cx="2834640" cy="365760"/>
          </a:xfrm>
          <a:prstGeom prst="rect">
            <a:avLst/>
          </a:prstGeom>
          <a:noFill/>
          <a:ln/>
        </p:spPr>
        <p:txBody>
          <a:bodyPr wrap="square" lIns="0" tIns="0" rIns="0" bIns="0" rtlCol="0" anchor="ctr"/>
          <a:lstStyle/>
          <a:p>
            <a:pPr marL="0" indent="0">
              <a:buNone/>
            </a:pPr>
            <a:r>
              <a:rPr lang="en-US" sz="1200" dirty="0">
                <a:solidFill>
                  <a:srgbClr val="5D6B8C"/>
                </a:solidFill>
                <a:latin typeface="Calibri" pitchFamily="34" charset="0"/>
                <a:ea typeface="Calibri" pitchFamily="34" charset="-122"/>
                <a:cs typeface="Calibri" pitchFamily="34" charset="-120"/>
              </a:rPr>
              <a:t>4 connectors</a:t>
            </a:r>
            <a:endParaRPr lang="en-US" sz="1200" dirty="0"/>
          </a:p>
        </p:txBody>
      </p:sp>
      <p:sp>
        <p:nvSpPr>
          <p:cNvPr id="31" name="Text 29"/>
          <p:cNvSpPr/>
          <p:nvPr/>
        </p:nvSpPr>
        <p:spPr>
          <a:xfrm>
            <a:off x="10515600" y="3977640"/>
            <a:ext cx="1188720" cy="365760"/>
          </a:xfrm>
          <a:prstGeom prst="rect">
            <a:avLst/>
          </a:prstGeom>
          <a:noFill/>
          <a:ln/>
        </p:spPr>
        <p:txBody>
          <a:bodyPr wrap="square" lIns="0" tIns="0" rIns="0" bIns="0" rtlCol="0" anchor="ctr"/>
          <a:lstStyle/>
          <a:p>
            <a:pPr marL="0" indent="0" algn="r">
              <a:buNone/>
            </a:pPr>
            <a:r>
              <a:rPr lang="en-US" sz="1200" b="1" dirty="0">
                <a:solidFill>
                  <a:srgbClr val="14233F"/>
                </a:solidFill>
                <a:latin typeface="Calibri" pitchFamily="34" charset="0"/>
                <a:ea typeface="Calibri" pitchFamily="34" charset="-122"/>
                <a:cs typeface="Calibri" pitchFamily="34" charset="-120"/>
              </a:rPr>
              <a:t>$40k</a:t>
            </a:r>
            <a:endParaRPr lang="en-US" sz="1200" dirty="0"/>
          </a:p>
        </p:txBody>
      </p:sp>
      <p:sp>
        <p:nvSpPr>
          <p:cNvPr id="32" name="Text 30"/>
          <p:cNvSpPr/>
          <p:nvPr/>
        </p:nvSpPr>
        <p:spPr>
          <a:xfrm>
            <a:off x="7680960" y="4434840"/>
            <a:ext cx="2834640" cy="365760"/>
          </a:xfrm>
          <a:prstGeom prst="rect">
            <a:avLst/>
          </a:prstGeom>
          <a:noFill/>
          <a:ln/>
        </p:spPr>
        <p:txBody>
          <a:bodyPr wrap="square" lIns="0" tIns="0" rIns="0" bIns="0" rtlCol="0" anchor="ctr"/>
          <a:lstStyle/>
          <a:p>
            <a:pPr marL="0" indent="0">
              <a:buNone/>
            </a:pPr>
            <a:r>
              <a:rPr lang="en-US" sz="1200" dirty="0">
                <a:solidFill>
                  <a:srgbClr val="5D6B8C"/>
                </a:solidFill>
                <a:latin typeface="Calibri" pitchFamily="34" charset="0"/>
                <a:ea typeface="Calibri" pitchFamily="34" charset="-122"/>
                <a:cs typeface="Calibri" pitchFamily="34" charset="-120"/>
              </a:rPr>
              <a:t>1M decisions</a:t>
            </a:r>
            <a:endParaRPr lang="en-US" sz="1200" dirty="0"/>
          </a:p>
        </p:txBody>
      </p:sp>
      <p:sp>
        <p:nvSpPr>
          <p:cNvPr id="33" name="Text 31"/>
          <p:cNvSpPr/>
          <p:nvPr/>
        </p:nvSpPr>
        <p:spPr>
          <a:xfrm>
            <a:off x="10515600" y="4434840"/>
            <a:ext cx="1188720" cy="365760"/>
          </a:xfrm>
          <a:prstGeom prst="rect">
            <a:avLst/>
          </a:prstGeom>
          <a:noFill/>
          <a:ln/>
        </p:spPr>
        <p:txBody>
          <a:bodyPr wrap="square" lIns="0" tIns="0" rIns="0" bIns="0" rtlCol="0" anchor="ctr"/>
          <a:lstStyle/>
          <a:p>
            <a:pPr marL="0" indent="0" algn="r">
              <a:buNone/>
            </a:pPr>
            <a:r>
              <a:rPr lang="en-US" sz="1200" b="1" dirty="0">
                <a:solidFill>
                  <a:srgbClr val="14233F"/>
                </a:solidFill>
                <a:latin typeface="Calibri" pitchFamily="34" charset="0"/>
                <a:ea typeface="Calibri" pitchFamily="34" charset="-122"/>
                <a:cs typeface="Calibri" pitchFamily="34" charset="-120"/>
              </a:rPr>
              <a:t>incl.</a:t>
            </a:r>
            <a:endParaRPr lang="en-US" sz="1200" dirty="0"/>
          </a:p>
        </p:txBody>
      </p:sp>
      <p:sp>
        <p:nvSpPr>
          <p:cNvPr id="34" name="Shape 32"/>
          <p:cNvSpPr/>
          <p:nvPr/>
        </p:nvSpPr>
        <p:spPr>
          <a:xfrm>
            <a:off x="7680960" y="4846320"/>
            <a:ext cx="3840480" cy="0"/>
          </a:xfrm>
          <a:prstGeom prst="line">
            <a:avLst/>
          </a:prstGeom>
          <a:noFill/>
          <a:ln w="12700">
            <a:solidFill>
              <a:srgbClr val="DCE6F2"/>
            </a:solidFill>
            <a:prstDash val="solid"/>
          </a:ln>
        </p:spPr>
        <p:txBody>
          <a:bodyPr/>
          <a:lstStyle/>
          <a:p>
            <a:endParaRPr/>
          </a:p>
        </p:txBody>
      </p:sp>
      <p:sp>
        <p:nvSpPr>
          <p:cNvPr id="35" name="Text 33"/>
          <p:cNvSpPr/>
          <p:nvPr/>
        </p:nvSpPr>
        <p:spPr>
          <a:xfrm>
            <a:off x="7680960" y="4892040"/>
            <a:ext cx="2834640" cy="365760"/>
          </a:xfrm>
          <a:prstGeom prst="rect">
            <a:avLst/>
          </a:prstGeom>
          <a:noFill/>
          <a:ln/>
        </p:spPr>
        <p:txBody>
          <a:bodyPr wrap="square" lIns="0" tIns="0" rIns="0" bIns="0" rtlCol="0" anchor="ctr"/>
          <a:lstStyle/>
          <a:p>
            <a:pPr marL="0" indent="0">
              <a:buNone/>
            </a:pPr>
            <a:r>
              <a:rPr lang="en-US" sz="1200" b="1" dirty="0">
                <a:solidFill>
                  <a:srgbClr val="14233F"/>
                </a:solidFill>
                <a:latin typeface="Calibri" pitchFamily="34" charset="0"/>
                <a:ea typeface="Calibri" pitchFamily="34" charset="-122"/>
                <a:cs typeface="Calibri" pitchFamily="34" charset="-120"/>
              </a:rPr>
              <a:t>List price</a:t>
            </a:r>
            <a:endParaRPr lang="en-US" sz="1200" dirty="0"/>
          </a:p>
        </p:txBody>
      </p:sp>
      <p:sp>
        <p:nvSpPr>
          <p:cNvPr id="36" name="Text 34"/>
          <p:cNvSpPr/>
          <p:nvPr/>
        </p:nvSpPr>
        <p:spPr>
          <a:xfrm>
            <a:off x="10515600" y="4892040"/>
            <a:ext cx="1188720" cy="365760"/>
          </a:xfrm>
          <a:prstGeom prst="rect">
            <a:avLst/>
          </a:prstGeom>
          <a:noFill/>
          <a:ln/>
        </p:spPr>
        <p:txBody>
          <a:bodyPr wrap="square" lIns="0" tIns="0" rIns="0" bIns="0" rtlCol="0" anchor="ctr"/>
          <a:lstStyle/>
          <a:p>
            <a:pPr marL="0" indent="0" algn="r">
              <a:buNone/>
            </a:pPr>
            <a:r>
              <a:rPr lang="en-US" sz="1200" b="1" dirty="0">
                <a:solidFill>
                  <a:srgbClr val="0E9E80"/>
                </a:solidFill>
                <a:latin typeface="Calibri" pitchFamily="34" charset="0"/>
                <a:ea typeface="Calibri" pitchFamily="34" charset="-122"/>
                <a:cs typeface="Calibri" pitchFamily="34" charset="-120"/>
              </a:rPr>
              <a:t>$327k / yr</a:t>
            </a:r>
            <a:endParaRPr lang="en-US" sz="1200" dirty="0"/>
          </a:p>
        </p:txBody>
      </p:sp>
      <p:sp>
        <p:nvSpPr>
          <p:cNvPr id="37" name="Text 35"/>
          <p:cNvSpPr/>
          <p:nvPr/>
        </p:nvSpPr>
        <p:spPr>
          <a:xfrm>
            <a:off x="7680960" y="5440680"/>
            <a:ext cx="3886200" cy="594360"/>
          </a:xfrm>
          <a:prstGeom prst="rect">
            <a:avLst/>
          </a:prstGeom>
          <a:noFill/>
          <a:ln/>
        </p:spPr>
        <p:txBody>
          <a:bodyPr wrap="square" lIns="0" tIns="0" rIns="0" bIns="0" rtlCol="0" anchor="ctr"/>
          <a:lstStyle/>
          <a:p>
            <a:pPr marL="0" indent="0">
              <a:lnSpc>
                <a:spcPct val="105000"/>
              </a:lnSpc>
              <a:buNone/>
            </a:pPr>
            <a:r>
              <a:rPr lang="en-US" sz="1100" i="1" dirty="0">
                <a:solidFill>
                  <a:srgbClr val="0E9E80"/>
                </a:solidFill>
                <a:latin typeface="Calibri" pitchFamily="34" charset="0"/>
                <a:ea typeface="Calibri" pitchFamily="34" charset="-122"/>
                <a:cs typeface="Calibri" pitchFamily="34" charset="-120"/>
              </a:rPr>
              <a:t>Anchored to value: the customer saves ≈$1.07M/yr (IT economics) — list price is ≈31% of that, and they keep the rest plus all business value.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64592" cy="164592"/>
          </a:xfrm>
          <a:prstGeom prst="ellipse">
            <a:avLst/>
          </a:prstGeom>
          <a:solidFill>
            <a:srgbClr val="22D3AA"/>
          </a:solidFill>
          <a:ln/>
        </p:spPr>
        <p:txBody>
          <a:bodyPr/>
          <a:lstStyle/>
          <a:p>
            <a:endParaRPr/>
          </a:p>
        </p:txBody>
      </p:sp>
      <p:sp>
        <p:nvSpPr>
          <p:cNvPr id="3" name="Text 1"/>
          <p:cNvSpPr/>
          <p:nvPr/>
        </p:nvSpPr>
        <p:spPr>
          <a:xfrm>
            <a:off x="896112" y="457200"/>
            <a:ext cx="10058400" cy="320040"/>
          </a:xfrm>
          <a:prstGeom prst="rect">
            <a:avLst/>
          </a:prstGeom>
          <a:noFill/>
          <a:ln/>
        </p:spPr>
        <p:txBody>
          <a:bodyPr wrap="square" lIns="0" tIns="0" rIns="0" bIns="0" rtlCol="0" anchor="ctr"/>
          <a:lstStyle/>
          <a:p>
            <a:pPr marL="0" indent="0">
              <a:buNone/>
            </a:pPr>
            <a:r>
              <a:rPr lang="en-US" sz="1200" b="1" kern="0" spc="200" dirty="0">
                <a:solidFill>
                  <a:srgbClr val="0E9E80"/>
                </a:solidFill>
                <a:latin typeface="Calibri" pitchFamily="34" charset="0"/>
                <a:ea typeface="Calibri" pitchFamily="34" charset="-122"/>
                <a:cs typeface="Calibri" pitchFamily="34" charset="-120"/>
              </a:rPr>
              <a:t>PRICING TIERS</a:t>
            </a:r>
            <a:endParaRPr lang="en-US" sz="1200" dirty="0"/>
          </a:p>
        </p:txBody>
      </p:sp>
      <p:sp>
        <p:nvSpPr>
          <p:cNvPr id="4" name="Text 2"/>
          <p:cNvSpPr/>
          <p:nvPr/>
        </p:nvSpPr>
        <p:spPr>
          <a:xfrm>
            <a:off x="640080" y="786384"/>
            <a:ext cx="10911535" cy="777240"/>
          </a:xfrm>
          <a:prstGeom prst="rect">
            <a:avLst/>
          </a:prstGeom>
          <a:noFill/>
          <a:ln/>
        </p:spPr>
        <p:txBody>
          <a:bodyPr wrap="square" lIns="0" tIns="0" rIns="0" bIns="0" rtlCol="0" anchor="ctr"/>
          <a:lstStyle/>
          <a:p>
            <a:pPr marL="0" indent="0">
              <a:buNone/>
            </a:pPr>
            <a:r>
              <a:rPr lang="en-US" sz="3000" b="1" dirty="0">
                <a:solidFill>
                  <a:srgbClr val="14233F"/>
                </a:solidFill>
                <a:latin typeface="Cambria" pitchFamily="34" charset="0"/>
                <a:ea typeface="Cambria" pitchFamily="34" charset="-122"/>
                <a:cs typeface="Cambria" pitchFamily="34" charset="-120"/>
              </a:rPr>
              <a:t>Easy to buy — T-shirt sizes are presets of the same line items</a:t>
            </a:r>
            <a:endParaRPr lang="en-US" sz="3000" dirty="0"/>
          </a:p>
        </p:txBody>
      </p:sp>
      <p:sp>
        <p:nvSpPr>
          <p:cNvPr id="5" name="Shape 3"/>
          <p:cNvSpPr/>
          <p:nvPr/>
        </p:nvSpPr>
        <p:spPr>
          <a:xfrm>
            <a:off x="640080" y="2194560"/>
            <a:ext cx="2487854" cy="3657600"/>
          </a:xfrm>
          <a:prstGeom prst="roundRect">
            <a:avLst>
              <a:gd name="adj" fmla="val 3308"/>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6" name="Shape 4"/>
          <p:cNvSpPr/>
          <p:nvPr/>
        </p:nvSpPr>
        <p:spPr>
          <a:xfrm>
            <a:off x="896112" y="2450592"/>
            <a:ext cx="1975790" cy="310896"/>
          </a:xfrm>
          <a:prstGeom prst="roundRect">
            <a:avLst>
              <a:gd name="adj" fmla="val 50000"/>
            </a:avLst>
          </a:prstGeom>
          <a:solidFill>
            <a:srgbClr val="13203A"/>
          </a:solidFill>
          <a:ln/>
        </p:spPr>
        <p:txBody>
          <a:bodyPr/>
          <a:lstStyle/>
          <a:p>
            <a:endParaRPr/>
          </a:p>
        </p:txBody>
      </p:sp>
      <p:sp>
        <p:nvSpPr>
          <p:cNvPr id="7" name="Text 5"/>
          <p:cNvSpPr/>
          <p:nvPr/>
        </p:nvSpPr>
        <p:spPr>
          <a:xfrm>
            <a:off x="896112" y="2450592"/>
            <a:ext cx="197579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PILOT</a:t>
            </a:r>
            <a:endParaRPr lang="en-US" sz="1100" dirty="0"/>
          </a:p>
        </p:txBody>
      </p:sp>
      <p:sp>
        <p:nvSpPr>
          <p:cNvPr id="8" name="Text 6"/>
          <p:cNvSpPr/>
          <p:nvPr/>
        </p:nvSpPr>
        <p:spPr>
          <a:xfrm>
            <a:off x="896112" y="2880360"/>
            <a:ext cx="1975790"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Starter</a:t>
            </a:r>
            <a:endParaRPr lang="en-US" sz="1900" dirty="0"/>
          </a:p>
        </p:txBody>
      </p:sp>
      <p:sp>
        <p:nvSpPr>
          <p:cNvPr id="9" name="Text 7"/>
          <p:cNvSpPr/>
          <p:nvPr/>
        </p:nvSpPr>
        <p:spPr>
          <a:xfrm>
            <a:off x="896112" y="3383280"/>
            <a:ext cx="1975790" cy="411480"/>
          </a:xfrm>
          <a:prstGeom prst="rect">
            <a:avLst/>
          </a:prstGeom>
          <a:noFill/>
          <a:ln/>
        </p:spPr>
        <p:txBody>
          <a:bodyPr wrap="square" lIns="0" tIns="0" rIns="0" bIns="0" rtlCol="0" anchor="ctr"/>
          <a:lstStyle/>
          <a:p>
            <a:pPr marL="0" indent="0">
              <a:buNone/>
            </a:pPr>
            <a:r>
              <a:rPr lang="en-US" sz="1500" b="1" dirty="0">
                <a:solidFill>
                  <a:srgbClr val="0E9E80"/>
                </a:solidFill>
                <a:latin typeface="Cambria" pitchFamily="34" charset="0"/>
                <a:ea typeface="Cambria" pitchFamily="34" charset="-122"/>
                <a:cs typeface="Cambria" pitchFamily="34" charset="-120"/>
              </a:rPr>
              <a:t>~$120–150k</a:t>
            </a:r>
            <a:endParaRPr lang="en-US" sz="1500" dirty="0"/>
          </a:p>
        </p:txBody>
      </p:sp>
      <p:sp>
        <p:nvSpPr>
          <p:cNvPr id="10" name="Text 8"/>
          <p:cNvSpPr/>
          <p:nvPr/>
        </p:nvSpPr>
        <p:spPr>
          <a:xfrm>
            <a:off x="896112" y="3886200"/>
            <a:ext cx="1975790" cy="1280160"/>
          </a:xfrm>
          <a:prstGeom prst="rect">
            <a:avLst/>
          </a:prstGeom>
          <a:noFill/>
          <a:ln/>
        </p:spPr>
        <p:txBody>
          <a:bodyPr wrap="square" lIns="0" tIns="0" rIns="0" bIns="0" rtlCol="0" anchor="ctr"/>
          <a:lstStyle/>
          <a:p>
            <a:pPr marL="0" indent="0">
              <a:lnSpc>
                <a:spcPct val="110000"/>
              </a:lnSpc>
              <a:buNone/>
            </a:pPr>
            <a:r>
              <a:rPr lang="en-US" sz="1150" dirty="0">
                <a:solidFill>
                  <a:srgbClr val="5D6B8C"/>
                </a:solidFill>
                <a:latin typeface="Calibri" pitchFamily="34" charset="0"/>
                <a:ea typeface="Calibri" pitchFamily="34" charset="-122"/>
                <a:cs typeface="Calibri" pitchFamily="34" charset="-120"/>
              </a:rPr>
              <a:t>base + 2 packs + 2 connectors + 250k decisions</a:t>
            </a:r>
            <a:endParaRPr lang="en-US" sz="1150" dirty="0"/>
          </a:p>
        </p:txBody>
      </p:sp>
      <p:sp>
        <p:nvSpPr>
          <p:cNvPr id="11" name="Text 9"/>
          <p:cNvSpPr/>
          <p:nvPr/>
        </p:nvSpPr>
        <p:spPr>
          <a:xfrm>
            <a:off x="896112" y="5257800"/>
            <a:ext cx="1975790" cy="457200"/>
          </a:xfrm>
          <a:prstGeom prst="rect">
            <a:avLst/>
          </a:prstGeom>
          <a:noFill/>
          <a:ln/>
        </p:spPr>
        <p:txBody>
          <a:bodyPr wrap="square" lIns="0" tIns="0" rIns="0" bIns="0" rtlCol="0" anchor="ctr"/>
          <a:lstStyle/>
          <a:p>
            <a:pPr marL="0" indent="0">
              <a:buNone/>
            </a:pPr>
            <a:r>
              <a:rPr lang="en-US" sz="1100" i="1" dirty="0">
                <a:solidFill>
                  <a:srgbClr val="14233F"/>
                </a:solidFill>
                <a:latin typeface="Calibri" pitchFamily="34" charset="0"/>
                <a:ea typeface="Calibri" pitchFamily="34" charset="-122"/>
                <a:cs typeface="Calibri" pitchFamily="34" charset="-120"/>
              </a:rPr>
              <a:t>one use case, prove value</a:t>
            </a:r>
            <a:endParaRPr lang="en-US" sz="1100" dirty="0"/>
          </a:p>
        </p:txBody>
      </p:sp>
      <p:sp>
        <p:nvSpPr>
          <p:cNvPr id="12" name="Shape 10"/>
          <p:cNvSpPr/>
          <p:nvPr/>
        </p:nvSpPr>
        <p:spPr>
          <a:xfrm>
            <a:off x="3447974" y="2194560"/>
            <a:ext cx="2487854" cy="3657600"/>
          </a:xfrm>
          <a:prstGeom prst="roundRect">
            <a:avLst>
              <a:gd name="adj" fmla="val 3308"/>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13" name="Shape 11"/>
          <p:cNvSpPr/>
          <p:nvPr/>
        </p:nvSpPr>
        <p:spPr>
          <a:xfrm>
            <a:off x="3704006" y="2450592"/>
            <a:ext cx="1975790" cy="310896"/>
          </a:xfrm>
          <a:prstGeom prst="roundRect">
            <a:avLst>
              <a:gd name="adj" fmla="val 50000"/>
            </a:avLst>
          </a:prstGeom>
          <a:solidFill>
            <a:srgbClr val="13203A"/>
          </a:solidFill>
          <a:ln/>
        </p:spPr>
        <p:txBody>
          <a:bodyPr/>
          <a:lstStyle/>
          <a:p>
            <a:endParaRPr/>
          </a:p>
        </p:txBody>
      </p:sp>
      <p:sp>
        <p:nvSpPr>
          <p:cNvPr id="14" name="Text 12"/>
          <p:cNvSpPr/>
          <p:nvPr/>
        </p:nvSpPr>
        <p:spPr>
          <a:xfrm>
            <a:off x="3704006" y="2450592"/>
            <a:ext cx="197579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SCALING</a:t>
            </a:r>
            <a:endParaRPr lang="en-US" sz="1100" dirty="0"/>
          </a:p>
        </p:txBody>
      </p:sp>
      <p:sp>
        <p:nvSpPr>
          <p:cNvPr id="15" name="Text 13"/>
          <p:cNvSpPr/>
          <p:nvPr/>
        </p:nvSpPr>
        <p:spPr>
          <a:xfrm>
            <a:off x="3704006" y="2880360"/>
            <a:ext cx="1975790"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Team</a:t>
            </a:r>
            <a:endParaRPr lang="en-US" sz="1900" dirty="0"/>
          </a:p>
        </p:txBody>
      </p:sp>
      <p:sp>
        <p:nvSpPr>
          <p:cNvPr id="16" name="Text 14"/>
          <p:cNvSpPr/>
          <p:nvPr/>
        </p:nvSpPr>
        <p:spPr>
          <a:xfrm>
            <a:off x="3704006" y="3383280"/>
            <a:ext cx="1975790" cy="411480"/>
          </a:xfrm>
          <a:prstGeom prst="rect">
            <a:avLst/>
          </a:prstGeom>
          <a:noFill/>
          <a:ln/>
        </p:spPr>
        <p:txBody>
          <a:bodyPr wrap="square" lIns="0" tIns="0" rIns="0" bIns="0" rtlCol="0" anchor="ctr"/>
          <a:lstStyle/>
          <a:p>
            <a:pPr marL="0" indent="0">
              <a:buNone/>
            </a:pPr>
            <a:r>
              <a:rPr lang="en-US" sz="1500" b="1" dirty="0">
                <a:solidFill>
                  <a:srgbClr val="0E9E80"/>
                </a:solidFill>
                <a:latin typeface="Cambria" pitchFamily="34" charset="0"/>
                <a:ea typeface="Cambria" pitchFamily="34" charset="-122"/>
                <a:cs typeface="Cambria" pitchFamily="34" charset="-120"/>
              </a:rPr>
              <a:t>~$300–400k</a:t>
            </a:r>
            <a:endParaRPr lang="en-US" sz="1500" dirty="0"/>
          </a:p>
        </p:txBody>
      </p:sp>
      <p:sp>
        <p:nvSpPr>
          <p:cNvPr id="17" name="Text 15"/>
          <p:cNvSpPr/>
          <p:nvPr/>
        </p:nvSpPr>
        <p:spPr>
          <a:xfrm>
            <a:off x="3704006" y="3886200"/>
            <a:ext cx="1975790" cy="1280160"/>
          </a:xfrm>
          <a:prstGeom prst="rect">
            <a:avLst/>
          </a:prstGeom>
          <a:noFill/>
          <a:ln/>
        </p:spPr>
        <p:txBody>
          <a:bodyPr wrap="square" lIns="0" tIns="0" rIns="0" bIns="0" rtlCol="0" anchor="ctr"/>
          <a:lstStyle/>
          <a:p>
            <a:pPr marL="0" indent="0">
              <a:lnSpc>
                <a:spcPct val="110000"/>
              </a:lnSpc>
              <a:buNone/>
            </a:pPr>
            <a:r>
              <a:rPr lang="en-US" sz="1150" dirty="0">
                <a:solidFill>
                  <a:srgbClr val="5D6B8C"/>
                </a:solidFill>
                <a:latin typeface="Calibri" pitchFamily="34" charset="0"/>
                <a:ea typeface="Calibri" pitchFamily="34" charset="-122"/>
                <a:cs typeface="Calibri" pitchFamily="34" charset="-120"/>
              </a:rPr>
              <a:t>5 packs + 5 connectors + 1M decisions + prod support</a:t>
            </a:r>
            <a:endParaRPr lang="en-US" sz="1150" dirty="0"/>
          </a:p>
        </p:txBody>
      </p:sp>
      <p:sp>
        <p:nvSpPr>
          <p:cNvPr id="18" name="Text 16"/>
          <p:cNvSpPr/>
          <p:nvPr/>
        </p:nvSpPr>
        <p:spPr>
          <a:xfrm>
            <a:off x="3704006" y="5257800"/>
            <a:ext cx="1975790" cy="457200"/>
          </a:xfrm>
          <a:prstGeom prst="rect">
            <a:avLst/>
          </a:prstGeom>
          <a:noFill/>
          <a:ln/>
        </p:spPr>
        <p:txBody>
          <a:bodyPr wrap="square" lIns="0" tIns="0" rIns="0" bIns="0" rtlCol="0" anchor="ctr"/>
          <a:lstStyle/>
          <a:p>
            <a:pPr marL="0" indent="0">
              <a:buNone/>
            </a:pPr>
            <a:r>
              <a:rPr lang="en-US" sz="1100" i="1" dirty="0">
                <a:solidFill>
                  <a:srgbClr val="14233F"/>
                </a:solidFill>
                <a:latin typeface="Calibri" pitchFamily="34" charset="0"/>
                <a:ea typeface="Calibri" pitchFamily="34" charset="-122"/>
                <a:cs typeface="Calibri" pitchFamily="34" charset="-120"/>
              </a:rPr>
              <a:t>a function going to production</a:t>
            </a:r>
            <a:endParaRPr lang="en-US" sz="1100" dirty="0"/>
          </a:p>
        </p:txBody>
      </p:sp>
      <p:sp>
        <p:nvSpPr>
          <p:cNvPr id="19" name="Shape 17"/>
          <p:cNvSpPr/>
          <p:nvPr/>
        </p:nvSpPr>
        <p:spPr>
          <a:xfrm>
            <a:off x="6255868" y="2194560"/>
            <a:ext cx="2487854" cy="3657600"/>
          </a:xfrm>
          <a:prstGeom prst="roundRect">
            <a:avLst>
              <a:gd name="adj" fmla="val 3308"/>
            </a:avLst>
          </a:prstGeom>
          <a:solidFill>
            <a:srgbClr val="EAFBF5"/>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0" name="Shape 18"/>
          <p:cNvSpPr/>
          <p:nvPr/>
        </p:nvSpPr>
        <p:spPr>
          <a:xfrm>
            <a:off x="6511900" y="2450592"/>
            <a:ext cx="1975790" cy="310896"/>
          </a:xfrm>
          <a:prstGeom prst="roundRect">
            <a:avLst>
              <a:gd name="adj" fmla="val 50000"/>
            </a:avLst>
          </a:prstGeom>
          <a:solidFill>
            <a:srgbClr val="0E9E80"/>
          </a:solidFill>
          <a:ln/>
        </p:spPr>
        <p:txBody>
          <a:bodyPr/>
          <a:lstStyle/>
          <a:p>
            <a:endParaRPr/>
          </a:p>
        </p:txBody>
      </p:sp>
      <p:sp>
        <p:nvSpPr>
          <p:cNvPr id="21" name="Text 19"/>
          <p:cNvSpPr/>
          <p:nvPr/>
        </p:nvSpPr>
        <p:spPr>
          <a:xfrm>
            <a:off x="6511900" y="2450592"/>
            <a:ext cx="197579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MULTI-FUNCTION</a:t>
            </a:r>
            <a:endParaRPr lang="en-US" sz="1100" dirty="0"/>
          </a:p>
        </p:txBody>
      </p:sp>
      <p:sp>
        <p:nvSpPr>
          <p:cNvPr id="22" name="Text 20"/>
          <p:cNvSpPr/>
          <p:nvPr/>
        </p:nvSpPr>
        <p:spPr>
          <a:xfrm>
            <a:off x="6511900" y="2880360"/>
            <a:ext cx="1975790"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Business</a:t>
            </a:r>
            <a:endParaRPr lang="en-US" sz="1900" dirty="0"/>
          </a:p>
        </p:txBody>
      </p:sp>
      <p:sp>
        <p:nvSpPr>
          <p:cNvPr id="23" name="Text 21"/>
          <p:cNvSpPr/>
          <p:nvPr/>
        </p:nvSpPr>
        <p:spPr>
          <a:xfrm>
            <a:off x="6511900" y="3383280"/>
            <a:ext cx="1975790" cy="411480"/>
          </a:xfrm>
          <a:prstGeom prst="rect">
            <a:avLst/>
          </a:prstGeom>
          <a:noFill/>
          <a:ln/>
        </p:spPr>
        <p:txBody>
          <a:bodyPr wrap="square" lIns="0" tIns="0" rIns="0" bIns="0" rtlCol="0" anchor="ctr"/>
          <a:lstStyle/>
          <a:p>
            <a:pPr marL="0" indent="0">
              <a:buNone/>
            </a:pPr>
            <a:r>
              <a:rPr lang="en-US" sz="1500" b="1" dirty="0">
                <a:solidFill>
                  <a:srgbClr val="0E9E80"/>
                </a:solidFill>
                <a:latin typeface="Cambria" pitchFamily="34" charset="0"/>
                <a:ea typeface="Cambria" pitchFamily="34" charset="-122"/>
                <a:cs typeface="Cambria" pitchFamily="34" charset="-120"/>
              </a:rPr>
              <a:t>~$0.8–1M</a:t>
            </a:r>
            <a:endParaRPr lang="en-US" sz="1500" dirty="0"/>
          </a:p>
        </p:txBody>
      </p:sp>
      <p:sp>
        <p:nvSpPr>
          <p:cNvPr id="24" name="Text 22"/>
          <p:cNvSpPr/>
          <p:nvPr/>
        </p:nvSpPr>
        <p:spPr>
          <a:xfrm>
            <a:off x="6511900" y="3886200"/>
            <a:ext cx="1975790" cy="1280160"/>
          </a:xfrm>
          <a:prstGeom prst="rect">
            <a:avLst/>
          </a:prstGeom>
          <a:noFill/>
          <a:ln/>
        </p:spPr>
        <p:txBody>
          <a:bodyPr wrap="square" lIns="0" tIns="0" rIns="0" bIns="0" rtlCol="0" anchor="ctr"/>
          <a:lstStyle/>
          <a:p>
            <a:pPr marL="0" indent="0">
              <a:lnSpc>
                <a:spcPct val="110000"/>
              </a:lnSpc>
              <a:buNone/>
            </a:pPr>
            <a:r>
              <a:rPr lang="en-US" sz="1150" dirty="0">
                <a:solidFill>
                  <a:srgbClr val="5D6B8C"/>
                </a:solidFill>
                <a:latin typeface="Calibri" pitchFamily="34" charset="0"/>
                <a:ea typeface="Calibri" pitchFamily="34" charset="-122"/>
                <a:cs typeface="Calibri" pitchFamily="34" charset="-120"/>
              </a:rPr>
              <a:t>≤12 packs + unlimited OSS connectors + 5M decisions + SSO</a:t>
            </a:r>
            <a:endParaRPr lang="en-US" sz="1150" dirty="0"/>
          </a:p>
        </p:txBody>
      </p:sp>
      <p:sp>
        <p:nvSpPr>
          <p:cNvPr id="25" name="Text 23"/>
          <p:cNvSpPr/>
          <p:nvPr/>
        </p:nvSpPr>
        <p:spPr>
          <a:xfrm>
            <a:off x="6511900" y="5257800"/>
            <a:ext cx="1975790" cy="457200"/>
          </a:xfrm>
          <a:prstGeom prst="rect">
            <a:avLst/>
          </a:prstGeom>
          <a:noFill/>
          <a:ln/>
        </p:spPr>
        <p:txBody>
          <a:bodyPr wrap="square" lIns="0" tIns="0" rIns="0" bIns="0" rtlCol="0" anchor="ctr"/>
          <a:lstStyle/>
          <a:p>
            <a:pPr marL="0" indent="0">
              <a:buNone/>
            </a:pPr>
            <a:r>
              <a:rPr lang="en-US" sz="1100" i="1" dirty="0">
                <a:solidFill>
                  <a:srgbClr val="14233F"/>
                </a:solidFill>
                <a:latin typeface="Calibri" pitchFamily="34" charset="0"/>
                <a:ea typeface="Calibri" pitchFamily="34" charset="-122"/>
                <a:cs typeface="Calibri" pitchFamily="34" charset="-120"/>
              </a:rPr>
              <a:t>an estate of use cases</a:t>
            </a:r>
            <a:endParaRPr lang="en-US" sz="1100" dirty="0"/>
          </a:p>
        </p:txBody>
      </p:sp>
      <p:sp>
        <p:nvSpPr>
          <p:cNvPr id="26" name="Shape 24"/>
          <p:cNvSpPr/>
          <p:nvPr/>
        </p:nvSpPr>
        <p:spPr>
          <a:xfrm>
            <a:off x="9063761" y="2194560"/>
            <a:ext cx="2487854" cy="3657600"/>
          </a:xfrm>
          <a:prstGeom prst="roundRect">
            <a:avLst>
              <a:gd name="adj" fmla="val 3308"/>
            </a:avLst>
          </a:prstGeom>
          <a:solidFill>
            <a:srgbClr val="F3F7FC"/>
          </a:solidFill>
          <a:ln w="12700">
            <a:solidFill>
              <a:srgbClr val="DCE6F2"/>
            </a:solidFill>
            <a:prstDash val="solid"/>
          </a:ln>
          <a:effectLst>
            <a:outerShdw blurRad="114300" dist="38100" dir="5400000" algn="bl" rotWithShape="0">
              <a:srgbClr val="22324F">
                <a:alpha val="18000"/>
              </a:srgbClr>
            </a:outerShdw>
          </a:effectLst>
        </p:spPr>
        <p:txBody>
          <a:bodyPr/>
          <a:lstStyle/>
          <a:p>
            <a:endParaRPr/>
          </a:p>
        </p:txBody>
      </p:sp>
      <p:sp>
        <p:nvSpPr>
          <p:cNvPr id="27" name="Shape 25"/>
          <p:cNvSpPr/>
          <p:nvPr/>
        </p:nvSpPr>
        <p:spPr>
          <a:xfrm>
            <a:off x="9319793" y="2450592"/>
            <a:ext cx="1975790" cy="310896"/>
          </a:xfrm>
          <a:prstGeom prst="roundRect">
            <a:avLst>
              <a:gd name="adj" fmla="val 50000"/>
            </a:avLst>
          </a:prstGeom>
          <a:solidFill>
            <a:srgbClr val="13203A"/>
          </a:solidFill>
          <a:ln/>
        </p:spPr>
        <p:txBody>
          <a:bodyPr/>
          <a:lstStyle/>
          <a:p>
            <a:endParaRPr/>
          </a:p>
        </p:txBody>
      </p:sp>
      <p:sp>
        <p:nvSpPr>
          <p:cNvPr id="28" name="Text 26"/>
          <p:cNvSpPr/>
          <p:nvPr/>
        </p:nvSpPr>
        <p:spPr>
          <a:xfrm>
            <a:off x="9319793" y="2450592"/>
            <a:ext cx="197579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ORG-WIDE</a:t>
            </a:r>
            <a:endParaRPr lang="en-US" sz="1100" dirty="0"/>
          </a:p>
        </p:txBody>
      </p:sp>
      <p:sp>
        <p:nvSpPr>
          <p:cNvPr id="29" name="Text 27"/>
          <p:cNvSpPr/>
          <p:nvPr/>
        </p:nvSpPr>
        <p:spPr>
          <a:xfrm>
            <a:off x="9319793" y="2880360"/>
            <a:ext cx="1975790" cy="457200"/>
          </a:xfrm>
          <a:prstGeom prst="rect">
            <a:avLst/>
          </a:prstGeom>
          <a:noFill/>
          <a:ln/>
        </p:spPr>
        <p:txBody>
          <a:bodyPr wrap="square" lIns="0" tIns="0" rIns="0" bIns="0" rtlCol="0" anchor="ctr"/>
          <a:lstStyle/>
          <a:p>
            <a:pPr marL="0" indent="0">
              <a:buNone/>
            </a:pPr>
            <a:r>
              <a:rPr lang="en-US" sz="1900" b="1" dirty="0">
                <a:solidFill>
                  <a:srgbClr val="14233F"/>
                </a:solidFill>
                <a:latin typeface="Cambria" pitchFamily="34" charset="0"/>
                <a:ea typeface="Cambria" pitchFamily="34" charset="-122"/>
                <a:cs typeface="Cambria" pitchFamily="34" charset="-120"/>
              </a:rPr>
              <a:t>Enterprise</a:t>
            </a:r>
            <a:endParaRPr lang="en-US" sz="1900" dirty="0"/>
          </a:p>
        </p:txBody>
      </p:sp>
      <p:sp>
        <p:nvSpPr>
          <p:cNvPr id="30" name="Text 28"/>
          <p:cNvSpPr/>
          <p:nvPr/>
        </p:nvSpPr>
        <p:spPr>
          <a:xfrm>
            <a:off x="9319793" y="3383280"/>
            <a:ext cx="1975790" cy="411480"/>
          </a:xfrm>
          <a:prstGeom prst="rect">
            <a:avLst/>
          </a:prstGeom>
          <a:noFill/>
          <a:ln/>
        </p:spPr>
        <p:txBody>
          <a:bodyPr wrap="square" lIns="0" tIns="0" rIns="0" bIns="0" rtlCol="0" anchor="ctr"/>
          <a:lstStyle/>
          <a:p>
            <a:pPr marL="0" indent="0">
              <a:buNone/>
            </a:pPr>
            <a:r>
              <a:rPr lang="en-US" sz="1500" b="1" dirty="0">
                <a:solidFill>
                  <a:srgbClr val="0E9E80"/>
                </a:solidFill>
                <a:latin typeface="Cambria" pitchFamily="34" charset="0"/>
                <a:ea typeface="Cambria" pitchFamily="34" charset="-122"/>
                <a:cs typeface="Cambria" pitchFamily="34" charset="-120"/>
              </a:rPr>
              <a:t>custom</a:t>
            </a:r>
            <a:endParaRPr lang="en-US" sz="1500" dirty="0"/>
          </a:p>
        </p:txBody>
      </p:sp>
      <p:sp>
        <p:nvSpPr>
          <p:cNvPr id="31" name="Text 29"/>
          <p:cNvSpPr/>
          <p:nvPr/>
        </p:nvSpPr>
        <p:spPr>
          <a:xfrm>
            <a:off x="9319793" y="3886200"/>
            <a:ext cx="1975790" cy="1280160"/>
          </a:xfrm>
          <a:prstGeom prst="rect">
            <a:avLst/>
          </a:prstGeom>
          <a:noFill/>
          <a:ln/>
        </p:spPr>
        <p:txBody>
          <a:bodyPr wrap="square" lIns="0" tIns="0" rIns="0" bIns="0" rtlCol="0" anchor="ctr"/>
          <a:lstStyle/>
          <a:p>
            <a:pPr marL="0" indent="0">
              <a:lnSpc>
                <a:spcPct val="110000"/>
              </a:lnSpc>
              <a:buNone/>
            </a:pPr>
            <a:r>
              <a:rPr lang="en-US" sz="1150" dirty="0">
                <a:solidFill>
                  <a:srgbClr val="5D6B8C"/>
                </a:solidFill>
                <a:latin typeface="Calibri" pitchFamily="34" charset="0"/>
                <a:ea typeface="Calibri" pitchFamily="34" charset="-122"/>
                <a:cs typeface="Calibri" pitchFamily="34" charset="-120"/>
              </a:rPr>
              <a:t>unlimited + self-host license + dedicated support &amp; security</a:t>
            </a:r>
            <a:endParaRPr lang="en-US" sz="1150" dirty="0"/>
          </a:p>
        </p:txBody>
      </p:sp>
      <p:sp>
        <p:nvSpPr>
          <p:cNvPr id="32" name="Text 30"/>
          <p:cNvSpPr/>
          <p:nvPr/>
        </p:nvSpPr>
        <p:spPr>
          <a:xfrm>
            <a:off x="9319793" y="5257800"/>
            <a:ext cx="1975790" cy="457200"/>
          </a:xfrm>
          <a:prstGeom prst="rect">
            <a:avLst/>
          </a:prstGeom>
          <a:noFill/>
          <a:ln/>
        </p:spPr>
        <p:txBody>
          <a:bodyPr wrap="square" lIns="0" tIns="0" rIns="0" bIns="0" rtlCol="0" anchor="ctr"/>
          <a:lstStyle/>
          <a:p>
            <a:pPr marL="0" indent="0">
              <a:buNone/>
            </a:pPr>
            <a:r>
              <a:rPr lang="en-US" sz="1100" i="1" dirty="0">
                <a:solidFill>
                  <a:srgbClr val="14233F"/>
                </a:solidFill>
                <a:latin typeface="Calibri" pitchFamily="34" charset="0"/>
                <a:ea typeface="Calibri" pitchFamily="34" charset="-122"/>
                <a:cs typeface="Calibri" pitchFamily="34" charset="-120"/>
              </a:rPr>
              <a:t>regulated / global scale</a:t>
            </a:r>
            <a:endParaRPr lang="en-US" sz="1100" dirty="0"/>
          </a:p>
        </p:txBody>
      </p:sp>
      <p:sp>
        <p:nvSpPr>
          <p:cNvPr id="33" name="Text 31"/>
          <p:cNvSpPr/>
          <p:nvPr/>
        </p:nvSpPr>
        <p:spPr>
          <a:xfrm>
            <a:off x="640080" y="6035040"/>
            <a:ext cx="10911535" cy="457200"/>
          </a:xfrm>
          <a:prstGeom prst="rect">
            <a:avLst/>
          </a:prstGeom>
          <a:noFill/>
          <a:ln/>
        </p:spPr>
        <p:txBody>
          <a:bodyPr wrap="square" lIns="0" tIns="0" rIns="0" bIns="0" rtlCol="0" anchor="ctr"/>
          <a:lstStyle/>
          <a:p>
            <a:pPr marL="0" indent="0">
              <a:buNone/>
            </a:pPr>
            <a:r>
              <a:rPr lang="en-US" sz="1200" i="1" dirty="0">
                <a:solidFill>
                  <a:srgbClr val="5D6B8C"/>
                </a:solidFill>
                <a:latin typeface="Calibri" pitchFamily="34" charset="0"/>
                <a:ea typeface="Calibri" pitchFamily="34" charset="-122"/>
                <a:cs typeface="Calibri" pitchFamily="34" charset="-120"/>
              </a:rPr>
              <a:t>Pick a size, then drill into the exact line items — easy to buy, transparent to justify. Land with one use case; expand as packs are added. (Illustrative; validate against willingness-to-pay.)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BRISTLECONE REVENUE</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Decomposable path to $1B — subscription + services</a:t>
            </a:r>
          </a:p>
        </p:txBody>
      </p:sp>
      <p:sp>
        <p:nvSpPr>
          <p:cNvPr id="5" name="TextBox 4"/>
          <p:cNvSpPr txBox="1"/>
          <p:nvPr/>
        </p:nvSpPr>
        <p:spPr>
          <a:xfrm>
            <a:off x="640080" y="1627632"/>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Four reinforcing streams on one platform. The Exec · Revenue tab models the build-up; every driver is editable — the figures are an internal model.</a:t>
            </a:r>
          </a:p>
        </p:txBody>
      </p:sp>
      <p:sp>
        <p:nvSpPr>
          <p:cNvPr id="6" name="Rounded Rectangle 5"/>
          <p:cNvSpPr/>
          <p:nvPr/>
        </p:nvSpPr>
        <p:spPr>
          <a:xfrm>
            <a:off x="640080" y="2651760"/>
            <a:ext cx="5257800" cy="3429000"/>
          </a:xfrm>
          <a:prstGeom prst="roundRect">
            <a:avLst/>
          </a:prstGeom>
          <a:solidFill>
            <a:srgbClr val="FFFFFF"/>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852928"/>
            <a:ext cx="4754880" cy="365760"/>
          </a:xfrm>
          <a:prstGeom prst="rect">
            <a:avLst/>
          </a:prstGeom>
          <a:noFill/>
        </p:spPr>
        <p:txBody>
          <a:bodyPr wrap="square" lIns="0" tIns="0" rIns="0" bIns="0" anchor="t"/>
          <a:lstStyle/>
          <a:p>
            <a:pPr algn="l"/>
            <a:r>
              <a:rPr sz="1600" b="1">
                <a:solidFill>
                  <a:srgbClr val="14233F"/>
                </a:solidFill>
                <a:latin typeface="Cambria"/>
              </a:rPr>
              <a:t>Four reinforcing revenue streams</a:t>
            </a:r>
          </a:p>
        </p:txBody>
      </p:sp>
      <p:sp>
        <p:nvSpPr>
          <p:cNvPr id="8" name="Rectangle 7"/>
          <p:cNvSpPr/>
          <p:nvPr/>
        </p:nvSpPr>
        <p:spPr>
          <a:xfrm>
            <a:off x="960120" y="3383280"/>
            <a:ext cx="146304" cy="146304"/>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34440" y="3337560"/>
            <a:ext cx="4480560" cy="274320"/>
          </a:xfrm>
          <a:prstGeom prst="rect">
            <a:avLst/>
          </a:prstGeom>
          <a:noFill/>
        </p:spPr>
        <p:txBody>
          <a:bodyPr wrap="square" lIns="0" tIns="0" rIns="0" bIns="0" anchor="t"/>
          <a:lstStyle/>
          <a:p>
            <a:pPr algn="l"/>
            <a:r>
              <a:rPr sz="1250" b="1">
                <a:solidFill>
                  <a:srgbClr val="14233F"/>
                </a:solidFill>
                <a:latin typeface="Calibri"/>
              </a:rPr>
              <a:t>Platform subscription</a:t>
            </a:r>
          </a:p>
        </p:txBody>
      </p:sp>
      <p:sp>
        <p:nvSpPr>
          <p:cNvPr id="10" name="TextBox 9"/>
          <p:cNvSpPr txBox="1"/>
          <p:nvPr/>
        </p:nvSpPr>
        <p:spPr>
          <a:xfrm>
            <a:off x="1234440" y="3602736"/>
            <a:ext cx="4480560" cy="365760"/>
          </a:xfrm>
          <a:prstGeom prst="rect">
            <a:avLst/>
          </a:prstGeom>
          <a:noFill/>
        </p:spPr>
        <p:txBody>
          <a:bodyPr wrap="square" lIns="0" tIns="0" rIns="0" bIns="0" anchor="t"/>
          <a:lstStyle/>
          <a:p>
            <a:pPr algn="l">
              <a:lnSpc>
                <a:spcPct val="100000"/>
              </a:lnSpc>
            </a:pPr>
            <a:r>
              <a:rPr sz="1050" b="0">
                <a:solidFill>
                  <a:srgbClr val="5D6B8C"/>
                </a:solidFill>
                <a:latin typeface="Calibri"/>
              </a:rPr>
              <a:t>base + capability packs + connectors + autonomy usage</a:t>
            </a:r>
          </a:p>
        </p:txBody>
      </p:sp>
      <p:sp>
        <p:nvSpPr>
          <p:cNvPr id="11" name="Rectangle 10"/>
          <p:cNvSpPr/>
          <p:nvPr/>
        </p:nvSpPr>
        <p:spPr>
          <a:xfrm>
            <a:off x="960120" y="4041648"/>
            <a:ext cx="146304" cy="146304"/>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34440" y="3995928"/>
            <a:ext cx="4480560" cy="274320"/>
          </a:xfrm>
          <a:prstGeom prst="rect">
            <a:avLst/>
          </a:prstGeom>
          <a:noFill/>
        </p:spPr>
        <p:txBody>
          <a:bodyPr wrap="square" lIns="0" tIns="0" rIns="0" bIns="0" anchor="t"/>
          <a:lstStyle/>
          <a:p>
            <a:pPr algn="l"/>
            <a:r>
              <a:rPr sz="1250" b="1">
                <a:solidFill>
                  <a:srgbClr val="14233F"/>
                </a:solidFill>
                <a:latin typeface="Calibri"/>
              </a:rPr>
              <a:t>Implementation services</a:t>
            </a:r>
          </a:p>
        </p:txBody>
      </p:sp>
      <p:sp>
        <p:nvSpPr>
          <p:cNvPr id="13" name="TextBox 12"/>
          <p:cNvSpPr txBox="1"/>
          <p:nvPr/>
        </p:nvSpPr>
        <p:spPr>
          <a:xfrm>
            <a:off x="1234440" y="4261104"/>
            <a:ext cx="4480560" cy="365760"/>
          </a:xfrm>
          <a:prstGeom prst="rect">
            <a:avLst/>
          </a:prstGeom>
          <a:noFill/>
        </p:spPr>
        <p:txBody>
          <a:bodyPr wrap="square" lIns="0" tIns="0" rIns="0" bIns="0" anchor="t"/>
          <a:lstStyle/>
          <a:p>
            <a:pPr algn="l">
              <a:lnSpc>
                <a:spcPct val="100000"/>
              </a:lnSpc>
            </a:pPr>
            <a:r>
              <a:rPr sz="1050" b="0">
                <a:solidFill>
                  <a:srgbClr val="5D6B8C"/>
                </a:solidFill>
                <a:latin typeface="Calibri"/>
              </a:rPr>
              <a:t>stand-up, ontology induction, integration</a:t>
            </a:r>
          </a:p>
        </p:txBody>
      </p:sp>
      <p:sp>
        <p:nvSpPr>
          <p:cNvPr id="14" name="Rectangle 13"/>
          <p:cNvSpPr/>
          <p:nvPr/>
        </p:nvSpPr>
        <p:spPr>
          <a:xfrm>
            <a:off x="960120" y="4700016"/>
            <a:ext cx="146304" cy="146304"/>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4654296"/>
            <a:ext cx="4480560" cy="274320"/>
          </a:xfrm>
          <a:prstGeom prst="rect">
            <a:avLst/>
          </a:prstGeom>
          <a:noFill/>
        </p:spPr>
        <p:txBody>
          <a:bodyPr wrap="square" lIns="0" tIns="0" rIns="0" bIns="0" anchor="t"/>
          <a:lstStyle/>
          <a:p>
            <a:pPr algn="l"/>
            <a:r>
              <a:rPr sz="1250" b="1">
                <a:solidFill>
                  <a:srgbClr val="14233F"/>
                </a:solidFill>
                <a:latin typeface="Calibri"/>
              </a:rPr>
              <a:t>Agent-conversion services</a:t>
            </a:r>
          </a:p>
        </p:txBody>
      </p:sp>
      <p:sp>
        <p:nvSpPr>
          <p:cNvPr id="16" name="TextBox 15"/>
          <p:cNvSpPr txBox="1"/>
          <p:nvPr/>
        </p:nvSpPr>
        <p:spPr>
          <a:xfrm>
            <a:off x="1234440" y="4919472"/>
            <a:ext cx="4480560" cy="365760"/>
          </a:xfrm>
          <a:prstGeom prst="rect">
            <a:avLst/>
          </a:prstGeom>
          <a:noFill/>
        </p:spPr>
        <p:txBody>
          <a:bodyPr wrap="square" lIns="0" tIns="0" rIns="0" bIns="0" anchor="t"/>
          <a:lstStyle/>
          <a:p>
            <a:pPr algn="l">
              <a:lnSpc>
                <a:spcPct val="100000"/>
              </a:lnSpc>
            </a:pPr>
            <a:r>
              <a:rPr sz="1050" b="0">
                <a:solidFill>
                  <a:srgbClr val="5D6B8C"/>
                </a:solidFill>
                <a:latin typeface="Calibri"/>
              </a:rPr>
              <a:t>convert existing agents onto the shared substrate</a:t>
            </a:r>
          </a:p>
        </p:txBody>
      </p:sp>
      <p:sp>
        <p:nvSpPr>
          <p:cNvPr id="17" name="Rectangle 16"/>
          <p:cNvSpPr/>
          <p:nvPr/>
        </p:nvSpPr>
        <p:spPr>
          <a:xfrm>
            <a:off x="960120" y="5358383"/>
            <a:ext cx="146304" cy="146304"/>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34440" y="5312664"/>
            <a:ext cx="4480560" cy="274320"/>
          </a:xfrm>
          <a:prstGeom prst="rect">
            <a:avLst/>
          </a:prstGeom>
          <a:noFill/>
        </p:spPr>
        <p:txBody>
          <a:bodyPr wrap="square" lIns="0" tIns="0" rIns="0" bIns="0" anchor="t"/>
          <a:lstStyle/>
          <a:p>
            <a:pPr algn="l"/>
            <a:r>
              <a:rPr sz="1250" b="1">
                <a:solidFill>
                  <a:srgbClr val="14233F"/>
                </a:solidFill>
                <a:latin typeface="Calibri"/>
              </a:rPr>
              <a:t>Managed run</a:t>
            </a:r>
          </a:p>
        </p:txBody>
      </p:sp>
      <p:sp>
        <p:nvSpPr>
          <p:cNvPr id="19" name="TextBox 18"/>
          <p:cNvSpPr txBox="1"/>
          <p:nvPr/>
        </p:nvSpPr>
        <p:spPr>
          <a:xfrm>
            <a:off x="1234440" y="5577840"/>
            <a:ext cx="4480560" cy="365760"/>
          </a:xfrm>
          <a:prstGeom prst="rect">
            <a:avLst/>
          </a:prstGeom>
          <a:noFill/>
        </p:spPr>
        <p:txBody>
          <a:bodyPr wrap="square" lIns="0" tIns="0" rIns="0" bIns="0" anchor="t"/>
          <a:lstStyle/>
          <a:p>
            <a:pPr algn="l">
              <a:lnSpc>
                <a:spcPct val="100000"/>
              </a:lnSpc>
            </a:pPr>
            <a:r>
              <a:rPr sz="1050" b="0">
                <a:solidFill>
                  <a:srgbClr val="5D6B8C"/>
                </a:solidFill>
                <a:latin typeface="Calibri"/>
              </a:rPr>
              <a:t>operate, monitor and optimize the substrate</a:t>
            </a:r>
          </a:p>
        </p:txBody>
      </p:sp>
      <p:sp>
        <p:nvSpPr>
          <p:cNvPr id="20" name="Rounded Rectangle 19"/>
          <p:cNvSpPr/>
          <p:nvPr/>
        </p:nvSpPr>
        <p:spPr>
          <a:xfrm>
            <a:off x="6108192" y="2651760"/>
            <a:ext cx="5440680" cy="3429000"/>
          </a:xfrm>
          <a:prstGeom prst="roundRect">
            <a:avLst/>
          </a:prstGeom>
          <a:solidFill>
            <a:srgbClr val="F3F7FC"/>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2852928"/>
            <a:ext cx="4937760" cy="365760"/>
          </a:xfrm>
          <a:prstGeom prst="rect">
            <a:avLst/>
          </a:prstGeom>
          <a:noFill/>
        </p:spPr>
        <p:txBody>
          <a:bodyPr wrap="square" lIns="0" tIns="0" rIns="0" bIns="0" anchor="t"/>
          <a:lstStyle/>
          <a:p>
            <a:pPr algn="l"/>
            <a:r>
              <a:rPr sz="1600" b="1">
                <a:solidFill>
                  <a:srgbClr val="14233F"/>
                </a:solidFill>
                <a:latin typeface="Cambria"/>
              </a:rPr>
              <a:t>A modeled path to the target</a:t>
            </a:r>
          </a:p>
        </p:txBody>
      </p:sp>
      <p:sp>
        <p:nvSpPr>
          <p:cNvPr id="22" name="Rounded Rectangle 21"/>
          <p:cNvSpPr/>
          <p:nvPr/>
        </p:nvSpPr>
        <p:spPr>
          <a:xfrm>
            <a:off x="6400800" y="3383280"/>
            <a:ext cx="2331720" cy="107899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01968" y="3511296"/>
            <a:ext cx="2194560" cy="502920"/>
          </a:xfrm>
          <a:prstGeom prst="rect">
            <a:avLst/>
          </a:prstGeom>
          <a:noFill/>
        </p:spPr>
        <p:txBody>
          <a:bodyPr wrap="square" lIns="0" tIns="0" rIns="0" bIns="0" anchor="t"/>
          <a:lstStyle/>
          <a:p>
            <a:pPr algn="l"/>
            <a:r>
              <a:rPr sz="2600" b="1">
                <a:solidFill>
                  <a:srgbClr val="0E9E80"/>
                </a:solidFill>
                <a:latin typeface="Cambria"/>
              </a:rPr>
              <a:t>~800</a:t>
            </a:r>
          </a:p>
        </p:txBody>
      </p:sp>
      <p:sp>
        <p:nvSpPr>
          <p:cNvPr id="24" name="TextBox 23"/>
          <p:cNvSpPr txBox="1"/>
          <p:nvPr/>
        </p:nvSpPr>
        <p:spPr>
          <a:xfrm>
            <a:off x="6601968" y="4059936"/>
            <a:ext cx="2194560" cy="320040"/>
          </a:xfrm>
          <a:prstGeom prst="rect">
            <a:avLst/>
          </a:prstGeom>
          <a:noFill/>
        </p:spPr>
        <p:txBody>
          <a:bodyPr wrap="square" lIns="0" tIns="0" rIns="0" bIns="0" anchor="t"/>
          <a:lstStyle/>
          <a:p>
            <a:pPr algn="l">
              <a:lnSpc>
                <a:spcPct val="100000"/>
              </a:lnSpc>
            </a:pPr>
            <a:r>
              <a:rPr sz="1050" b="0">
                <a:solidFill>
                  <a:srgbClr val="5D6B8C"/>
                </a:solidFill>
                <a:latin typeface="Calibri"/>
              </a:rPr>
              <a:t>customers on the platform</a:t>
            </a:r>
          </a:p>
        </p:txBody>
      </p:sp>
      <p:sp>
        <p:nvSpPr>
          <p:cNvPr id="25" name="Rounded Rectangle 24"/>
          <p:cNvSpPr/>
          <p:nvPr/>
        </p:nvSpPr>
        <p:spPr>
          <a:xfrm>
            <a:off x="8869680" y="3383280"/>
            <a:ext cx="2331720" cy="107899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70848" y="3511296"/>
            <a:ext cx="2194560" cy="502920"/>
          </a:xfrm>
          <a:prstGeom prst="rect">
            <a:avLst/>
          </a:prstGeom>
          <a:noFill/>
        </p:spPr>
        <p:txBody>
          <a:bodyPr wrap="square" lIns="0" tIns="0" rIns="0" bIns="0" anchor="t"/>
          <a:lstStyle/>
          <a:p>
            <a:pPr algn="l"/>
            <a:r>
              <a:rPr sz="2600" b="1">
                <a:solidFill>
                  <a:srgbClr val="0E9E80"/>
                </a:solidFill>
                <a:latin typeface="Cambria"/>
              </a:rPr>
              <a:t>~$620M</a:t>
            </a:r>
          </a:p>
        </p:txBody>
      </p:sp>
      <p:sp>
        <p:nvSpPr>
          <p:cNvPr id="27" name="TextBox 26"/>
          <p:cNvSpPr txBox="1"/>
          <p:nvPr/>
        </p:nvSpPr>
        <p:spPr>
          <a:xfrm>
            <a:off x="9070848" y="4059936"/>
            <a:ext cx="2194560" cy="320040"/>
          </a:xfrm>
          <a:prstGeom prst="rect">
            <a:avLst/>
          </a:prstGeom>
          <a:noFill/>
        </p:spPr>
        <p:txBody>
          <a:bodyPr wrap="square" lIns="0" tIns="0" rIns="0" bIns="0" anchor="t"/>
          <a:lstStyle/>
          <a:p>
            <a:pPr algn="l">
              <a:lnSpc>
                <a:spcPct val="100000"/>
              </a:lnSpc>
            </a:pPr>
            <a:r>
              <a:rPr sz="1050" b="0">
                <a:solidFill>
                  <a:srgbClr val="5D6B8C"/>
                </a:solidFill>
                <a:latin typeface="Calibri"/>
              </a:rPr>
              <a:t>subscription ARR</a:t>
            </a:r>
          </a:p>
        </p:txBody>
      </p:sp>
      <p:sp>
        <p:nvSpPr>
          <p:cNvPr id="28" name="Rounded Rectangle 27"/>
          <p:cNvSpPr/>
          <p:nvPr/>
        </p:nvSpPr>
        <p:spPr>
          <a:xfrm>
            <a:off x="6400800" y="4617720"/>
            <a:ext cx="2331720" cy="107899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4745736"/>
            <a:ext cx="2194560" cy="502920"/>
          </a:xfrm>
          <a:prstGeom prst="rect">
            <a:avLst/>
          </a:prstGeom>
          <a:noFill/>
        </p:spPr>
        <p:txBody>
          <a:bodyPr wrap="square" lIns="0" tIns="0" rIns="0" bIns="0" anchor="t"/>
          <a:lstStyle/>
          <a:p>
            <a:pPr algn="l"/>
            <a:r>
              <a:rPr sz="2600" b="1">
                <a:solidFill>
                  <a:srgbClr val="0E9E80"/>
                </a:solidFill>
                <a:latin typeface="Cambria"/>
              </a:rPr>
              <a:t>~$372M</a:t>
            </a:r>
          </a:p>
        </p:txBody>
      </p:sp>
      <p:sp>
        <p:nvSpPr>
          <p:cNvPr id="30" name="TextBox 29"/>
          <p:cNvSpPr txBox="1"/>
          <p:nvPr/>
        </p:nvSpPr>
        <p:spPr>
          <a:xfrm>
            <a:off x="6601968" y="5294376"/>
            <a:ext cx="2194560" cy="320040"/>
          </a:xfrm>
          <a:prstGeom prst="rect">
            <a:avLst/>
          </a:prstGeom>
          <a:noFill/>
        </p:spPr>
        <p:txBody>
          <a:bodyPr wrap="square" lIns="0" tIns="0" rIns="0" bIns="0" anchor="t"/>
          <a:lstStyle/>
          <a:p>
            <a:pPr algn="l">
              <a:lnSpc>
                <a:spcPct val="100000"/>
              </a:lnSpc>
            </a:pPr>
            <a:r>
              <a:rPr sz="1050" b="0">
                <a:solidFill>
                  <a:srgbClr val="5D6B8C"/>
                </a:solidFill>
                <a:latin typeface="Calibri"/>
              </a:rPr>
              <a:t>services (SI multiple)</a:t>
            </a:r>
          </a:p>
        </p:txBody>
      </p:sp>
      <p:sp>
        <p:nvSpPr>
          <p:cNvPr id="31" name="Rounded Rectangle 30"/>
          <p:cNvSpPr/>
          <p:nvPr/>
        </p:nvSpPr>
        <p:spPr>
          <a:xfrm>
            <a:off x="8869680" y="4617720"/>
            <a:ext cx="2331720" cy="107899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70848" y="4745736"/>
            <a:ext cx="2194560" cy="502920"/>
          </a:xfrm>
          <a:prstGeom prst="rect">
            <a:avLst/>
          </a:prstGeom>
          <a:noFill/>
        </p:spPr>
        <p:txBody>
          <a:bodyPr wrap="square" lIns="0" tIns="0" rIns="0" bIns="0" anchor="t"/>
          <a:lstStyle/>
          <a:p>
            <a:pPr algn="l"/>
            <a:r>
              <a:rPr sz="2600" b="1">
                <a:solidFill>
                  <a:srgbClr val="0E9E80"/>
                </a:solidFill>
                <a:latin typeface="Cambria"/>
              </a:rPr>
              <a:t>~$1B</a:t>
            </a:r>
          </a:p>
        </p:txBody>
      </p:sp>
      <p:sp>
        <p:nvSpPr>
          <p:cNvPr id="33" name="TextBox 32"/>
          <p:cNvSpPr txBox="1"/>
          <p:nvPr/>
        </p:nvSpPr>
        <p:spPr>
          <a:xfrm>
            <a:off x="9070848" y="5294376"/>
            <a:ext cx="2194560" cy="320040"/>
          </a:xfrm>
          <a:prstGeom prst="rect">
            <a:avLst/>
          </a:prstGeom>
          <a:noFill/>
        </p:spPr>
        <p:txBody>
          <a:bodyPr wrap="square" lIns="0" tIns="0" rIns="0" bIns="0" anchor="t"/>
          <a:lstStyle/>
          <a:p>
            <a:pPr algn="l">
              <a:lnSpc>
                <a:spcPct val="100000"/>
              </a:lnSpc>
            </a:pPr>
            <a:r>
              <a:rPr sz="1050" b="0">
                <a:solidFill>
                  <a:srgbClr val="5D6B8C"/>
                </a:solidFill>
                <a:latin typeface="Calibri"/>
              </a:rPr>
              <a:t>total, reached in ~7 years</a:t>
            </a:r>
          </a:p>
        </p:txBody>
      </p:sp>
      <p:sp>
        <p:nvSpPr>
          <p:cNvPr id="34" name="TextBox 33"/>
          <p:cNvSpPr txBox="1"/>
          <p:nvPr/>
        </p:nvSpPr>
        <p:spPr>
          <a:xfrm>
            <a:off x="640080" y="6217920"/>
            <a:ext cx="10908792" cy="365760"/>
          </a:xfrm>
          <a:prstGeom prst="rect">
            <a:avLst/>
          </a:prstGeom>
          <a:noFill/>
        </p:spPr>
        <p:txBody>
          <a:bodyPr wrap="square" lIns="0" tIns="0" rIns="0" bIns="0" anchor="t"/>
          <a:lstStyle/>
          <a:p>
            <a:pPr algn="l"/>
            <a:r>
              <a:rPr sz="1050" b="0">
                <a:solidFill>
                  <a:srgbClr val="5D6B8C"/>
                </a:solidFill>
                <a:latin typeface="Calibri"/>
              </a:rPr>
              <a:t>High net revenue retention as customers add packs carries the estate toward $1B. Internal model — not a forecast.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LEADERSHIP CASE · 1 OF 3</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Why we win — a category, not a feature</a:t>
            </a:r>
          </a:p>
        </p:txBody>
      </p:sp>
      <p:sp>
        <p:nvSpPr>
          <p:cNvPr id="5" name="TextBox 4"/>
          <p:cNvSpPr txBox="1"/>
          <p:nvPr/>
        </p:nvSpPr>
        <p:spPr>
          <a:xfrm>
            <a:off x="640080" y="1627632"/>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UNAI is a shared cognitive runtime: cognition built once, thin domain executors on top. It CONSOLIDATES agents rather than ORCHESTRATING them — the opposite of the MCP / multi-agent pattern everyone else ships.</a:t>
            </a:r>
          </a:p>
        </p:txBody>
      </p:sp>
      <p:sp>
        <p:nvSpPr>
          <p:cNvPr id="6" name="Rounded Rectangle 5"/>
          <p:cNvSpPr/>
          <p:nvPr/>
        </p:nvSpPr>
        <p:spPr>
          <a:xfrm>
            <a:off x="640080" y="2606040"/>
            <a:ext cx="2615184" cy="1097280"/>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2734056"/>
            <a:ext cx="2249424" cy="502920"/>
          </a:xfrm>
          <a:prstGeom prst="rect">
            <a:avLst/>
          </a:prstGeom>
          <a:noFill/>
        </p:spPr>
        <p:txBody>
          <a:bodyPr wrap="square" lIns="0" tIns="0" rIns="0" bIns="0" anchor="t"/>
          <a:lstStyle/>
          <a:p>
            <a:pPr algn="l"/>
            <a:r>
              <a:rPr sz="2600" b="1">
                <a:solidFill>
                  <a:srgbClr val="0E9E80"/>
                </a:solidFill>
                <a:latin typeface="Cambria"/>
              </a:rPr>
              <a:t>15 → 1</a:t>
            </a:r>
          </a:p>
        </p:txBody>
      </p:sp>
      <p:sp>
        <p:nvSpPr>
          <p:cNvPr id="8" name="TextBox 7"/>
          <p:cNvSpPr txBox="1"/>
          <p:nvPr/>
        </p:nvSpPr>
        <p:spPr>
          <a:xfrm>
            <a:off x="822959"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agents (RMA) → one runtime</a:t>
            </a:r>
          </a:p>
        </p:txBody>
      </p:sp>
      <p:sp>
        <p:nvSpPr>
          <p:cNvPr id="9" name="Rounded Rectangle 8"/>
          <p:cNvSpPr/>
          <p:nvPr/>
        </p:nvSpPr>
        <p:spPr>
          <a:xfrm>
            <a:off x="3419856" y="2606040"/>
            <a:ext cx="2615184" cy="1097280"/>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02736" y="2734056"/>
            <a:ext cx="2249424" cy="502920"/>
          </a:xfrm>
          <a:prstGeom prst="rect">
            <a:avLst/>
          </a:prstGeom>
          <a:noFill/>
        </p:spPr>
        <p:txBody>
          <a:bodyPr wrap="square" lIns="0" tIns="0" rIns="0" bIns="0" anchor="t"/>
          <a:lstStyle/>
          <a:p>
            <a:pPr algn="l"/>
            <a:r>
              <a:rPr sz="2600" b="1">
                <a:solidFill>
                  <a:srgbClr val="0E9E80"/>
                </a:solidFill>
                <a:latin typeface="Cambria"/>
              </a:rPr>
              <a:t>105 → 21</a:t>
            </a:r>
          </a:p>
        </p:txBody>
      </p:sp>
      <p:sp>
        <p:nvSpPr>
          <p:cNvPr id="11" name="TextBox 10"/>
          <p:cNvSpPr txBox="1"/>
          <p:nvPr/>
        </p:nvSpPr>
        <p:spPr>
          <a:xfrm>
            <a:off x="3602736"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layer builds (−80%)</a:t>
            </a:r>
          </a:p>
        </p:txBody>
      </p:sp>
      <p:sp>
        <p:nvSpPr>
          <p:cNvPr id="12" name="Rounded Rectangle 11"/>
          <p:cNvSpPr/>
          <p:nvPr/>
        </p:nvSpPr>
        <p:spPr>
          <a:xfrm>
            <a:off x="6199632" y="2606040"/>
            <a:ext cx="2615184" cy="109728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2734056"/>
            <a:ext cx="2249424" cy="502920"/>
          </a:xfrm>
          <a:prstGeom prst="rect">
            <a:avLst/>
          </a:prstGeom>
          <a:noFill/>
        </p:spPr>
        <p:txBody>
          <a:bodyPr wrap="square" lIns="0" tIns="0" rIns="0" bIns="0" anchor="t"/>
          <a:lstStyle/>
          <a:p>
            <a:pPr algn="l"/>
            <a:r>
              <a:rPr sz="2600" b="1">
                <a:solidFill>
                  <a:srgbClr val="14233F"/>
                </a:solidFill>
                <a:latin typeface="Cambria"/>
              </a:rPr>
              <a:t>0</a:t>
            </a:r>
          </a:p>
        </p:txBody>
      </p:sp>
      <p:sp>
        <p:nvSpPr>
          <p:cNvPr id="14" name="TextBox 13"/>
          <p:cNvSpPr txBox="1"/>
          <p:nvPr/>
        </p:nvSpPr>
        <p:spPr>
          <a:xfrm>
            <a:off x="6382512"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re-mapping (canonical ontology)</a:t>
            </a:r>
          </a:p>
        </p:txBody>
      </p:sp>
      <p:sp>
        <p:nvSpPr>
          <p:cNvPr id="15" name="Rounded Rectangle 14"/>
          <p:cNvSpPr/>
          <p:nvPr/>
        </p:nvSpPr>
        <p:spPr>
          <a:xfrm>
            <a:off x="8979408" y="2606040"/>
            <a:ext cx="2615184" cy="1097280"/>
          </a:xfrm>
          <a:prstGeom prst="roundRect">
            <a:avLst/>
          </a:prstGeom>
          <a:solidFill>
            <a:srgbClr val="FB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62288" y="2734056"/>
            <a:ext cx="2249424" cy="502920"/>
          </a:xfrm>
          <a:prstGeom prst="rect">
            <a:avLst/>
          </a:prstGeom>
          <a:noFill/>
        </p:spPr>
        <p:txBody>
          <a:bodyPr wrap="square" lIns="0" tIns="0" rIns="0" bIns="0" anchor="t"/>
          <a:lstStyle/>
          <a:p>
            <a:pPr algn="l"/>
            <a:r>
              <a:rPr sz="2600" b="1">
                <a:solidFill>
                  <a:srgbClr val="7A5B12"/>
                </a:solidFill>
                <a:latin typeface="Cambria"/>
              </a:rPr>
              <a:t>SAP-safe</a:t>
            </a:r>
          </a:p>
        </p:txBody>
      </p:sp>
      <p:sp>
        <p:nvSpPr>
          <p:cNvPr id="17" name="TextBox 16"/>
          <p:cNvSpPr txBox="1"/>
          <p:nvPr/>
        </p:nvSpPr>
        <p:spPr>
          <a:xfrm>
            <a:off x="9162288"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reads governed lakehouse</a:t>
            </a:r>
          </a:p>
        </p:txBody>
      </p:sp>
      <p:sp>
        <p:nvSpPr>
          <p:cNvPr id="18" name="Rounded Rectangle 17"/>
          <p:cNvSpPr/>
          <p:nvPr/>
        </p:nvSpPr>
        <p:spPr>
          <a:xfrm>
            <a:off x="640080" y="3977639"/>
            <a:ext cx="5257800" cy="2148840"/>
          </a:xfrm>
          <a:prstGeom prst="roundRect">
            <a:avLst/>
          </a:prstGeom>
          <a:solidFill>
            <a:srgbClr val="F3F7FC"/>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142231"/>
            <a:ext cx="4800600" cy="292608"/>
          </a:xfrm>
          <a:prstGeom prst="rect">
            <a:avLst/>
          </a:prstGeom>
          <a:noFill/>
        </p:spPr>
        <p:txBody>
          <a:bodyPr wrap="square" lIns="0" tIns="0" rIns="0" bIns="0" anchor="t"/>
          <a:lstStyle/>
          <a:p>
            <a:pPr algn="l"/>
            <a:r>
              <a:rPr sz="1300" b="1">
                <a:solidFill>
                  <a:srgbClr val="14233F"/>
                </a:solidFill>
                <a:latin typeface="Calibri"/>
              </a:rPr>
              <a:t>Consolidation, not orchestration</a:t>
            </a:r>
          </a:p>
        </p:txBody>
      </p:sp>
      <p:sp>
        <p:nvSpPr>
          <p:cNvPr id="20" name="TextBox 19"/>
          <p:cNvSpPr txBox="1"/>
          <p:nvPr/>
        </p:nvSpPr>
        <p:spPr>
          <a:xfrm>
            <a:off x="868680" y="4507992"/>
            <a:ext cx="4800600" cy="1508760"/>
          </a:xfrm>
          <a:prstGeom prst="rect">
            <a:avLst/>
          </a:prstGeom>
          <a:noFill/>
        </p:spPr>
        <p:txBody>
          <a:bodyPr wrap="square" lIns="0" tIns="0" rIns="0" bIns="0" anchor="t"/>
          <a:lstStyle/>
          <a:p>
            <a:pPr algn="l">
              <a:lnSpc>
                <a:spcPct val="106000"/>
              </a:lnSpc>
            </a:pPr>
            <a:r>
              <a:rPr sz="1100" b="0">
                <a:solidFill>
                  <a:srgbClr val="5D6B8C"/>
                </a:solidFill>
                <a:latin typeface="Calibri"/>
              </a:rPr>
              <a:t>N specialist agents collapse to one runtime. Orchestrators / MCP keep N agents plus N² coordination — they manage the sprawl; UNAI removes it. That is a different category, and a harder thing to copy.</a:t>
            </a:r>
          </a:p>
        </p:txBody>
      </p:sp>
      <p:sp>
        <p:nvSpPr>
          <p:cNvPr id="21" name="Rounded Rectangle 20"/>
          <p:cNvSpPr/>
          <p:nvPr/>
        </p:nvSpPr>
        <p:spPr>
          <a:xfrm>
            <a:off x="6108192" y="3977639"/>
            <a:ext cx="5440680" cy="2148840"/>
          </a:xfrm>
          <a:prstGeom prst="roundRect">
            <a:avLst/>
          </a:prstGeom>
          <a:solidFill>
            <a:srgbClr val="F3F7FC"/>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6792" y="4142231"/>
            <a:ext cx="4983480" cy="292608"/>
          </a:xfrm>
          <a:prstGeom prst="rect">
            <a:avLst/>
          </a:prstGeom>
          <a:noFill/>
        </p:spPr>
        <p:txBody>
          <a:bodyPr wrap="square" lIns="0" tIns="0" rIns="0" bIns="0" anchor="t"/>
          <a:lstStyle/>
          <a:p>
            <a:pPr algn="l"/>
            <a:r>
              <a:rPr sz="1300" b="1">
                <a:solidFill>
                  <a:srgbClr val="14233F"/>
                </a:solidFill>
                <a:latin typeface="Calibri"/>
              </a:rPr>
              <a:t>A structural moat: SAP-compliant + neutral</a:t>
            </a:r>
          </a:p>
        </p:txBody>
      </p:sp>
      <p:sp>
        <p:nvSpPr>
          <p:cNvPr id="23" name="TextBox 22"/>
          <p:cNvSpPr txBox="1"/>
          <p:nvPr/>
        </p:nvSpPr>
        <p:spPr>
          <a:xfrm>
            <a:off x="6336792" y="4507992"/>
            <a:ext cx="4983480" cy="1508760"/>
          </a:xfrm>
          <a:prstGeom prst="rect">
            <a:avLst/>
          </a:prstGeom>
          <a:noFill/>
        </p:spPr>
        <p:txBody>
          <a:bodyPr wrap="square" lIns="0" tIns="0" rIns="0" bIns="0" anchor="t"/>
          <a:lstStyle/>
          <a:p>
            <a:pPr algn="l">
              <a:lnSpc>
                <a:spcPct val="106000"/>
              </a:lnSpc>
            </a:pPr>
            <a:r>
              <a:rPr sz="1100" b="0">
                <a:solidFill>
                  <a:srgbClr val="5D6B8C"/>
                </a:solidFill>
                <a:latin typeface="Calibri"/>
              </a:rPr>
              <a:t>Reads the governed lakehouse copy in-tenant, read-only first — compliant with SAP API Policy v4/2026 that bars third-party agents from calling SAP APIs directly. Cloud- and model-neutral, accountable autonomy, one audit trail. Competitors that hit SAP directly can't match this posture.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LEADERSHIP CASE · 2 OF 3</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What the customer gains — save &amp; become more profitable</a:t>
            </a:r>
          </a:p>
        </p:txBody>
      </p:sp>
      <p:sp>
        <p:nvSpPr>
          <p:cNvPr id="5" name="TextBox 4"/>
          <p:cNvSpPr txBox="1"/>
          <p:nvPr/>
        </p:nvSpPr>
        <p:spPr>
          <a:xfrm>
            <a:off x="640080" y="1627632"/>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The runtime pays back on the biggest AI line (inference is ~85% of enterprise AI budgets) and on build/run cost — then drives supply-chain outcomes beyond IT.</a:t>
            </a:r>
          </a:p>
        </p:txBody>
      </p:sp>
      <p:sp>
        <p:nvSpPr>
          <p:cNvPr id="6" name="Rounded Rectangle 5"/>
          <p:cNvSpPr/>
          <p:nvPr/>
        </p:nvSpPr>
        <p:spPr>
          <a:xfrm>
            <a:off x="640080" y="2606040"/>
            <a:ext cx="2615184" cy="1097280"/>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2734056"/>
            <a:ext cx="2249424" cy="502920"/>
          </a:xfrm>
          <a:prstGeom prst="rect">
            <a:avLst/>
          </a:prstGeom>
          <a:noFill/>
        </p:spPr>
        <p:txBody>
          <a:bodyPr wrap="square" lIns="0" tIns="0" rIns="0" bIns="0" anchor="t"/>
          <a:lstStyle/>
          <a:p>
            <a:pPr algn="l"/>
            <a:r>
              <a:rPr sz="2600" b="1">
                <a:solidFill>
                  <a:srgbClr val="0E9E80"/>
                </a:solidFill>
                <a:latin typeface="Cambria"/>
              </a:rPr>
              <a:t>58–80%</a:t>
            </a:r>
          </a:p>
        </p:txBody>
      </p:sp>
      <p:sp>
        <p:nvSpPr>
          <p:cNvPr id="8" name="TextBox 7"/>
          <p:cNvSpPr txBox="1"/>
          <p:nvPr/>
        </p:nvSpPr>
        <p:spPr>
          <a:xfrm>
            <a:off x="822959"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fewer tokens / run</a:t>
            </a:r>
          </a:p>
        </p:txBody>
      </p:sp>
      <p:sp>
        <p:nvSpPr>
          <p:cNvPr id="9" name="Rounded Rectangle 8"/>
          <p:cNvSpPr/>
          <p:nvPr/>
        </p:nvSpPr>
        <p:spPr>
          <a:xfrm>
            <a:off x="3419856" y="2606040"/>
            <a:ext cx="2615184" cy="1097280"/>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02736" y="2734056"/>
            <a:ext cx="2249424" cy="502920"/>
          </a:xfrm>
          <a:prstGeom prst="rect">
            <a:avLst/>
          </a:prstGeom>
          <a:noFill/>
        </p:spPr>
        <p:txBody>
          <a:bodyPr wrap="square" lIns="0" tIns="0" rIns="0" bIns="0" anchor="t"/>
          <a:lstStyle/>
          <a:p>
            <a:pPr algn="l"/>
            <a:r>
              <a:rPr sz="2600" b="1">
                <a:solidFill>
                  <a:srgbClr val="0E9E80"/>
                </a:solidFill>
                <a:latin typeface="Cambria"/>
              </a:rPr>
              <a:t>~$3.6M/yr</a:t>
            </a:r>
          </a:p>
        </p:txBody>
      </p:sp>
      <p:sp>
        <p:nvSpPr>
          <p:cNvPr id="11" name="TextBox 10"/>
          <p:cNvSpPr txBox="1"/>
          <p:nvPr/>
        </p:nvSpPr>
        <p:spPr>
          <a:xfrm>
            <a:off x="3602736"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inference saved (Sonnet, real load)</a:t>
            </a:r>
          </a:p>
        </p:txBody>
      </p:sp>
      <p:sp>
        <p:nvSpPr>
          <p:cNvPr id="12" name="Rounded Rectangle 11"/>
          <p:cNvSpPr/>
          <p:nvPr/>
        </p:nvSpPr>
        <p:spPr>
          <a:xfrm>
            <a:off x="6199632" y="2606040"/>
            <a:ext cx="2615184" cy="109728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2734056"/>
            <a:ext cx="2249424" cy="502920"/>
          </a:xfrm>
          <a:prstGeom prst="rect">
            <a:avLst/>
          </a:prstGeom>
          <a:noFill/>
        </p:spPr>
        <p:txBody>
          <a:bodyPr wrap="square" lIns="0" tIns="0" rIns="0" bIns="0" anchor="t"/>
          <a:lstStyle/>
          <a:p>
            <a:pPr algn="l"/>
            <a:r>
              <a:rPr sz="2600" b="1">
                <a:solidFill>
                  <a:srgbClr val="14233F"/>
                </a:solidFill>
                <a:latin typeface="Cambria"/>
              </a:rPr>
              <a:t>~4 mo</a:t>
            </a:r>
          </a:p>
        </p:txBody>
      </p:sp>
      <p:sp>
        <p:nvSpPr>
          <p:cNvPr id="14" name="TextBox 13"/>
          <p:cNvSpPr txBox="1"/>
          <p:nvPr/>
        </p:nvSpPr>
        <p:spPr>
          <a:xfrm>
            <a:off x="6382512"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payback on migration</a:t>
            </a:r>
          </a:p>
        </p:txBody>
      </p:sp>
      <p:sp>
        <p:nvSpPr>
          <p:cNvPr id="15" name="Rounded Rectangle 14"/>
          <p:cNvSpPr/>
          <p:nvPr/>
        </p:nvSpPr>
        <p:spPr>
          <a:xfrm>
            <a:off x="8979408" y="2606040"/>
            <a:ext cx="2615184" cy="1097280"/>
          </a:xfrm>
          <a:prstGeom prst="roundRect">
            <a:avLst/>
          </a:prstGeom>
          <a:solidFill>
            <a:srgbClr val="FB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62288" y="2734056"/>
            <a:ext cx="2249424" cy="502920"/>
          </a:xfrm>
          <a:prstGeom prst="rect">
            <a:avLst/>
          </a:prstGeom>
          <a:noFill/>
        </p:spPr>
        <p:txBody>
          <a:bodyPr wrap="square" lIns="0" tIns="0" rIns="0" bIns="0" anchor="t"/>
          <a:lstStyle/>
          <a:p>
            <a:pPr algn="l"/>
            <a:r>
              <a:rPr sz="2600" b="1">
                <a:solidFill>
                  <a:srgbClr val="7A5B12"/>
                </a:solidFill>
                <a:latin typeface="Cambria"/>
              </a:rPr>
              <a:t>2–5%</a:t>
            </a:r>
          </a:p>
        </p:txBody>
      </p:sp>
      <p:sp>
        <p:nvSpPr>
          <p:cNvPr id="17" name="TextBox 16"/>
          <p:cNvSpPr txBox="1"/>
          <p:nvPr/>
        </p:nvSpPr>
        <p:spPr>
          <a:xfrm>
            <a:off x="9162288" y="3264408"/>
            <a:ext cx="2249424" cy="365760"/>
          </a:xfrm>
          <a:prstGeom prst="rect">
            <a:avLst/>
          </a:prstGeom>
          <a:noFill/>
        </p:spPr>
        <p:txBody>
          <a:bodyPr wrap="square" lIns="0" tIns="0" rIns="0" bIns="0" anchor="t"/>
          <a:lstStyle/>
          <a:p>
            <a:pPr algn="l">
              <a:lnSpc>
                <a:spcPct val="100000"/>
              </a:lnSpc>
            </a:pPr>
            <a:r>
              <a:rPr sz="1050" b="0">
                <a:solidFill>
                  <a:srgbClr val="5D6B8C"/>
                </a:solidFill>
                <a:latin typeface="Calibri"/>
              </a:rPr>
              <a:t>margin uplift, 60% faster planning</a:t>
            </a:r>
          </a:p>
        </p:txBody>
      </p:sp>
      <p:sp>
        <p:nvSpPr>
          <p:cNvPr id="18" name="Rounded Rectangle 17"/>
          <p:cNvSpPr/>
          <p:nvPr/>
        </p:nvSpPr>
        <p:spPr>
          <a:xfrm>
            <a:off x="640080" y="3977639"/>
            <a:ext cx="5257800" cy="2148840"/>
          </a:xfrm>
          <a:prstGeom prst="roundRect">
            <a:avLst/>
          </a:prstGeom>
          <a:solidFill>
            <a:srgbClr val="F3F7FC"/>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142231"/>
            <a:ext cx="4800600" cy="292608"/>
          </a:xfrm>
          <a:prstGeom prst="rect">
            <a:avLst/>
          </a:prstGeom>
          <a:noFill/>
        </p:spPr>
        <p:txBody>
          <a:bodyPr wrap="square" lIns="0" tIns="0" rIns="0" bIns="0" anchor="t"/>
          <a:lstStyle/>
          <a:p>
            <a:pPr algn="l"/>
            <a:r>
              <a:rPr sz="1300" b="1">
                <a:solidFill>
                  <a:srgbClr val="14233F"/>
                </a:solidFill>
                <a:latin typeface="Calibri"/>
              </a:rPr>
              <a:t>Inference savings scale with the fleet</a:t>
            </a:r>
          </a:p>
        </p:txBody>
      </p:sp>
      <p:sp>
        <p:nvSpPr>
          <p:cNvPr id="20" name="TextBox 19"/>
          <p:cNvSpPr txBox="1"/>
          <p:nvPr/>
        </p:nvSpPr>
        <p:spPr>
          <a:xfrm>
            <a:off x="868680" y="4507992"/>
            <a:ext cx="4800600" cy="1508760"/>
          </a:xfrm>
          <a:prstGeom prst="rect">
            <a:avLst/>
          </a:prstGeom>
          <a:noFill/>
        </p:spPr>
        <p:txBody>
          <a:bodyPr wrap="square" lIns="0" tIns="0" rIns="0" bIns="0" anchor="t"/>
          <a:lstStyle/>
          <a:p>
            <a:pPr algn="l">
              <a:lnSpc>
                <a:spcPct val="106000"/>
              </a:lnSpc>
            </a:pPr>
            <a:r>
              <a:rPr sz="1100" b="0">
                <a:solidFill>
                  <a:srgbClr val="5D6B8C"/>
                </a:solidFill>
                <a:latin typeface="Calibri"/>
              </a:rPr>
              <a:t>Sonnet 4.6 @ 100k agent runs/day ≈ $178k/yr on a light workflow; at real agent-task weight (20–50 LLM calls) ≈ $3.6M/yr, and $10M+ on frontier models at global volume. Prompt caching is additive (up to −90% on the shared prefix).</a:t>
            </a:r>
          </a:p>
        </p:txBody>
      </p:sp>
      <p:sp>
        <p:nvSpPr>
          <p:cNvPr id="21" name="Rounded Rectangle 20"/>
          <p:cNvSpPr/>
          <p:nvPr/>
        </p:nvSpPr>
        <p:spPr>
          <a:xfrm>
            <a:off x="6108192" y="3977639"/>
            <a:ext cx="5440680" cy="2148840"/>
          </a:xfrm>
          <a:prstGeom prst="roundRect">
            <a:avLst/>
          </a:prstGeom>
          <a:solidFill>
            <a:srgbClr val="F3F7FC"/>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6792" y="4142231"/>
            <a:ext cx="4983480" cy="292608"/>
          </a:xfrm>
          <a:prstGeom prst="rect">
            <a:avLst/>
          </a:prstGeom>
          <a:noFill/>
        </p:spPr>
        <p:txBody>
          <a:bodyPr wrap="square" lIns="0" tIns="0" rIns="0" bIns="0" anchor="t"/>
          <a:lstStyle/>
          <a:p>
            <a:pPr algn="l"/>
            <a:r>
              <a:rPr sz="1300" b="1">
                <a:solidFill>
                  <a:srgbClr val="14233F"/>
                </a:solidFill>
                <a:latin typeface="Calibri"/>
              </a:rPr>
              <a:t>Cheaper to build, easy to justify</a:t>
            </a:r>
          </a:p>
        </p:txBody>
      </p:sp>
      <p:sp>
        <p:nvSpPr>
          <p:cNvPr id="23" name="TextBox 22"/>
          <p:cNvSpPr txBox="1"/>
          <p:nvPr/>
        </p:nvSpPr>
        <p:spPr>
          <a:xfrm>
            <a:off x="6336792" y="4507992"/>
            <a:ext cx="4983480" cy="1508760"/>
          </a:xfrm>
          <a:prstGeom prst="rect">
            <a:avLst/>
          </a:prstGeom>
          <a:noFill/>
        </p:spPr>
        <p:txBody>
          <a:bodyPr wrap="square" lIns="0" tIns="0" rIns="0" bIns="0" anchor="t"/>
          <a:lstStyle/>
          <a:p>
            <a:pPr algn="l">
              <a:lnSpc>
                <a:spcPct val="106000"/>
              </a:lnSpc>
            </a:pPr>
            <a:r>
              <a:rPr sz="1100" b="0">
                <a:solidFill>
                  <a:srgbClr val="5D6B8C"/>
                </a:solidFill>
                <a:latin typeface="Calibri"/>
              </a:rPr>
              <a:t>~80% fewer builds (7 shared layers + a pack per use case, not N×7) → ~$3.6M three-year build/run savings for a 10-capability estate. List price is ~31% of modeled customer value — the customer keeps the majority.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LEADERSHIP CASE · 3 OF 3</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What Bristlecone makes — the commercial prize</a:t>
            </a:r>
          </a:p>
        </p:txBody>
      </p:sp>
      <p:sp>
        <p:nvSpPr>
          <p:cNvPr id="5" name="TextBox 4"/>
          <p:cNvSpPr txBox="1"/>
          <p:nvPr/>
        </p:nvSpPr>
        <p:spPr>
          <a:xfrm>
            <a:off x="640080" y="1627632"/>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Four reinforcing streams on one platform: subscription + implementation + agent-conversion + managed run. Land with a use case, expand as packs are added (high net revenue retention).</a:t>
            </a:r>
          </a:p>
        </p:txBody>
      </p:sp>
      <p:sp>
        <p:nvSpPr>
          <p:cNvPr id="6" name="Rounded Rectangle 5"/>
          <p:cNvSpPr/>
          <p:nvPr/>
        </p:nvSpPr>
        <p:spPr>
          <a:xfrm>
            <a:off x="640080" y="2606040"/>
            <a:ext cx="5257800" cy="3520440"/>
          </a:xfrm>
          <a:prstGeom prst="roundRect">
            <a:avLst/>
          </a:prstGeom>
          <a:solidFill>
            <a:srgbClr val="FFFFFF"/>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816352"/>
            <a:ext cx="4754880" cy="365760"/>
          </a:xfrm>
          <a:prstGeom prst="rect">
            <a:avLst/>
          </a:prstGeom>
          <a:noFill/>
        </p:spPr>
        <p:txBody>
          <a:bodyPr wrap="square" lIns="0" tIns="0" rIns="0" bIns="0" anchor="t"/>
          <a:lstStyle/>
          <a:p>
            <a:pPr algn="l"/>
            <a:r>
              <a:rPr sz="1600" b="1">
                <a:solidFill>
                  <a:srgbClr val="14233F"/>
                </a:solidFill>
                <a:latin typeface="Cambria"/>
              </a:rPr>
              <a:t>Near-term ramp — total revenue (model)</a:t>
            </a:r>
          </a:p>
        </p:txBody>
      </p:sp>
      <p:sp>
        <p:nvSpPr>
          <p:cNvPr id="8" name="TextBox 7"/>
          <p:cNvSpPr txBox="1"/>
          <p:nvPr/>
        </p:nvSpPr>
        <p:spPr>
          <a:xfrm>
            <a:off x="960120" y="3383280"/>
            <a:ext cx="2834640" cy="274320"/>
          </a:xfrm>
          <a:prstGeom prst="rect">
            <a:avLst/>
          </a:prstGeom>
          <a:noFill/>
        </p:spPr>
        <p:txBody>
          <a:bodyPr wrap="square" lIns="0" tIns="0" rIns="0" bIns="0" anchor="t"/>
          <a:lstStyle/>
          <a:p>
            <a:pPr algn="l"/>
            <a:r>
              <a:rPr sz="1050" b="0">
                <a:solidFill>
                  <a:srgbClr val="5D6B8C"/>
                </a:solidFill>
                <a:latin typeface="Calibri"/>
              </a:rPr>
              <a:t>Year 1 · prove · ~10 customers</a:t>
            </a:r>
          </a:p>
        </p:txBody>
      </p:sp>
      <p:sp>
        <p:nvSpPr>
          <p:cNvPr id="9" name="Rectangle 8"/>
          <p:cNvSpPr/>
          <p:nvPr/>
        </p:nvSpPr>
        <p:spPr>
          <a:xfrm>
            <a:off x="960120" y="3657600"/>
            <a:ext cx="344658" cy="219456"/>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96218" y="3630168"/>
            <a:ext cx="1097280" cy="274320"/>
          </a:xfrm>
          <a:prstGeom prst="rect">
            <a:avLst/>
          </a:prstGeom>
          <a:noFill/>
        </p:spPr>
        <p:txBody>
          <a:bodyPr wrap="square" lIns="0" tIns="0" rIns="0" bIns="0" anchor="t"/>
          <a:lstStyle/>
          <a:p>
            <a:pPr algn="l"/>
            <a:r>
              <a:rPr sz="1100" b="1">
                <a:solidFill>
                  <a:srgbClr val="0E9E80"/>
                </a:solidFill>
                <a:latin typeface="Calibri"/>
              </a:rPr>
              <a:t>$5M</a:t>
            </a:r>
          </a:p>
        </p:txBody>
      </p:sp>
      <p:sp>
        <p:nvSpPr>
          <p:cNvPr id="11" name="TextBox 10"/>
          <p:cNvSpPr txBox="1"/>
          <p:nvPr/>
        </p:nvSpPr>
        <p:spPr>
          <a:xfrm>
            <a:off x="960120" y="4206240"/>
            <a:ext cx="2834640" cy="274320"/>
          </a:xfrm>
          <a:prstGeom prst="rect">
            <a:avLst/>
          </a:prstGeom>
          <a:noFill/>
        </p:spPr>
        <p:txBody>
          <a:bodyPr wrap="square" lIns="0" tIns="0" rIns="0" bIns="0" anchor="t"/>
          <a:lstStyle/>
          <a:p>
            <a:pPr algn="l"/>
            <a:r>
              <a:rPr sz="1050" b="0">
                <a:solidFill>
                  <a:srgbClr val="5D6B8C"/>
                </a:solidFill>
                <a:latin typeface="Calibri"/>
              </a:rPr>
              <a:t>Year 2 · expand · ~40</a:t>
            </a:r>
          </a:p>
        </p:txBody>
      </p:sp>
      <p:sp>
        <p:nvSpPr>
          <p:cNvPr id="12" name="Rectangle 11"/>
          <p:cNvSpPr/>
          <p:nvPr/>
        </p:nvSpPr>
        <p:spPr>
          <a:xfrm>
            <a:off x="960120" y="4480560"/>
            <a:ext cx="1516497" cy="219456"/>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8057" y="4453128"/>
            <a:ext cx="1097280" cy="274320"/>
          </a:xfrm>
          <a:prstGeom prst="rect">
            <a:avLst/>
          </a:prstGeom>
          <a:noFill/>
        </p:spPr>
        <p:txBody>
          <a:bodyPr wrap="square" lIns="0" tIns="0" rIns="0" bIns="0" anchor="t"/>
          <a:lstStyle/>
          <a:p>
            <a:pPr algn="l"/>
            <a:r>
              <a:rPr sz="1100" b="1">
                <a:solidFill>
                  <a:srgbClr val="0E9E80"/>
                </a:solidFill>
                <a:latin typeface="Calibri"/>
              </a:rPr>
              <a:t>$22M</a:t>
            </a:r>
          </a:p>
        </p:txBody>
      </p:sp>
      <p:sp>
        <p:nvSpPr>
          <p:cNvPr id="14" name="TextBox 13"/>
          <p:cNvSpPr txBox="1"/>
          <p:nvPr/>
        </p:nvSpPr>
        <p:spPr>
          <a:xfrm>
            <a:off x="960120" y="5029200"/>
            <a:ext cx="2834640" cy="274320"/>
          </a:xfrm>
          <a:prstGeom prst="rect">
            <a:avLst/>
          </a:prstGeom>
          <a:noFill/>
        </p:spPr>
        <p:txBody>
          <a:bodyPr wrap="square" lIns="0" tIns="0" rIns="0" bIns="0" anchor="t"/>
          <a:lstStyle/>
          <a:p>
            <a:pPr algn="l"/>
            <a:r>
              <a:rPr sz="1050" b="0">
                <a:solidFill>
                  <a:srgbClr val="5D6B8C"/>
                </a:solidFill>
                <a:latin typeface="Calibri"/>
              </a:rPr>
              <a:t>Year 3 · scale · ~120</a:t>
            </a:r>
          </a:p>
        </p:txBody>
      </p:sp>
      <p:sp>
        <p:nvSpPr>
          <p:cNvPr id="15" name="Rectangle 14"/>
          <p:cNvSpPr/>
          <p:nvPr/>
        </p:nvSpPr>
        <p:spPr>
          <a:xfrm>
            <a:off x="960120" y="5303520"/>
            <a:ext cx="4480560" cy="219456"/>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32120" y="5276088"/>
            <a:ext cx="1097280" cy="274320"/>
          </a:xfrm>
          <a:prstGeom prst="rect">
            <a:avLst/>
          </a:prstGeom>
          <a:noFill/>
        </p:spPr>
        <p:txBody>
          <a:bodyPr wrap="square" lIns="0" tIns="0" rIns="0" bIns="0" anchor="t"/>
          <a:lstStyle/>
          <a:p>
            <a:pPr algn="l"/>
            <a:r>
              <a:rPr sz="1100" b="1">
                <a:solidFill>
                  <a:srgbClr val="0E9E80"/>
                </a:solidFill>
                <a:latin typeface="Calibri"/>
              </a:rPr>
              <a:t>$65M</a:t>
            </a:r>
          </a:p>
        </p:txBody>
      </p:sp>
      <p:sp>
        <p:nvSpPr>
          <p:cNvPr id="17" name="TextBox 16"/>
          <p:cNvSpPr txBox="1"/>
          <p:nvPr/>
        </p:nvSpPr>
        <p:spPr>
          <a:xfrm>
            <a:off x="960120" y="5715000"/>
            <a:ext cx="4846320" cy="320040"/>
          </a:xfrm>
          <a:prstGeom prst="rect">
            <a:avLst/>
          </a:prstGeom>
          <a:noFill/>
        </p:spPr>
        <p:txBody>
          <a:bodyPr wrap="square" lIns="0" tIns="0" rIns="0" bIns="0" anchor="t"/>
          <a:lstStyle/>
          <a:p>
            <a:pPr algn="l"/>
            <a:r>
              <a:rPr sz="1050" b="0">
                <a:solidFill>
                  <a:srgbClr val="5D6B8C"/>
                </a:solidFill>
                <a:latin typeface="Calibri"/>
              </a:rPr>
              <a:t>~$327k average ACV, growing per account as packs are added.</a:t>
            </a:r>
          </a:p>
        </p:txBody>
      </p:sp>
      <p:sp>
        <p:nvSpPr>
          <p:cNvPr id="18" name="Rounded Rectangle 17"/>
          <p:cNvSpPr/>
          <p:nvPr/>
        </p:nvSpPr>
        <p:spPr>
          <a:xfrm>
            <a:off x="6108192" y="2606040"/>
            <a:ext cx="5440680" cy="3520440"/>
          </a:xfrm>
          <a:prstGeom prst="roundRect">
            <a:avLst/>
          </a:prstGeom>
          <a:solidFill>
            <a:srgbClr val="F3F7FC"/>
          </a:solidFill>
          <a:ln w="12700">
            <a:solidFill>
              <a:srgbClr val="E4EA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2816352"/>
            <a:ext cx="4937760" cy="365760"/>
          </a:xfrm>
          <a:prstGeom prst="rect">
            <a:avLst/>
          </a:prstGeom>
          <a:noFill/>
        </p:spPr>
        <p:txBody>
          <a:bodyPr wrap="square" lIns="0" tIns="0" rIns="0" bIns="0" anchor="t"/>
          <a:lstStyle/>
          <a:p>
            <a:pPr algn="l"/>
            <a:r>
              <a:rPr sz="1600" b="1">
                <a:solidFill>
                  <a:srgbClr val="14233F"/>
                </a:solidFill>
                <a:latin typeface="Cambria"/>
              </a:rPr>
              <a:t>The path to $1B (~7 years)</a:t>
            </a:r>
          </a:p>
        </p:txBody>
      </p:sp>
      <p:sp>
        <p:nvSpPr>
          <p:cNvPr id="20" name="Rounded Rectangle 19"/>
          <p:cNvSpPr/>
          <p:nvPr/>
        </p:nvSpPr>
        <p:spPr>
          <a:xfrm>
            <a:off x="6400800" y="3310128"/>
            <a:ext cx="2331720" cy="9418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0" y="3419856"/>
            <a:ext cx="2011680" cy="457200"/>
          </a:xfrm>
          <a:prstGeom prst="rect">
            <a:avLst/>
          </a:prstGeom>
          <a:noFill/>
        </p:spPr>
        <p:txBody>
          <a:bodyPr wrap="square" lIns="0" tIns="0" rIns="0" bIns="0" anchor="t"/>
          <a:lstStyle/>
          <a:p>
            <a:pPr algn="l"/>
            <a:r>
              <a:rPr sz="2200" b="1">
                <a:solidFill>
                  <a:srgbClr val="0E9E80"/>
                </a:solidFill>
                <a:latin typeface="Cambria"/>
              </a:rPr>
              <a:t>$1B</a:t>
            </a:r>
          </a:p>
        </p:txBody>
      </p:sp>
      <p:sp>
        <p:nvSpPr>
          <p:cNvPr id="22" name="TextBox 21"/>
          <p:cNvSpPr txBox="1"/>
          <p:nvPr/>
        </p:nvSpPr>
        <p:spPr>
          <a:xfrm>
            <a:off x="6583680" y="3877056"/>
            <a:ext cx="2011680" cy="274320"/>
          </a:xfrm>
          <a:prstGeom prst="rect">
            <a:avLst/>
          </a:prstGeom>
          <a:noFill/>
        </p:spPr>
        <p:txBody>
          <a:bodyPr wrap="square" lIns="0" tIns="0" rIns="0" bIns="0" anchor="t"/>
          <a:lstStyle/>
          <a:p>
            <a:pPr algn="l">
              <a:lnSpc>
                <a:spcPct val="100000"/>
              </a:lnSpc>
            </a:pPr>
            <a:r>
              <a:rPr sz="1000" b="0">
                <a:solidFill>
                  <a:srgbClr val="5D6B8C"/>
                </a:solidFill>
                <a:latin typeface="Calibri"/>
              </a:rPr>
              <a:t>revenue in ~7 years</a:t>
            </a:r>
          </a:p>
        </p:txBody>
      </p:sp>
      <p:sp>
        <p:nvSpPr>
          <p:cNvPr id="23" name="Rounded Rectangle 22"/>
          <p:cNvSpPr/>
          <p:nvPr/>
        </p:nvSpPr>
        <p:spPr>
          <a:xfrm>
            <a:off x="8869680" y="3310128"/>
            <a:ext cx="2331720" cy="9418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52559" y="3419856"/>
            <a:ext cx="2011680" cy="457200"/>
          </a:xfrm>
          <a:prstGeom prst="rect">
            <a:avLst/>
          </a:prstGeom>
          <a:noFill/>
        </p:spPr>
        <p:txBody>
          <a:bodyPr wrap="square" lIns="0" tIns="0" rIns="0" bIns="0" anchor="t"/>
          <a:lstStyle/>
          <a:p>
            <a:pPr algn="l"/>
            <a:r>
              <a:rPr sz="2200" b="1">
                <a:solidFill>
                  <a:srgbClr val="0E9E80"/>
                </a:solidFill>
                <a:latin typeface="Cambria"/>
              </a:rPr>
              <a:t>~800</a:t>
            </a:r>
          </a:p>
        </p:txBody>
      </p:sp>
      <p:sp>
        <p:nvSpPr>
          <p:cNvPr id="25" name="TextBox 24"/>
          <p:cNvSpPr txBox="1"/>
          <p:nvPr/>
        </p:nvSpPr>
        <p:spPr>
          <a:xfrm>
            <a:off x="9052559" y="3877056"/>
            <a:ext cx="2011680" cy="274320"/>
          </a:xfrm>
          <a:prstGeom prst="rect">
            <a:avLst/>
          </a:prstGeom>
          <a:noFill/>
        </p:spPr>
        <p:txBody>
          <a:bodyPr wrap="square" lIns="0" tIns="0" rIns="0" bIns="0" anchor="t"/>
          <a:lstStyle/>
          <a:p>
            <a:pPr algn="l">
              <a:lnSpc>
                <a:spcPct val="100000"/>
              </a:lnSpc>
            </a:pPr>
            <a:r>
              <a:rPr sz="1000" b="0">
                <a:solidFill>
                  <a:srgbClr val="5D6B8C"/>
                </a:solidFill>
                <a:latin typeface="Calibri"/>
              </a:rPr>
              <a:t>customers at target</a:t>
            </a:r>
          </a:p>
        </p:txBody>
      </p:sp>
      <p:sp>
        <p:nvSpPr>
          <p:cNvPr id="26" name="Rounded Rectangle 25"/>
          <p:cNvSpPr/>
          <p:nvPr/>
        </p:nvSpPr>
        <p:spPr>
          <a:xfrm>
            <a:off x="6400800" y="4389120"/>
            <a:ext cx="2331720" cy="9418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4498848"/>
            <a:ext cx="2011680" cy="457200"/>
          </a:xfrm>
          <a:prstGeom prst="rect">
            <a:avLst/>
          </a:prstGeom>
          <a:noFill/>
        </p:spPr>
        <p:txBody>
          <a:bodyPr wrap="square" lIns="0" tIns="0" rIns="0" bIns="0" anchor="t"/>
          <a:lstStyle/>
          <a:p>
            <a:pPr algn="l"/>
            <a:r>
              <a:rPr sz="2200" b="1">
                <a:solidFill>
                  <a:srgbClr val="0E9E80"/>
                </a:solidFill>
                <a:latin typeface="Cambria"/>
              </a:rPr>
              <a:t>~$620M</a:t>
            </a:r>
          </a:p>
        </p:txBody>
      </p:sp>
      <p:sp>
        <p:nvSpPr>
          <p:cNvPr id="28" name="TextBox 27"/>
          <p:cNvSpPr txBox="1"/>
          <p:nvPr/>
        </p:nvSpPr>
        <p:spPr>
          <a:xfrm>
            <a:off x="6583680" y="4956048"/>
            <a:ext cx="2011680" cy="274320"/>
          </a:xfrm>
          <a:prstGeom prst="rect">
            <a:avLst/>
          </a:prstGeom>
          <a:noFill/>
        </p:spPr>
        <p:txBody>
          <a:bodyPr wrap="square" lIns="0" tIns="0" rIns="0" bIns="0" anchor="t"/>
          <a:lstStyle/>
          <a:p>
            <a:pPr algn="l">
              <a:lnSpc>
                <a:spcPct val="100000"/>
              </a:lnSpc>
            </a:pPr>
            <a:r>
              <a:rPr sz="1000" b="0">
                <a:solidFill>
                  <a:srgbClr val="5D6B8C"/>
                </a:solidFill>
                <a:latin typeface="Calibri"/>
              </a:rPr>
              <a:t>subscription ARR</a:t>
            </a:r>
          </a:p>
        </p:txBody>
      </p:sp>
      <p:sp>
        <p:nvSpPr>
          <p:cNvPr id="29" name="Rounded Rectangle 28"/>
          <p:cNvSpPr/>
          <p:nvPr/>
        </p:nvSpPr>
        <p:spPr>
          <a:xfrm>
            <a:off x="8869680" y="4389120"/>
            <a:ext cx="2331720" cy="9418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52559" y="4498848"/>
            <a:ext cx="2011680" cy="457200"/>
          </a:xfrm>
          <a:prstGeom prst="rect">
            <a:avLst/>
          </a:prstGeom>
          <a:noFill/>
        </p:spPr>
        <p:txBody>
          <a:bodyPr wrap="square" lIns="0" tIns="0" rIns="0" bIns="0" anchor="t"/>
          <a:lstStyle/>
          <a:p>
            <a:pPr algn="l"/>
            <a:r>
              <a:rPr sz="2200" b="1">
                <a:solidFill>
                  <a:srgbClr val="0E9E80"/>
                </a:solidFill>
                <a:latin typeface="Cambria"/>
              </a:rPr>
              <a:t>~$372M</a:t>
            </a:r>
          </a:p>
        </p:txBody>
      </p:sp>
      <p:sp>
        <p:nvSpPr>
          <p:cNvPr id="31" name="TextBox 30"/>
          <p:cNvSpPr txBox="1"/>
          <p:nvPr/>
        </p:nvSpPr>
        <p:spPr>
          <a:xfrm>
            <a:off x="9052559" y="4956048"/>
            <a:ext cx="2011680" cy="274320"/>
          </a:xfrm>
          <a:prstGeom prst="rect">
            <a:avLst/>
          </a:prstGeom>
          <a:noFill/>
        </p:spPr>
        <p:txBody>
          <a:bodyPr wrap="square" lIns="0" tIns="0" rIns="0" bIns="0" anchor="t"/>
          <a:lstStyle/>
          <a:p>
            <a:pPr algn="l">
              <a:lnSpc>
                <a:spcPct val="100000"/>
              </a:lnSpc>
            </a:pPr>
            <a:r>
              <a:rPr sz="1000" b="0">
                <a:solidFill>
                  <a:srgbClr val="5D6B8C"/>
                </a:solidFill>
                <a:latin typeface="Calibri"/>
              </a:rPr>
              <a:t>services (SI multiple)</a:t>
            </a:r>
          </a:p>
        </p:txBody>
      </p:sp>
      <p:sp>
        <p:nvSpPr>
          <p:cNvPr id="32" name="TextBox 31"/>
          <p:cNvSpPr txBox="1"/>
          <p:nvPr/>
        </p:nvSpPr>
        <p:spPr>
          <a:xfrm>
            <a:off x="6400800" y="5577840"/>
            <a:ext cx="5120640" cy="457200"/>
          </a:xfrm>
          <a:prstGeom prst="rect">
            <a:avLst/>
          </a:prstGeom>
          <a:noFill/>
        </p:spPr>
        <p:txBody>
          <a:bodyPr wrap="square" lIns="0" tIns="0" rIns="0" bIns="0" anchor="t"/>
          <a:lstStyle/>
          <a:p>
            <a:pPr algn="l">
              <a:lnSpc>
                <a:spcPct val="103000"/>
              </a:lnSpc>
            </a:pPr>
            <a:r>
              <a:rPr sz="1000" b="0">
                <a:solidFill>
                  <a:srgbClr val="5D6B8C"/>
                </a:solidFill>
                <a:latin typeface="Calibri"/>
              </a:rPr>
              <a:t>The Cognitive Runtime is the wedge: consolidate agent sprawl (conversion), compound through packs (subscription) and run (managed) — SI strength monetized on a product.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66928"/>
            <a:ext cx="164592" cy="164592"/>
          </a:xfrm>
          <a:prstGeom prst="rect">
            <a:avLst/>
          </a:prstGeom>
          <a:solidFill>
            <a:srgbClr val="22D3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457200"/>
            <a:ext cx="10058400" cy="320040"/>
          </a:xfrm>
          <a:prstGeom prst="rect">
            <a:avLst/>
          </a:prstGeom>
          <a:noFill/>
        </p:spPr>
        <p:txBody>
          <a:bodyPr wrap="square" lIns="0" tIns="0" rIns="0" bIns="0" anchor="t"/>
          <a:lstStyle/>
          <a:p>
            <a:pPr algn="l"/>
            <a:r>
              <a:rPr sz="1200" b="1">
                <a:solidFill>
                  <a:srgbClr val="0E9E80"/>
                </a:solidFill>
                <a:latin typeface="Calibri"/>
              </a:rPr>
              <a:t>THE ASK</a:t>
            </a:r>
          </a:p>
        </p:txBody>
      </p:sp>
      <p:sp>
        <p:nvSpPr>
          <p:cNvPr id="4" name="TextBox 3"/>
          <p:cNvSpPr txBox="1"/>
          <p:nvPr/>
        </p:nvSpPr>
        <p:spPr>
          <a:xfrm>
            <a:off x="640080" y="786384"/>
            <a:ext cx="10908792" cy="777240"/>
          </a:xfrm>
          <a:prstGeom prst="rect">
            <a:avLst/>
          </a:prstGeom>
          <a:noFill/>
        </p:spPr>
        <p:txBody>
          <a:bodyPr wrap="square" lIns="0" tIns="0" rIns="0" bIns="0" anchor="t"/>
          <a:lstStyle/>
          <a:p>
            <a:pPr algn="l"/>
            <a:r>
              <a:rPr sz="3000" b="1">
                <a:solidFill>
                  <a:srgbClr val="14233F"/>
                </a:solidFill>
                <a:latin typeface="Cambria"/>
              </a:rPr>
              <a:t>Greenlight a 6-week, read-only pilot</a:t>
            </a:r>
          </a:p>
        </p:txBody>
      </p:sp>
      <p:sp>
        <p:nvSpPr>
          <p:cNvPr id="5" name="TextBox 4"/>
          <p:cNvSpPr txBox="1"/>
          <p:nvPr/>
        </p:nvSpPr>
        <p:spPr>
          <a:xfrm>
            <a:off x="640080" y="1627632"/>
            <a:ext cx="10908792" cy="822960"/>
          </a:xfrm>
          <a:prstGeom prst="rect">
            <a:avLst/>
          </a:prstGeom>
          <a:noFill/>
        </p:spPr>
        <p:txBody>
          <a:bodyPr wrap="square" lIns="0" tIns="0" rIns="0" bIns="0" anchor="t"/>
          <a:lstStyle/>
          <a:p>
            <a:pPr algn="l">
              <a:lnSpc>
                <a:spcPct val="105000"/>
              </a:lnSpc>
            </a:pPr>
            <a:r>
              <a:rPr sz="1400" b="0">
                <a:solidFill>
                  <a:srgbClr val="5D6B8C"/>
                </a:solidFill>
                <a:latin typeface="Calibri"/>
              </a:rPr>
              <a:t>One use case, one small team, one clear gate — the substrate is already built.</a:t>
            </a:r>
          </a:p>
        </p:txBody>
      </p:sp>
      <p:sp>
        <p:nvSpPr>
          <p:cNvPr id="6" name="Rounded Rectangle 5"/>
          <p:cNvSpPr/>
          <p:nvPr/>
        </p:nvSpPr>
        <p:spPr>
          <a:xfrm>
            <a:off x="640080" y="2606040"/>
            <a:ext cx="3520440" cy="2880360"/>
          </a:xfrm>
          <a:prstGeom prst="roundRect">
            <a:avLst/>
          </a:prstGeom>
          <a:solidFill>
            <a:srgbClr val="EFE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19" y="2880360"/>
            <a:ext cx="502920" cy="502920"/>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19" y="2898648"/>
            <a:ext cx="502920" cy="466344"/>
          </a:xfrm>
          <a:prstGeom prst="rect">
            <a:avLst/>
          </a:prstGeom>
          <a:noFill/>
        </p:spPr>
        <p:txBody>
          <a:bodyPr wrap="square" lIns="0" tIns="0" rIns="0" bIns="0" anchor="ctr"/>
          <a:lstStyle/>
          <a:p>
            <a:pPr algn="ctr"/>
            <a:r>
              <a:rPr sz="1600" b="1">
                <a:solidFill>
                  <a:srgbClr val="FFFFFF"/>
                </a:solidFill>
                <a:latin typeface="Calibri"/>
              </a:rPr>
              <a:t>1</a:t>
            </a:r>
          </a:p>
        </p:txBody>
      </p:sp>
      <p:sp>
        <p:nvSpPr>
          <p:cNvPr id="9" name="TextBox 8"/>
          <p:cNvSpPr txBox="1"/>
          <p:nvPr/>
        </p:nvSpPr>
        <p:spPr>
          <a:xfrm>
            <a:off x="941832" y="3584448"/>
            <a:ext cx="2880360" cy="411480"/>
          </a:xfrm>
          <a:prstGeom prst="rect">
            <a:avLst/>
          </a:prstGeom>
          <a:noFill/>
        </p:spPr>
        <p:txBody>
          <a:bodyPr wrap="square" lIns="0" tIns="0" rIns="0" bIns="0" anchor="t"/>
          <a:lstStyle/>
          <a:p>
            <a:pPr algn="l"/>
            <a:r>
              <a:rPr sz="1900" b="1">
                <a:solidFill>
                  <a:srgbClr val="14233F"/>
                </a:solidFill>
                <a:latin typeface="Cambria"/>
              </a:rPr>
              <a:t>One use case</a:t>
            </a:r>
          </a:p>
        </p:txBody>
      </p:sp>
      <p:sp>
        <p:nvSpPr>
          <p:cNvPr id="10" name="TextBox 9"/>
          <p:cNvSpPr txBox="1"/>
          <p:nvPr/>
        </p:nvSpPr>
        <p:spPr>
          <a:xfrm>
            <a:off x="960119" y="4160520"/>
            <a:ext cx="2880360" cy="1097280"/>
          </a:xfrm>
          <a:prstGeom prst="rect">
            <a:avLst/>
          </a:prstGeom>
          <a:noFill/>
        </p:spPr>
        <p:txBody>
          <a:bodyPr wrap="square" lIns="0" tIns="0" rIns="0" bIns="0" anchor="t"/>
          <a:lstStyle/>
          <a:p>
            <a:pPr algn="l">
              <a:lnSpc>
                <a:spcPct val="108000"/>
              </a:lnSpc>
            </a:pPr>
            <a:r>
              <a:rPr sz="1250" b="0">
                <a:solidFill>
                  <a:srgbClr val="5D6B8C"/>
                </a:solidFill>
                <a:latin typeface="Calibri"/>
              </a:rPr>
              <a:t>Supplier Disruption on your Databricks — measured value in six weeks.</a:t>
            </a:r>
          </a:p>
        </p:txBody>
      </p:sp>
      <p:sp>
        <p:nvSpPr>
          <p:cNvPr id="11" name="Rounded Rectangle 10"/>
          <p:cNvSpPr/>
          <p:nvPr/>
        </p:nvSpPr>
        <p:spPr>
          <a:xfrm>
            <a:off x="4325112" y="2606040"/>
            <a:ext cx="3520440" cy="2880360"/>
          </a:xfrm>
          <a:prstGeom prst="roundRect">
            <a:avLst/>
          </a:prstGeom>
          <a:solidFill>
            <a:srgbClr val="E2FB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645152" y="2880360"/>
            <a:ext cx="502920" cy="502920"/>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45152" y="2898648"/>
            <a:ext cx="502920" cy="466344"/>
          </a:xfrm>
          <a:prstGeom prst="rect">
            <a:avLst/>
          </a:prstGeom>
          <a:noFill/>
        </p:spPr>
        <p:txBody>
          <a:bodyPr wrap="square" lIns="0" tIns="0" rIns="0" bIns="0" anchor="ctr"/>
          <a:lstStyle/>
          <a:p>
            <a:pPr algn="ctr"/>
            <a:r>
              <a:rPr sz="1600" b="1">
                <a:solidFill>
                  <a:srgbClr val="FFFFFF"/>
                </a:solidFill>
                <a:latin typeface="Calibri"/>
              </a:rPr>
              <a:t>2</a:t>
            </a:r>
          </a:p>
        </p:txBody>
      </p:sp>
      <p:sp>
        <p:nvSpPr>
          <p:cNvPr id="14" name="TextBox 13"/>
          <p:cNvSpPr txBox="1"/>
          <p:nvPr/>
        </p:nvSpPr>
        <p:spPr>
          <a:xfrm>
            <a:off x="4626864" y="3584448"/>
            <a:ext cx="2880360" cy="411480"/>
          </a:xfrm>
          <a:prstGeom prst="rect">
            <a:avLst/>
          </a:prstGeom>
          <a:noFill/>
        </p:spPr>
        <p:txBody>
          <a:bodyPr wrap="square" lIns="0" tIns="0" rIns="0" bIns="0" anchor="t"/>
          <a:lstStyle/>
          <a:p>
            <a:pPr algn="l"/>
            <a:r>
              <a:rPr sz="1900" b="1">
                <a:solidFill>
                  <a:srgbClr val="14233F"/>
                </a:solidFill>
                <a:latin typeface="Cambria"/>
              </a:rPr>
              <a:t>One small team</a:t>
            </a:r>
          </a:p>
        </p:txBody>
      </p:sp>
      <p:sp>
        <p:nvSpPr>
          <p:cNvPr id="15" name="TextBox 14"/>
          <p:cNvSpPr txBox="1"/>
          <p:nvPr/>
        </p:nvSpPr>
        <p:spPr>
          <a:xfrm>
            <a:off x="4645152" y="4160520"/>
            <a:ext cx="2880360" cy="1097280"/>
          </a:xfrm>
          <a:prstGeom prst="rect">
            <a:avLst/>
          </a:prstGeom>
          <a:noFill/>
        </p:spPr>
        <p:txBody>
          <a:bodyPr wrap="square" lIns="0" tIns="0" rIns="0" bIns="0" anchor="t"/>
          <a:lstStyle/>
          <a:p>
            <a:pPr algn="l">
              <a:lnSpc>
                <a:spcPct val="108000"/>
              </a:lnSpc>
            </a:pPr>
            <a:r>
              <a:rPr sz="1250" b="0">
                <a:solidFill>
                  <a:srgbClr val="5D6B8C"/>
                </a:solidFill>
                <a:latin typeface="Calibri"/>
              </a:rPr>
              <a:t>A lead engineer + a supply-chain SME; the substrate is already built.</a:t>
            </a:r>
          </a:p>
        </p:txBody>
      </p:sp>
      <p:sp>
        <p:nvSpPr>
          <p:cNvPr id="16" name="Rounded Rectangle 15"/>
          <p:cNvSpPr/>
          <p:nvPr/>
        </p:nvSpPr>
        <p:spPr>
          <a:xfrm>
            <a:off x="8010144" y="2606040"/>
            <a:ext cx="3520440" cy="2880360"/>
          </a:xfrm>
          <a:prstGeom prst="round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330184" y="2880360"/>
            <a:ext cx="502920" cy="502920"/>
          </a:xfrm>
          <a:prstGeom prst="roundRect">
            <a:avLst/>
          </a:prstGeom>
          <a:solidFill>
            <a:srgbClr val="13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0184" y="2898648"/>
            <a:ext cx="502920" cy="466344"/>
          </a:xfrm>
          <a:prstGeom prst="rect">
            <a:avLst/>
          </a:prstGeom>
          <a:noFill/>
        </p:spPr>
        <p:txBody>
          <a:bodyPr wrap="square" lIns="0" tIns="0" rIns="0" bIns="0" anchor="ctr"/>
          <a:lstStyle/>
          <a:p>
            <a:pPr algn="ctr"/>
            <a:r>
              <a:rPr sz="1600" b="1">
                <a:solidFill>
                  <a:srgbClr val="FFFFFF"/>
                </a:solidFill>
                <a:latin typeface="Calibri"/>
              </a:rPr>
              <a:t>3</a:t>
            </a:r>
          </a:p>
        </p:txBody>
      </p:sp>
      <p:sp>
        <p:nvSpPr>
          <p:cNvPr id="19" name="TextBox 18"/>
          <p:cNvSpPr txBox="1"/>
          <p:nvPr/>
        </p:nvSpPr>
        <p:spPr>
          <a:xfrm>
            <a:off x="8311896" y="3584448"/>
            <a:ext cx="2880360" cy="411480"/>
          </a:xfrm>
          <a:prstGeom prst="rect">
            <a:avLst/>
          </a:prstGeom>
          <a:noFill/>
        </p:spPr>
        <p:txBody>
          <a:bodyPr wrap="square" lIns="0" tIns="0" rIns="0" bIns="0" anchor="t"/>
          <a:lstStyle/>
          <a:p>
            <a:pPr algn="l"/>
            <a:r>
              <a:rPr sz="1900" b="1">
                <a:solidFill>
                  <a:srgbClr val="14233F"/>
                </a:solidFill>
                <a:latin typeface="Cambria"/>
              </a:rPr>
              <a:t>One clear gate</a:t>
            </a:r>
          </a:p>
        </p:txBody>
      </p:sp>
      <p:sp>
        <p:nvSpPr>
          <p:cNvPr id="20" name="TextBox 19"/>
          <p:cNvSpPr txBox="1"/>
          <p:nvPr/>
        </p:nvSpPr>
        <p:spPr>
          <a:xfrm>
            <a:off x="8330184" y="4160520"/>
            <a:ext cx="2880360" cy="1097280"/>
          </a:xfrm>
          <a:prstGeom prst="rect">
            <a:avLst/>
          </a:prstGeom>
          <a:noFill/>
        </p:spPr>
        <p:txBody>
          <a:bodyPr wrap="square" lIns="0" tIns="0" rIns="0" bIns="0" anchor="t"/>
          <a:lstStyle/>
          <a:p>
            <a:pPr algn="l">
              <a:lnSpc>
                <a:spcPct val="108000"/>
              </a:lnSpc>
            </a:pPr>
            <a:r>
              <a:rPr sz="1250" b="0">
                <a:solidFill>
                  <a:srgbClr val="5D6B8C"/>
                </a:solidFill>
                <a:latin typeface="Calibri"/>
              </a:rPr>
              <a:t>Decision to expand based on measured compression, autonomy and ROI.</a:t>
            </a:r>
          </a:p>
        </p:txBody>
      </p:sp>
      <p:sp>
        <p:nvSpPr>
          <p:cNvPr id="21" name="Rounded Rectangle 20"/>
          <p:cNvSpPr/>
          <p:nvPr/>
        </p:nvSpPr>
        <p:spPr>
          <a:xfrm>
            <a:off x="640080" y="5760720"/>
            <a:ext cx="10908792" cy="685800"/>
          </a:xfrm>
          <a:prstGeom prst="roundRect">
            <a:avLst/>
          </a:prstGeom>
          <a:solidFill>
            <a:srgbClr val="14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5852160"/>
            <a:ext cx="10515600" cy="502920"/>
          </a:xfrm>
          <a:prstGeom prst="rect">
            <a:avLst/>
          </a:prstGeom>
          <a:noFill/>
        </p:spPr>
        <p:txBody>
          <a:bodyPr wrap="square" lIns="0" tIns="0" rIns="0" bIns="0" anchor="ctr"/>
          <a:lstStyle/>
          <a:p>
            <a:pPr algn="l">
              <a:lnSpc>
                <a:spcPct val="105000"/>
              </a:lnSpc>
            </a:pPr>
            <a:r>
              <a:rPr sz="1250" b="1">
                <a:solidFill>
                  <a:srgbClr val="FFFFFF"/>
                </a:solidFill>
                <a:latin typeface="Calibri"/>
              </a:rPr>
              <a:t>UNAI — one AI that does the work of many.</a:t>
            </a:r>
          </a:p>
          <a:p>
            <a:pPr algn="l">
              <a:lnSpc>
                <a:spcPct val="105000"/>
              </a:lnSpc>
            </a:pPr>
            <a:r>
              <a:rPr sz="1250" b="1">
                <a:solidFill>
                  <a:srgbClr val="FFFFFF"/>
                </a:solidFill>
                <a:latin typeface="Calibri"/>
              </a:rPr>
              <a:t>Bristlecone · Research-preview demonstrator available to run live today.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640080" y="2194560"/>
            <a:ext cx="10972800" cy="914400"/>
          </a:xfrm>
          <a:prstGeom prst="rect">
            <a:avLst/>
          </a:prstGeom>
          <a:noFill/>
        </p:spPr>
        <p:txBody>
          <a:bodyPr wrap="square" lIns="0" tIns="0" rIns="0" bIns="0">
            <a:spAutoFit/>
          </a:bodyPr>
          <a:lstStyle/>
          <a:p>
            <a:pPr algn="l"/>
            <a:r>
              <a:rPr sz="4000" b="1" i="0">
                <a:solidFill>
                  <a:srgbClr val="22D3AA"/>
                </a:solidFill>
                <a:latin typeface="Calibri"/>
              </a:rPr>
              <a:t>How UNAI works — per use case</a:t>
            </a:r>
          </a:p>
        </p:txBody>
      </p:sp>
      <p:sp>
        <p:nvSpPr>
          <p:cNvPr id="3" name="TextBox 2"/>
          <p:cNvSpPr txBox="1"/>
          <p:nvPr/>
        </p:nvSpPr>
        <p:spPr>
          <a:xfrm>
            <a:off x="640080" y="3200400"/>
            <a:ext cx="10972800" cy="548640"/>
          </a:xfrm>
          <a:prstGeom prst="rect">
            <a:avLst/>
          </a:prstGeom>
          <a:noFill/>
        </p:spPr>
        <p:txBody>
          <a:bodyPr wrap="square" lIns="0" tIns="0" rIns="0" bIns="0">
            <a:spAutoFit/>
          </a:bodyPr>
          <a:lstStyle/>
          <a:p>
            <a:pPr algn="l"/>
            <a:r>
              <a:rPr sz="1700" b="0" i="1">
                <a:solidFill>
                  <a:srgbClr val="E8EDFB"/>
                </a:solidFill>
                <a:latin typeface="Calibri"/>
              </a:rPr>
              <a:t>One shared brain. Many thin executors. Read once, reason once — then reuse the cognition.</a:t>
            </a:r>
          </a:p>
        </p:txBody>
      </p:sp>
      <p:sp>
        <p:nvSpPr>
          <p:cNvPr id="4" name="TextBox 3"/>
          <p:cNvSpPr txBox="1"/>
          <p:nvPr/>
        </p:nvSpPr>
        <p:spPr>
          <a:xfrm>
            <a:off x="640080" y="3840480"/>
            <a:ext cx="10972800" cy="457200"/>
          </a:xfrm>
          <a:prstGeom prst="rect">
            <a:avLst/>
          </a:prstGeom>
          <a:noFill/>
        </p:spPr>
        <p:txBody>
          <a:bodyPr wrap="square" lIns="0" tIns="0" rIns="0" bIns="0">
            <a:spAutoFit/>
          </a:bodyPr>
          <a:lstStyle/>
          <a:p>
            <a:pPr algn="l"/>
            <a:r>
              <a:rPr sz="1300" b="0" i="0">
                <a:solidFill>
                  <a:srgbClr val="8A97B8"/>
                </a:solidFill>
                <a:latin typeface="Calibri"/>
              </a:rPr>
              <a:t>The animations on the following slides play in Slide Show mode.</a:t>
            </a:r>
          </a:p>
        </p:txBody>
      </p:sp>
      <p:sp>
        <p:nvSpPr>
          <p:cNvPr id="5" name="TextBox 4"/>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Supplier Disruption Response</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4 thin executors reuse the shared cognition</a:t>
            </a:r>
          </a:p>
        </p:txBody>
      </p:sp>
      <p:pic>
        <p:nvPicPr>
          <p:cNvPr id="4" name="Picture 3" descr="UNAI_Flow_disruption_response.gif"/>
          <p:cNvPicPr>
            <a:picLocks noChangeAspect="1"/>
          </p:cNvPicPr>
          <p:nvPr/>
        </p:nvPicPr>
        <p:blipFill>
          <a:blip r:embed="rId2"/>
          <a:stretch>
            <a:fillRect/>
          </a:stretch>
        </p:blipFill>
        <p:spPr>
          <a:xfrm>
            <a:off x="603504" y="1371600"/>
            <a:ext cx="10972800" cy="3924886"/>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4 specialist agents → 1 UNAI      −62%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Demand Planning</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5 thin executors reuse the shared cognition</a:t>
            </a:r>
          </a:p>
        </p:txBody>
      </p:sp>
      <p:pic>
        <p:nvPicPr>
          <p:cNvPr id="4" name="Picture 3" descr="UNAI_Flow_demand_planning.gif"/>
          <p:cNvPicPr>
            <a:picLocks noChangeAspect="1"/>
          </p:cNvPicPr>
          <p:nvPr/>
        </p:nvPicPr>
        <p:blipFill>
          <a:blip r:embed="rId2"/>
          <a:stretch>
            <a:fillRect/>
          </a:stretch>
        </p:blipFill>
        <p:spPr>
          <a:xfrm>
            <a:off x="603504" y="1371600"/>
            <a:ext cx="10972800" cy="4494628"/>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5 specialist agents → 1 UNAI      −71%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Inventory Optimization</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5 thin executors reuse the shared cognition</a:t>
            </a:r>
          </a:p>
        </p:txBody>
      </p:sp>
      <p:pic>
        <p:nvPicPr>
          <p:cNvPr id="4" name="Picture 3" descr="UNAI_Flow_inventory_optimization.gif"/>
          <p:cNvPicPr>
            <a:picLocks noChangeAspect="1"/>
          </p:cNvPicPr>
          <p:nvPr/>
        </p:nvPicPr>
        <p:blipFill>
          <a:blip r:embed="rId2"/>
          <a:stretch>
            <a:fillRect/>
          </a:stretch>
        </p:blipFill>
        <p:spPr>
          <a:xfrm>
            <a:off x="603504" y="1371600"/>
            <a:ext cx="10972800" cy="4494628"/>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5 specialist agents → 1 UNAI      −70%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Supply / S&amp;OP Planning</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5 thin executors reuse the shared cognition</a:t>
            </a:r>
          </a:p>
        </p:txBody>
      </p:sp>
      <p:pic>
        <p:nvPicPr>
          <p:cNvPr id="4" name="Picture 3" descr="UNAI_Flow_supply_planning.gif"/>
          <p:cNvPicPr>
            <a:picLocks noChangeAspect="1"/>
          </p:cNvPicPr>
          <p:nvPr/>
        </p:nvPicPr>
        <p:blipFill>
          <a:blip r:embed="rId2"/>
          <a:stretch>
            <a:fillRect/>
          </a:stretch>
        </p:blipFill>
        <p:spPr>
          <a:xfrm>
            <a:off x="603504" y="1371600"/>
            <a:ext cx="10972800" cy="4494628"/>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5 specialist agents → 1 UNAI      −74%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Procurement &amp; Sourcing</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5 thin executors reuse the shared cognition</a:t>
            </a:r>
          </a:p>
        </p:txBody>
      </p:sp>
      <p:pic>
        <p:nvPicPr>
          <p:cNvPr id="4" name="Picture 3" descr="UNAI_Flow_procurement_sourcing.gif"/>
          <p:cNvPicPr>
            <a:picLocks noChangeAspect="1"/>
          </p:cNvPicPr>
          <p:nvPr/>
        </p:nvPicPr>
        <p:blipFill>
          <a:blip r:embed="rId2"/>
          <a:stretch>
            <a:fillRect/>
          </a:stretch>
        </p:blipFill>
        <p:spPr>
          <a:xfrm>
            <a:off x="603504" y="1371600"/>
            <a:ext cx="10972800" cy="4494628"/>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5 specialist agents → 1 UNAI      −74%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Logistics &amp; Transportation</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5 thin executors reuse the shared cognition</a:t>
            </a:r>
          </a:p>
        </p:txBody>
      </p:sp>
      <p:pic>
        <p:nvPicPr>
          <p:cNvPr id="4" name="Picture 3" descr="UNAI_Flow_logistics_transportation.gif"/>
          <p:cNvPicPr>
            <a:picLocks noChangeAspect="1"/>
          </p:cNvPicPr>
          <p:nvPr/>
        </p:nvPicPr>
        <p:blipFill>
          <a:blip r:embed="rId2"/>
          <a:stretch>
            <a:fillRect/>
          </a:stretch>
        </p:blipFill>
        <p:spPr>
          <a:xfrm>
            <a:off x="603504" y="1371600"/>
            <a:ext cx="10972800" cy="4494628"/>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5 specialist agents → 1 UNAI      −74%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Production / Manufacturing Planning</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5 thin executors reuse the shared cognition</a:t>
            </a:r>
          </a:p>
        </p:txBody>
      </p:sp>
      <p:pic>
        <p:nvPicPr>
          <p:cNvPr id="4" name="Picture 3" descr="UNAI_Flow_production_planning.gif"/>
          <p:cNvPicPr>
            <a:picLocks noChangeAspect="1"/>
          </p:cNvPicPr>
          <p:nvPr/>
        </p:nvPicPr>
        <p:blipFill>
          <a:blip r:embed="rId2"/>
          <a:stretch>
            <a:fillRect/>
          </a:stretch>
        </p:blipFill>
        <p:spPr>
          <a:xfrm>
            <a:off x="603504" y="1371600"/>
            <a:ext cx="10972800" cy="4494628"/>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5 specialist agents → 1 UNAI      −70%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Spares Planning Process (IBP)</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12 thin executors reuse the shared cognition</a:t>
            </a:r>
          </a:p>
        </p:txBody>
      </p:sp>
      <p:pic>
        <p:nvPicPr>
          <p:cNvPr id="4" name="Picture 3" descr="UNAI_Flow_spares_planning_ibp.gif"/>
          <p:cNvPicPr>
            <a:picLocks noChangeAspect="1"/>
          </p:cNvPicPr>
          <p:nvPr/>
        </p:nvPicPr>
        <p:blipFill>
          <a:blip r:embed="rId2"/>
          <a:stretch>
            <a:fillRect/>
          </a:stretch>
        </p:blipFill>
        <p:spPr>
          <a:xfrm>
            <a:off x="603504" y="1371600"/>
            <a:ext cx="10972800" cy="5064369"/>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12 specialist agents → 1 UNAI      −76%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RMA Execution Process</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14 thin executors reuse the shared cognition</a:t>
            </a:r>
          </a:p>
        </p:txBody>
      </p:sp>
      <p:pic>
        <p:nvPicPr>
          <p:cNvPr id="4" name="Picture 3" descr="UNAI_Flow_rma_execution.gif"/>
          <p:cNvPicPr>
            <a:picLocks noChangeAspect="1"/>
          </p:cNvPicPr>
          <p:nvPr/>
        </p:nvPicPr>
        <p:blipFill>
          <a:blip r:embed="rId2"/>
          <a:stretch>
            <a:fillRect/>
          </a:stretch>
        </p:blipFill>
        <p:spPr>
          <a:xfrm>
            <a:off x="603504" y="1371600"/>
            <a:ext cx="10972800" cy="5064369"/>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15 specialist agents → 1 UNAI      −82%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1155680" cy="548640"/>
          </a:xfrm>
          <a:prstGeom prst="rect">
            <a:avLst/>
          </a:prstGeom>
          <a:noFill/>
        </p:spPr>
        <p:txBody>
          <a:bodyPr wrap="square" lIns="0" tIns="0" rIns="0" bIns="0">
            <a:spAutoFit/>
          </a:bodyPr>
          <a:lstStyle/>
          <a:p>
            <a:pPr algn="l"/>
            <a:r>
              <a:rPr sz="2700" b="1" i="0">
                <a:solidFill>
                  <a:srgbClr val="22D3AA"/>
                </a:solidFill>
                <a:latin typeface="Calibri"/>
              </a:rPr>
              <a:t>Statistical Forecasting (Monster x AI)</a:t>
            </a:r>
          </a:p>
        </p:txBody>
      </p:sp>
      <p:sp>
        <p:nvSpPr>
          <p:cNvPr id="3" name="TextBox 2"/>
          <p:cNvSpPr txBox="1"/>
          <p:nvPr/>
        </p:nvSpPr>
        <p:spPr>
          <a:xfrm>
            <a:off x="548640" y="868680"/>
            <a:ext cx="11155680" cy="320040"/>
          </a:xfrm>
          <a:prstGeom prst="rect">
            <a:avLst/>
          </a:prstGeom>
          <a:noFill/>
        </p:spPr>
        <p:txBody>
          <a:bodyPr wrap="square" lIns="0" tIns="0" rIns="0" bIns="0">
            <a:spAutoFit/>
          </a:bodyPr>
          <a:lstStyle/>
          <a:p>
            <a:pPr algn="l"/>
            <a:r>
              <a:rPr sz="1300" b="0" i="0">
                <a:solidFill>
                  <a:srgbClr val="8A97B8"/>
                </a:solidFill>
                <a:latin typeface="Calibri"/>
              </a:rPr>
              <a:t>reads once · reasons once · 5 thin executors reuse the shared cognition</a:t>
            </a:r>
          </a:p>
        </p:txBody>
      </p:sp>
      <p:pic>
        <p:nvPicPr>
          <p:cNvPr id="4" name="Picture 3" descr="UNAI_Flow_monster_statistical_forecast.gif"/>
          <p:cNvPicPr>
            <a:picLocks noChangeAspect="1"/>
          </p:cNvPicPr>
          <p:nvPr/>
        </p:nvPicPr>
        <p:blipFill>
          <a:blip r:embed="rId2"/>
          <a:stretch>
            <a:fillRect/>
          </a:stretch>
        </p:blipFill>
        <p:spPr>
          <a:xfrm>
            <a:off x="603504" y="1371600"/>
            <a:ext cx="10972800" cy="4494628"/>
          </a:xfrm>
          <a:prstGeom prst="rect">
            <a:avLst/>
          </a:prstGeom>
        </p:spPr>
      </p:pic>
      <p:sp>
        <p:nvSpPr>
          <p:cNvPr id="5" name="TextBox 4"/>
          <p:cNvSpPr txBox="1"/>
          <p:nvPr/>
        </p:nvSpPr>
        <p:spPr>
          <a:xfrm>
            <a:off x="548640" y="6144768"/>
            <a:ext cx="11155680" cy="365760"/>
          </a:xfrm>
          <a:prstGeom prst="rect">
            <a:avLst/>
          </a:prstGeom>
          <a:noFill/>
        </p:spPr>
        <p:txBody>
          <a:bodyPr wrap="square" lIns="0" tIns="0" rIns="0" bIns="0">
            <a:spAutoFit/>
          </a:bodyPr>
          <a:lstStyle/>
          <a:p>
            <a:pPr algn="ctr"/>
            <a:r>
              <a:rPr sz="1500" b="1" i="0">
                <a:solidFill>
                  <a:srgbClr val="E8EDFB"/>
                </a:solidFill>
                <a:latin typeface="Calibri"/>
              </a:rPr>
              <a:t>5 specialist agents → 1 UNAI      −74% tokens (modeled)      one read · one plan</a:t>
            </a:r>
          </a:p>
        </p:txBody>
      </p:sp>
      <p:sp>
        <p:nvSpPr>
          <p:cNvPr id="6" name="TextBox 5"/>
          <p:cNvSpPr txBox="1"/>
          <p:nvPr/>
        </p:nvSpPr>
        <p:spPr>
          <a:xfrm>
            <a:off x="457200" y="6455664"/>
            <a:ext cx="11247120" cy="274320"/>
          </a:xfrm>
          <a:prstGeom prst="rect">
            <a:avLst/>
          </a:prstGeom>
          <a:noFill/>
        </p:spPr>
        <p:txBody>
          <a:bodyPr wrap="square" lIns="0" tIns="0" rIns="0" bIns="0">
            <a:spAutoFit/>
          </a:bodyPr>
          <a:lstStyle/>
          <a:p>
            <a:pPr algn="l"/>
            <a:r>
              <a:rPr sz="900" b="0" i="0">
                <a:solidFill>
                  <a:srgbClr val="8A97B8"/>
                </a:solidFill>
                <a:latin typeface="Calibri"/>
              </a:rPr>
              <a:t>Bristlecone · UNAI Cognitive Runtime · modeled figures — not for external distribution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3000" b="1">
                <a:solidFill>
                  <a:srgbClr val="1F3556"/>
                </a:solidFill>
                <a:latin typeface="Cambria"/>
              </a:rPr>
              <a:t>Platform Architecture</a:t>
            </a:r>
          </a:p>
        </p:txBody>
      </p:sp>
      <p:sp>
        <p:nvSpPr>
          <p:cNvPr id="3" name="TextBox 2"/>
          <p:cNvSpPr txBox="1"/>
          <p:nvPr/>
        </p:nvSpPr>
        <p:spPr>
          <a:xfrm>
            <a:off x="457200" y="896112"/>
            <a:ext cx="11247120" cy="365760"/>
          </a:xfrm>
          <a:prstGeom prst="rect">
            <a:avLst/>
          </a:prstGeom>
          <a:noFill/>
        </p:spPr>
        <p:txBody>
          <a:bodyPr wrap="square">
            <a:spAutoFit/>
          </a:bodyPr>
          <a:lstStyle/>
          <a:p>
            <a:r>
              <a:rPr sz="1150" i="1">
                <a:solidFill>
                  <a:srgbClr val="5A6472"/>
                </a:solidFill>
                <a:latin typeface="Calibri"/>
              </a:rPr>
              <a:t>One shared cognitive runtime · a self-improving Supply-Chain Cognition Layer · model-, warehouse- and cloud-neutral · SAP-compliant</a:t>
            </a:r>
          </a:p>
        </p:txBody>
      </p:sp>
      <p:pic>
        <p:nvPicPr>
          <p:cNvPr id="4" name="Picture 3" descr="UNAI_Architecture.png"/>
          <p:cNvPicPr>
            <a:picLocks noChangeAspect="1"/>
          </p:cNvPicPr>
          <p:nvPr/>
        </p:nvPicPr>
        <p:blipFill>
          <a:blip r:embed="rId2"/>
          <a:stretch>
            <a:fillRect/>
          </a:stretch>
        </p:blipFill>
        <p:spPr>
          <a:xfrm>
            <a:off x="2153546" y="1325880"/>
            <a:ext cx="7884908" cy="52578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11277600" cy="640080"/>
          </a:xfrm>
          <a:prstGeom prst="rect">
            <a:avLst/>
          </a:prstGeom>
          <a:noFill/>
        </p:spPr>
        <p:txBody>
          <a:bodyPr wrap="square">
            <a:spAutoFit/>
          </a:bodyPr>
          <a:lstStyle/>
          <a:p>
            <a:r>
              <a:rPr sz="2800" b="1">
                <a:solidFill>
                  <a:srgbClr val="1F3556"/>
                </a:solidFill>
                <a:latin typeface="Cambria"/>
              </a:rPr>
              <a:t>Supply-Chain Use-Case Catalog</a:t>
            </a:r>
          </a:p>
        </p:txBody>
      </p:sp>
      <p:sp>
        <p:nvSpPr>
          <p:cNvPr id="3" name="TextBox 2"/>
          <p:cNvSpPr txBox="1"/>
          <p:nvPr/>
        </p:nvSpPr>
        <p:spPr>
          <a:xfrm>
            <a:off x="457200" y="914400"/>
            <a:ext cx="11277600" cy="365760"/>
          </a:xfrm>
          <a:prstGeom prst="rect">
            <a:avLst/>
          </a:prstGeom>
          <a:noFill/>
        </p:spPr>
        <p:txBody>
          <a:bodyPr wrap="square">
            <a:spAutoFit/>
          </a:bodyPr>
          <a:lstStyle/>
          <a:p>
            <a:r>
              <a:rPr sz="1250" i="1">
                <a:solidFill>
                  <a:srgbClr val="5A6472"/>
                </a:solidFill>
                <a:latin typeface="Calibri"/>
              </a:rPr>
              <a:t>32 use cases, grounded in the SAP IBP module set — each one-click buildable on the shared runtime.</a:t>
            </a:r>
          </a:p>
        </p:txBody>
      </p:sp>
      <p:sp>
        <p:nvSpPr>
          <p:cNvPr id="4" name="TextBox 3"/>
          <p:cNvSpPr txBox="1"/>
          <p:nvPr/>
        </p:nvSpPr>
        <p:spPr>
          <a:xfrm>
            <a:off x="457200" y="1417320"/>
            <a:ext cx="3576320" cy="5029200"/>
          </a:xfrm>
          <a:prstGeom prst="rect">
            <a:avLst/>
          </a:prstGeom>
          <a:noFill/>
        </p:spPr>
        <p:txBody>
          <a:bodyPr wrap="square">
            <a:spAutoFit/>
          </a:bodyPr>
          <a:lstStyle/>
          <a:p>
            <a:pPr>
              <a:spcBef>
                <a:spcPts val="800"/>
              </a:spcBef>
            </a:pPr>
            <a:r>
              <a:rPr sz="1050" b="1">
                <a:solidFill>
                  <a:srgbClr val="0F9D8C"/>
                </a:solidFill>
                <a:latin typeface="Calibri"/>
              </a:rPr>
              <a:t>DEMAND</a:t>
            </a:r>
          </a:p>
          <a:p>
            <a:r>
              <a:rPr sz="1050">
                <a:solidFill>
                  <a:srgbClr val="1E2733"/>
                </a:solidFill>
                <a:latin typeface="Calibri"/>
              </a:rPr>
              <a:t>statistical forecasting · demand sensing · curve based forecast · outlier correction · product lifecycle planning · promotion planning · cannibalization analysis · forecast accuracy monitoring · demand planning</a:t>
            </a:r>
          </a:p>
          <a:p>
            <a:pPr>
              <a:spcBef>
                <a:spcPts val="800"/>
              </a:spcBef>
            </a:pPr>
            <a:r>
              <a:rPr sz="1050" b="1">
                <a:solidFill>
                  <a:srgbClr val="0F9D8C"/>
                </a:solidFill>
                <a:latin typeface="Calibri"/>
              </a:rPr>
              <a:t>INVENTORY · MEIO</a:t>
            </a:r>
          </a:p>
          <a:p>
            <a:r>
              <a:rPr sz="1050">
                <a:solidFill>
                  <a:srgbClr val="1E2733"/>
                </a:solidFill>
                <a:latin typeface="Calibri"/>
              </a:rPr>
              <a:t>multi echelon inventory</a:t>
            </a:r>
          </a:p>
          <a:p>
            <a:pPr>
              <a:spcBef>
                <a:spcPts val="800"/>
              </a:spcBef>
            </a:pPr>
            <a:r>
              <a:rPr sz="1050" b="1">
                <a:solidFill>
                  <a:srgbClr val="0F9D8C"/>
                </a:solidFill>
                <a:latin typeface="Calibri"/>
              </a:rPr>
              <a:t>MRO</a:t>
            </a:r>
          </a:p>
          <a:p>
            <a:r>
              <a:rPr sz="1050">
                <a:solidFill>
                  <a:srgbClr val="1E2733"/>
                </a:solidFill>
                <a:latin typeface="Calibri"/>
              </a:rPr>
              <a:t>mro inventory planning</a:t>
            </a:r>
          </a:p>
          <a:p>
            <a:pPr>
              <a:spcBef>
                <a:spcPts val="800"/>
              </a:spcBef>
            </a:pPr>
            <a:r>
              <a:rPr sz="1050" b="1">
                <a:solidFill>
                  <a:srgbClr val="0F9D8C"/>
                </a:solidFill>
                <a:latin typeface="Calibri"/>
              </a:rPr>
              <a:t>RESPONSE</a:t>
            </a:r>
          </a:p>
          <a:p>
            <a:r>
              <a:rPr sz="1050">
                <a:solidFill>
                  <a:srgbClr val="1E2733"/>
                </a:solidFill>
                <a:latin typeface="Calibri"/>
              </a:rPr>
              <a:t>allocation planning</a:t>
            </a:r>
          </a:p>
          <a:p>
            <a:pPr>
              <a:spcBef>
                <a:spcPts val="800"/>
              </a:spcBef>
            </a:pPr>
            <a:r>
              <a:rPr sz="1050" b="1">
                <a:solidFill>
                  <a:srgbClr val="0F9D8C"/>
                </a:solidFill>
                <a:latin typeface="Calibri"/>
              </a:rPr>
              <a:t>PROCUREMENT</a:t>
            </a:r>
          </a:p>
          <a:p>
            <a:r>
              <a:rPr sz="1050">
                <a:solidFill>
                  <a:srgbClr val="1E2733"/>
                </a:solidFill>
                <a:latin typeface="Calibri"/>
              </a:rPr>
              <a:t>procurement sourcing</a:t>
            </a:r>
          </a:p>
          <a:p>
            <a:pPr>
              <a:spcBef>
                <a:spcPts val="800"/>
              </a:spcBef>
            </a:pPr>
            <a:r>
              <a:rPr sz="1050" b="1">
                <a:solidFill>
                  <a:srgbClr val="0F9D8C"/>
                </a:solidFill>
                <a:latin typeface="Calibri"/>
              </a:rPr>
              <a:t>AFTERMARKET</a:t>
            </a:r>
          </a:p>
          <a:p>
            <a:r>
              <a:rPr sz="1050">
                <a:solidFill>
                  <a:srgbClr val="1E2733"/>
                </a:solidFill>
                <a:latin typeface="Calibri"/>
              </a:rPr>
              <a:t>spares planning ibp · returns forecasting</a:t>
            </a:r>
          </a:p>
          <a:p>
            <a:pPr>
              <a:spcBef>
                <a:spcPts val="800"/>
              </a:spcBef>
            </a:pPr>
            <a:r>
              <a:rPr sz="1050" b="1">
                <a:solidFill>
                  <a:srgbClr val="0F9D8C"/>
                </a:solidFill>
                <a:latin typeface="Calibri"/>
              </a:rPr>
              <a:t>SUSTAINABILITY</a:t>
            </a:r>
          </a:p>
          <a:p>
            <a:r>
              <a:rPr sz="1050">
                <a:solidFill>
                  <a:srgbClr val="1E2733"/>
                </a:solidFill>
                <a:latin typeface="Calibri"/>
              </a:rPr>
              <a:t>sustainability planning</a:t>
            </a:r>
          </a:p>
        </p:txBody>
      </p:sp>
      <p:sp>
        <p:nvSpPr>
          <p:cNvPr id="5" name="TextBox 4"/>
          <p:cNvSpPr txBox="1"/>
          <p:nvPr/>
        </p:nvSpPr>
        <p:spPr>
          <a:xfrm>
            <a:off x="4307840" y="1417320"/>
            <a:ext cx="3576320" cy="5029200"/>
          </a:xfrm>
          <a:prstGeom prst="rect">
            <a:avLst/>
          </a:prstGeom>
          <a:noFill/>
        </p:spPr>
        <p:txBody>
          <a:bodyPr wrap="square">
            <a:spAutoFit/>
          </a:bodyPr>
          <a:lstStyle/>
          <a:p>
            <a:pPr>
              <a:spcBef>
                <a:spcPts val="800"/>
              </a:spcBef>
            </a:pPr>
            <a:r>
              <a:rPr sz="1050" b="1">
                <a:solidFill>
                  <a:srgbClr val="0F9D8C"/>
                </a:solidFill>
                <a:latin typeface="Calibri"/>
              </a:rPr>
              <a:t>DEMAND · S&amp;OP</a:t>
            </a:r>
          </a:p>
          <a:p>
            <a:r>
              <a:rPr sz="1050">
                <a:solidFill>
                  <a:srgbClr val="1E2733"/>
                </a:solidFill>
                <a:latin typeface="Calibri"/>
              </a:rPr>
              <a:t>consensus demand sop</a:t>
            </a:r>
          </a:p>
          <a:p>
            <a:pPr>
              <a:spcBef>
                <a:spcPts val="800"/>
              </a:spcBef>
            </a:pPr>
            <a:r>
              <a:rPr sz="1050" b="1">
                <a:solidFill>
                  <a:srgbClr val="0F9D8C"/>
                </a:solidFill>
                <a:latin typeface="Calibri"/>
              </a:rPr>
              <a:t>INVENTORY</a:t>
            </a:r>
          </a:p>
          <a:p>
            <a:r>
              <a:rPr sz="1050">
                <a:solidFill>
                  <a:srgbClr val="1E2733"/>
                </a:solidFill>
                <a:latin typeface="Calibri"/>
              </a:rPr>
              <a:t>safety stock planning · service level prediction · excess and obsolescence</a:t>
            </a:r>
          </a:p>
          <a:p>
            <a:pPr>
              <a:spcBef>
                <a:spcPts val="800"/>
              </a:spcBef>
            </a:pPr>
            <a:r>
              <a:rPr sz="1050" b="1">
                <a:solidFill>
                  <a:srgbClr val="0F9D8C"/>
                </a:solidFill>
                <a:latin typeface="Calibri"/>
              </a:rPr>
              <a:t>SUPPLY</a:t>
            </a:r>
          </a:p>
          <a:p>
            <a:r>
              <a:rPr sz="1050">
                <a:solidFill>
                  <a:srgbClr val="1E2733"/>
                </a:solidFill>
                <a:latin typeface="Calibri"/>
              </a:rPr>
              <a:t>supply planning · net requirements planning</a:t>
            </a:r>
          </a:p>
          <a:p>
            <a:pPr>
              <a:spcBef>
                <a:spcPts val="800"/>
              </a:spcBef>
            </a:pPr>
            <a:r>
              <a:rPr sz="1050" b="1">
                <a:solidFill>
                  <a:srgbClr val="0F9D8C"/>
                </a:solidFill>
                <a:latin typeface="Calibri"/>
              </a:rPr>
              <a:t>PRODUCTION</a:t>
            </a:r>
          </a:p>
          <a:p>
            <a:r>
              <a:rPr sz="1050">
                <a:solidFill>
                  <a:srgbClr val="1E2733"/>
                </a:solidFill>
                <a:latin typeface="Calibri"/>
              </a:rPr>
              <a:t>capacity planning · production planning</a:t>
            </a:r>
          </a:p>
          <a:p>
            <a:pPr>
              <a:spcBef>
                <a:spcPts val="800"/>
              </a:spcBef>
            </a:pPr>
            <a:r>
              <a:rPr sz="1050" b="1">
                <a:solidFill>
                  <a:srgbClr val="0F9D8C"/>
                </a:solidFill>
                <a:latin typeface="Calibri"/>
              </a:rPr>
              <a:t>LOGISTICS</a:t>
            </a:r>
          </a:p>
          <a:p>
            <a:r>
              <a:rPr sz="1050">
                <a:solidFill>
                  <a:srgbClr val="1E2733"/>
                </a:solidFill>
                <a:latin typeface="Calibri"/>
              </a:rPr>
              <a:t>logistics transportation</a:t>
            </a:r>
          </a:p>
          <a:p>
            <a:pPr>
              <a:spcBef>
                <a:spcPts val="800"/>
              </a:spcBef>
            </a:pPr>
            <a:r>
              <a:rPr sz="1050" b="1">
                <a:solidFill>
                  <a:srgbClr val="0F9D8C"/>
                </a:solidFill>
                <a:latin typeface="Calibri"/>
              </a:rPr>
              <a:t>AFTERMARKET · RMA</a:t>
            </a:r>
          </a:p>
          <a:p>
            <a:r>
              <a:rPr sz="1050">
                <a:solidFill>
                  <a:srgbClr val="1E2733"/>
                </a:solidFill>
                <a:latin typeface="Calibri"/>
              </a:rPr>
              <a:t>rma execution</a:t>
            </a:r>
          </a:p>
        </p:txBody>
      </p:sp>
      <p:sp>
        <p:nvSpPr>
          <p:cNvPr id="6" name="TextBox 5"/>
          <p:cNvSpPr txBox="1"/>
          <p:nvPr/>
        </p:nvSpPr>
        <p:spPr>
          <a:xfrm>
            <a:off x="8158480" y="1417320"/>
            <a:ext cx="3576320" cy="5029200"/>
          </a:xfrm>
          <a:prstGeom prst="rect">
            <a:avLst/>
          </a:prstGeom>
          <a:noFill/>
        </p:spPr>
        <p:txBody>
          <a:bodyPr wrap="square">
            <a:spAutoFit/>
          </a:bodyPr>
          <a:lstStyle/>
          <a:p>
            <a:pPr>
              <a:spcBef>
                <a:spcPts val="800"/>
              </a:spcBef>
            </a:pPr>
            <a:r>
              <a:rPr sz="1050" b="1">
                <a:solidFill>
                  <a:srgbClr val="0F9D8C"/>
                </a:solidFill>
                <a:latin typeface="Calibri"/>
              </a:rPr>
              <a:t>INVENTORY · IO</a:t>
            </a:r>
          </a:p>
          <a:p>
            <a:r>
              <a:rPr sz="1050">
                <a:solidFill>
                  <a:srgbClr val="1E2733"/>
                </a:solidFill>
                <a:latin typeface="Calibri"/>
              </a:rPr>
              <a:t>inventory optimization</a:t>
            </a:r>
          </a:p>
          <a:p>
            <a:pPr>
              <a:spcBef>
                <a:spcPts val="800"/>
              </a:spcBef>
            </a:pPr>
            <a:r>
              <a:rPr sz="1050" b="1">
                <a:solidFill>
                  <a:srgbClr val="0F9D8C"/>
                </a:solidFill>
                <a:latin typeface="Calibri"/>
              </a:rPr>
              <a:t>DDR · DDMRP</a:t>
            </a:r>
          </a:p>
          <a:p>
            <a:r>
              <a:rPr sz="1050">
                <a:solidFill>
                  <a:srgbClr val="1E2733"/>
                </a:solidFill>
                <a:latin typeface="Calibri"/>
              </a:rPr>
              <a:t>demand driven replenishment</a:t>
            </a:r>
          </a:p>
          <a:p>
            <a:pPr>
              <a:spcBef>
                <a:spcPts val="800"/>
              </a:spcBef>
            </a:pPr>
            <a:r>
              <a:rPr sz="1050" b="1">
                <a:solidFill>
                  <a:srgbClr val="0F9D8C"/>
                </a:solidFill>
                <a:latin typeface="Calibri"/>
              </a:rPr>
              <a:t>RESPONSE · ORDER-BASED</a:t>
            </a:r>
          </a:p>
          <a:p>
            <a:r>
              <a:rPr sz="1050">
                <a:solidFill>
                  <a:srgbClr val="1E2733"/>
                </a:solidFill>
                <a:latin typeface="Calibri"/>
              </a:rPr>
              <a:t>response planning</a:t>
            </a:r>
          </a:p>
          <a:p>
            <a:pPr>
              <a:spcBef>
                <a:spcPts val="800"/>
              </a:spcBef>
            </a:pPr>
            <a:r>
              <a:rPr sz="1050" b="1">
                <a:solidFill>
                  <a:srgbClr val="0F9D8C"/>
                </a:solidFill>
                <a:latin typeface="Calibri"/>
              </a:rPr>
              <a:t>SYNCHRONIZED PLANNING</a:t>
            </a:r>
          </a:p>
          <a:p>
            <a:r>
              <a:rPr sz="1050">
                <a:solidFill>
                  <a:srgbClr val="1E2733"/>
                </a:solidFill>
                <a:latin typeface="Calibri"/>
              </a:rPr>
              <a:t>synchronized planning</a:t>
            </a:r>
          </a:p>
          <a:p>
            <a:pPr>
              <a:spcBef>
                <a:spcPts val="800"/>
              </a:spcBef>
            </a:pPr>
            <a:r>
              <a:rPr sz="1050" b="1">
                <a:solidFill>
                  <a:srgbClr val="0F9D8C"/>
                </a:solidFill>
                <a:latin typeface="Calibri"/>
              </a:rPr>
              <a:t>SUPPLY · RISK</a:t>
            </a:r>
          </a:p>
          <a:p>
            <a:r>
              <a:rPr sz="1050">
                <a:solidFill>
                  <a:srgbClr val="1E2733"/>
                </a:solidFill>
                <a:latin typeface="Calibri"/>
              </a:rPr>
              <a:t>disruption response</a:t>
            </a:r>
          </a:p>
          <a:p>
            <a:pPr>
              <a:spcBef>
                <a:spcPts val="800"/>
              </a:spcBef>
            </a:pPr>
            <a:r>
              <a:rPr sz="1050" b="1">
                <a:solidFill>
                  <a:srgbClr val="0F9D8C"/>
                </a:solidFill>
                <a:latin typeface="Calibri"/>
              </a:rPr>
              <a:t>CONTROL TOWER</a:t>
            </a:r>
          </a:p>
          <a:p>
            <a:r>
              <a:rPr sz="1050">
                <a:solidFill>
                  <a:srgbClr val="1E2733"/>
                </a:solidFill>
                <a:latin typeface="Calibri"/>
              </a:rPr>
              <a:t>control tower alerts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6748272"/>
            <a:ext cx="1828800" cy="91440"/>
          </a:xfrm>
          <a:prstGeom prst="rect">
            <a:avLst/>
          </a:prstGeom>
          <a:noFill/>
        </p:spPr>
        <p:txBody>
          <a:bodyPr wrap="square" anchor="t" lIns="0" rIns="0" tIns="0" bIns="0">
            <a:spAutoFit/>
          </a:bodyPr>
          <a:lstStyle/>
          <a:p>
            <a:pPr algn="l">
              <a:spcBef>
                <a:spcPts val="0"/>
              </a:spcBef>
              <a:spcAft>
                <a:spcPts val="0"/>
              </a:spcAft>
            </a:pPr>
            <a:r>
              <a:rPr sz="100" b="0">
                <a:solidFill>
                  <a:srgbClr val="0B0E14"/>
                </a:solidFill>
                <a:latin typeface="Calibri"/>
              </a:rPr>
              <a:t>UNAI-ARCH-ANALOGY-V1</a:t>
            </a:r>
          </a:p>
        </p:txBody>
      </p:sp>
      <p:sp>
        <p:nvSpPr>
          <p:cNvPr id="4" name="TextBox 3"/>
          <p:cNvSpPr txBox="1"/>
          <p:nvPr/>
        </p:nvSpPr>
        <p:spPr>
          <a:xfrm>
            <a:off x="384057" y="274320"/>
            <a:ext cx="11423884" cy="548640"/>
          </a:xfrm>
          <a:prstGeom prst="rect">
            <a:avLst/>
          </a:prstGeom>
          <a:noFill/>
        </p:spPr>
        <p:txBody>
          <a:bodyPr wrap="square" anchor="t" lIns="0" rIns="0" tIns="0" bIns="0">
            <a:spAutoFit/>
          </a:bodyPr>
          <a:lstStyle/>
          <a:p>
            <a:pPr algn="l">
              <a:spcBef>
                <a:spcPts val="0"/>
              </a:spcBef>
              <a:spcAft>
                <a:spcPts val="0"/>
              </a:spcAft>
            </a:pPr>
            <a:r>
              <a:rPr sz="3000" b="1">
                <a:solidFill>
                  <a:srgbClr val="FFFFFF"/>
                </a:solidFill>
                <a:latin typeface="Calibri"/>
              </a:rPr>
              <a:t>Architecture Analogy</a:t>
            </a:r>
          </a:p>
        </p:txBody>
      </p:sp>
      <p:sp>
        <p:nvSpPr>
          <p:cNvPr id="5" name="TextBox 4"/>
          <p:cNvSpPr txBox="1"/>
          <p:nvPr/>
        </p:nvSpPr>
        <p:spPr>
          <a:xfrm>
            <a:off x="384057" y="786384"/>
            <a:ext cx="11423884" cy="365760"/>
          </a:xfrm>
          <a:prstGeom prst="rect">
            <a:avLst/>
          </a:prstGeom>
          <a:noFill/>
        </p:spPr>
        <p:txBody>
          <a:bodyPr wrap="square" anchor="t" lIns="0" rIns="0" tIns="0" bIns="0">
            <a:spAutoFit/>
          </a:bodyPr>
          <a:lstStyle/>
          <a:p>
            <a:pPr algn="l">
              <a:spcBef>
                <a:spcPts val="0"/>
              </a:spcBef>
              <a:spcAft>
                <a:spcPts val="0"/>
              </a:spcAft>
            </a:pPr>
            <a:r>
              <a:rPr sz="1250" b="0">
                <a:solidFill>
                  <a:srgbClr val="8A97B8"/>
                </a:solidFill>
                <a:latin typeface="Calibri"/>
              </a:rPr>
              <a:t>12 agents (each rebuilds every cognitive task) vs 1 UNAI runtime (built once, 12 capability packs)</a:t>
            </a:r>
          </a:p>
        </p:txBody>
      </p:sp>
      <p:sp>
        <p:nvSpPr>
          <p:cNvPr id="6" name="Rounded Rectangle 5"/>
          <p:cNvSpPr/>
          <p:nvPr/>
        </p:nvSpPr>
        <p:spPr>
          <a:xfrm>
            <a:off x="384057" y="1298448"/>
            <a:ext cx="5574782" cy="4261104"/>
          </a:xfrm>
          <a:prstGeom prst="roundRect">
            <a:avLst>
              <a:gd name="adj" fmla="val 4500"/>
            </a:avLst>
          </a:prstGeom>
          <a:solidFill>
            <a:srgbClr val="12161F"/>
          </a:solidFill>
          <a:ln w="1587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25" y="1444751"/>
            <a:ext cx="5172446" cy="365760"/>
          </a:xfrm>
          <a:prstGeom prst="rect">
            <a:avLst/>
          </a:prstGeom>
          <a:noFill/>
        </p:spPr>
        <p:txBody>
          <a:bodyPr wrap="square" anchor="t" lIns="0" rIns="0" tIns="0" bIns="0">
            <a:spAutoFit/>
          </a:bodyPr>
          <a:lstStyle/>
          <a:p>
            <a:pPr algn="l">
              <a:spcBef>
                <a:spcPts val="0"/>
              </a:spcBef>
              <a:spcAft>
                <a:spcPts val="0"/>
              </a:spcAft>
            </a:pPr>
            <a:r>
              <a:rPr sz="1300" b="1">
                <a:solidFill>
                  <a:srgbClr val="FF6B6B"/>
                </a:solidFill>
                <a:latin typeface="Calibri"/>
              </a:rPr>
              <a:t>🚚  </a:t>
            </a:r>
            <a:r>
              <a:rPr sz="1500" b="1">
                <a:solidFill>
                  <a:srgbClr val="FFFFFF"/>
                </a:solidFill>
                <a:latin typeface="Calibri"/>
              </a:rPr>
              <a:t>Traditional: 12 Agents</a:t>
            </a:r>
          </a:p>
        </p:txBody>
      </p:sp>
      <p:sp>
        <p:nvSpPr>
          <p:cNvPr id="8" name="TextBox 7"/>
          <p:cNvSpPr txBox="1"/>
          <p:nvPr/>
        </p:nvSpPr>
        <p:spPr>
          <a:xfrm>
            <a:off x="585225" y="1773936"/>
            <a:ext cx="5172446" cy="310896"/>
          </a:xfrm>
          <a:prstGeom prst="rect">
            <a:avLst/>
          </a:prstGeom>
          <a:noFill/>
        </p:spPr>
        <p:txBody>
          <a:bodyPr wrap="square" anchor="t" lIns="0" rIns="0" tIns="0" bIns="0">
            <a:spAutoFit/>
          </a:bodyPr>
          <a:lstStyle/>
          <a:p>
            <a:pPr algn="l">
              <a:lnSpc>
                <a:spcPct val="100000"/>
              </a:lnSpc>
              <a:spcBef>
                <a:spcPts val="0"/>
              </a:spcBef>
              <a:spcAft>
                <a:spcPts val="0"/>
              </a:spcAft>
            </a:pPr>
            <a:r>
              <a:rPr sz="1050" b="0">
                <a:solidFill>
                  <a:srgbClr val="8A97B8"/>
                </a:solidFill>
                <a:latin typeface="Calibri"/>
              </a:rPr>
              <a:t>Each agent independently sources, preps, seasons, and tastes — full cognitive overhead, every time.</a:t>
            </a:r>
          </a:p>
        </p:txBody>
      </p:sp>
      <p:sp>
        <p:nvSpPr>
          <p:cNvPr id="9" name="Rounded Rectangle 8"/>
          <p:cNvSpPr/>
          <p:nvPr/>
        </p:nvSpPr>
        <p:spPr>
          <a:xfrm>
            <a:off x="585225" y="2231136"/>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25" y="2267712"/>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Taco</a:t>
            </a:r>
          </a:p>
        </p:txBody>
      </p:sp>
      <p:sp>
        <p:nvSpPr>
          <p:cNvPr id="11" name="Rounded Rectangle 10"/>
          <p:cNvSpPr/>
          <p:nvPr/>
        </p:nvSpPr>
        <p:spPr>
          <a:xfrm>
            <a:off x="1903483" y="2231136"/>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3483" y="2267712"/>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Burger</a:t>
            </a:r>
          </a:p>
        </p:txBody>
      </p:sp>
      <p:sp>
        <p:nvSpPr>
          <p:cNvPr id="13" name="Rounded Rectangle 12"/>
          <p:cNvSpPr/>
          <p:nvPr/>
        </p:nvSpPr>
        <p:spPr>
          <a:xfrm>
            <a:off x="3221740" y="2231136"/>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1740" y="2267712"/>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Pizza</a:t>
            </a:r>
          </a:p>
        </p:txBody>
      </p:sp>
      <p:sp>
        <p:nvSpPr>
          <p:cNvPr id="15" name="Rounded Rectangle 14"/>
          <p:cNvSpPr/>
          <p:nvPr/>
        </p:nvSpPr>
        <p:spPr>
          <a:xfrm>
            <a:off x="4539998" y="2231136"/>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9998" y="2267712"/>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Sushi</a:t>
            </a:r>
          </a:p>
        </p:txBody>
      </p:sp>
      <p:sp>
        <p:nvSpPr>
          <p:cNvPr id="17" name="Rounded Rectangle 16"/>
          <p:cNvSpPr/>
          <p:nvPr/>
        </p:nvSpPr>
        <p:spPr>
          <a:xfrm>
            <a:off x="585225" y="3215640"/>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25" y="3252216"/>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BBQ</a:t>
            </a:r>
          </a:p>
        </p:txBody>
      </p:sp>
      <p:sp>
        <p:nvSpPr>
          <p:cNvPr id="19" name="Rounded Rectangle 18"/>
          <p:cNvSpPr/>
          <p:nvPr/>
        </p:nvSpPr>
        <p:spPr>
          <a:xfrm>
            <a:off x="1903483" y="3215640"/>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3483" y="3252216"/>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Crepe</a:t>
            </a:r>
          </a:p>
        </p:txBody>
      </p:sp>
      <p:sp>
        <p:nvSpPr>
          <p:cNvPr id="21" name="Rounded Rectangle 20"/>
          <p:cNvSpPr/>
          <p:nvPr/>
        </p:nvSpPr>
        <p:spPr>
          <a:xfrm>
            <a:off x="3221740" y="3215640"/>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740" y="3252216"/>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Waffle</a:t>
            </a:r>
          </a:p>
        </p:txBody>
      </p:sp>
      <p:sp>
        <p:nvSpPr>
          <p:cNvPr id="23" name="Rounded Rectangle 22"/>
          <p:cNvSpPr/>
          <p:nvPr/>
        </p:nvSpPr>
        <p:spPr>
          <a:xfrm>
            <a:off x="4539998" y="3215640"/>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9998" y="3252216"/>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Noodle</a:t>
            </a:r>
          </a:p>
        </p:txBody>
      </p:sp>
      <p:sp>
        <p:nvSpPr>
          <p:cNvPr id="25" name="Rounded Rectangle 24"/>
          <p:cNvSpPr/>
          <p:nvPr/>
        </p:nvSpPr>
        <p:spPr>
          <a:xfrm>
            <a:off x="585225" y="4200144"/>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25" y="4236720"/>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Sandwich</a:t>
            </a:r>
          </a:p>
        </p:txBody>
      </p:sp>
      <p:sp>
        <p:nvSpPr>
          <p:cNvPr id="27" name="Rounded Rectangle 26"/>
          <p:cNvSpPr/>
          <p:nvPr/>
        </p:nvSpPr>
        <p:spPr>
          <a:xfrm>
            <a:off x="1903483" y="4200144"/>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03483" y="4236720"/>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Dumpling</a:t>
            </a:r>
          </a:p>
        </p:txBody>
      </p:sp>
      <p:sp>
        <p:nvSpPr>
          <p:cNvPr id="29" name="Rounded Rectangle 28"/>
          <p:cNvSpPr/>
          <p:nvPr/>
        </p:nvSpPr>
        <p:spPr>
          <a:xfrm>
            <a:off x="3221740" y="4200144"/>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21740" y="4236720"/>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Salad</a:t>
            </a:r>
          </a:p>
        </p:txBody>
      </p:sp>
      <p:sp>
        <p:nvSpPr>
          <p:cNvPr id="31" name="Rounded Rectangle 30"/>
          <p:cNvSpPr/>
          <p:nvPr/>
        </p:nvSpPr>
        <p:spPr>
          <a:xfrm>
            <a:off x="4539998" y="4200144"/>
            <a:ext cx="1217673" cy="883920"/>
          </a:xfrm>
          <a:prstGeom prst="roundRect">
            <a:avLst>
              <a:gd name="adj" fmla="val 14000"/>
            </a:avLst>
          </a:prstGeom>
          <a:solidFill>
            <a:srgbClr val="1A202C"/>
          </a:solidFill>
          <a:ln w="952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39998" y="4236720"/>
            <a:ext cx="1217673" cy="847344"/>
          </a:xfrm>
          <a:prstGeom prst="rect">
            <a:avLst/>
          </a:prstGeom>
          <a:noFill/>
        </p:spPr>
        <p:txBody>
          <a:bodyPr wrap="square" anchor="ctr" lIns="0" rIns="0" tIns="0" bIns="0">
            <a:spAutoFit/>
          </a:bodyPr>
          <a:lstStyle/>
          <a:p>
            <a:pPr algn="ctr">
              <a:lnSpc>
                <a:spcPct val="90000"/>
              </a:lnSpc>
              <a:spcBef>
                <a:spcPts val="0"/>
              </a:spcBef>
              <a:spcAft>
                <a:spcPts val="0"/>
              </a:spcAft>
            </a:pPr>
            <a:r>
              <a:rPr sz="2000" b="0">
                <a:solidFill>
                  <a:srgbClr val="FFFFFF"/>
                </a:solidFill>
                <a:latin typeface="Calibri"/>
              </a:rPr>
              <a:t>🥤</a:t>
            </a:r>
          </a:p>
          <a:p>
            <a:pPr algn="ctr">
              <a:lnSpc>
                <a:spcPct val="90000"/>
              </a:lnSpc>
              <a:spcBef>
                <a:spcPts val="0"/>
              </a:spcBef>
              <a:spcAft>
                <a:spcPts val="0"/>
              </a:spcAft>
            </a:pPr>
            <a:r>
              <a:rPr sz="1050" b="0">
                <a:solidFill>
                  <a:srgbClr val="FF6B6B"/>
                </a:solidFill>
                <a:latin typeface="Calibri"/>
              </a:rPr>
              <a:t>Smoothie</a:t>
            </a:r>
          </a:p>
        </p:txBody>
      </p:sp>
      <p:sp>
        <p:nvSpPr>
          <p:cNvPr id="33" name="TextBox 32"/>
          <p:cNvSpPr txBox="1"/>
          <p:nvPr/>
        </p:nvSpPr>
        <p:spPr>
          <a:xfrm>
            <a:off x="585225" y="5175504"/>
            <a:ext cx="5172446" cy="310896"/>
          </a:xfrm>
          <a:prstGeom prst="rect">
            <a:avLst/>
          </a:prstGeom>
          <a:noFill/>
        </p:spPr>
        <p:txBody>
          <a:bodyPr wrap="square" anchor="t" lIns="0" rIns="0" tIns="0" bIns="0">
            <a:spAutoFit/>
          </a:bodyPr>
          <a:lstStyle/>
          <a:p>
            <a:pPr algn="ctr">
              <a:spcBef>
                <a:spcPts val="0"/>
              </a:spcBef>
              <a:spcAft>
                <a:spcPts val="0"/>
              </a:spcAft>
            </a:pPr>
            <a:r>
              <a:rPr sz="1300" b="1">
                <a:solidFill>
                  <a:srgbClr val="FF6B6B"/>
                </a:solidFill>
                <a:latin typeface="Calibri"/>
              </a:rPr>
              <a:t>48 tasks</a:t>
            </a:r>
            <a:r>
              <a:rPr sz="1150" b="0">
                <a:solidFill>
                  <a:srgbClr val="8A97B8"/>
                </a:solidFill>
                <a:latin typeface="Calibri"/>
              </a:rPr>
              <a:t>  = 12 agents × 4 cognitive tasks each</a:t>
            </a:r>
          </a:p>
        </p:txBody>
      </p:sp>
      <p:sp>
        <p:nvSpPr>
          <p:cNvPr id="34" name="Rounded Rectangle 33"/>
          <p:cNvSpPr/>
          <p:nvPr/>
        </p:nvSpPr>
        <p:spPr>
          <a:xfrm>
            <a:off x="6233160" y="1298448"/>
            <a:ext cx="5574782" cy="4261104"/>
          </a:xfrm>
          <a:prstGeom prst="roundRect">
            <a:avLst>
              <a:gd name="adj" fmla="val 4500"/>
            </a:avLst>
          </a:prstGeom>
          <a:solidFill>
            <a:srgbClr val="12161F"/>
          </a:solidFill>
          <a:ln w="1587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4328" y="1444751"/>
            <a:ext cx="5172446" cy="365760"/>
          </a:xfrm>
          <a:prstGeom prst="rect">
            <a:avLst/>
          </a:prstGeom>
          <a:noFill/>
        </p:spPr>
        <p:txBody>
          <a:bodyPr wrap="square" anchor="t" lIns="0" rIns="0" tIns="0" bIns="0">
            <a:spAutoFit/>
          </a:bodyPr>
          <a:lstStyle/>
          <a:p>
            <a:pPr algn="l">
              <a:spcBef>
                <a:spcPts val="0"/>
              </a:spcBef>
              <a:spcAft>
                <a:spcPts val="0"/>
              </a:spcAft>
            </a:pPr>
            <a:r>
              <a:rPr sz="1300" b="1">
                <a:solidFill>
                  <a:srgbClr val="22D3AA"/>
                </a:solidFill>
                <a:latin typeface="Calibri"/>
              </a:rPr>
              <a:t>🍽️  </a:t>
            </a:r>
            <a:r>
              <a:rPr sz="1500" b="1">
                <a:solidFill>
                  <a:srgbClr val="FFFFFF"/>
                </a:solidFill>
                <a:latin typeface="Calibri"/>
              </a:rPr>
              <a:t>UNAI: 1 Shared Runtime + 12 Packs</a:t>
            </a:r>
          </a:p>
        </p:txBody>
      </p:sp>
      <p:sp>
        <p:nvSpPr>
          <p:cNvPr id="36" name="TextBox 35"/>
          <p:cNvSpPr txBox="1"/>
          <p:nvPr/>
        </p:nvSpPr>
        <p:spPr>
          <a:xfrm>
            <a:off x="6434328" y="1773936"/>
            <a:ext cx="5172446" cy="310896"/>
          </a:xfrm>
          <a:prstGeom prst="rect">
            <a:avLst/>
          </a:prstGeom>
          <a:noFill/>
        </p:spPr>
        <p:txBody>
          <a:bodyPr wrap="square" anchor="t" lIns="0" rIns="0" tIns="0" bIns="0">
            <a:spAutoFit/>
          </a:bodyPr>
          <a:lstStyle/>
          <a:p>
            <a:pPr algn="l">
              <a:lnSpc>
                <a:spcPct val="100000"/>
              </a:lnSpc>
              <a:spcBef>
                <a:spcPts val="0"/>
              </a:spcBef>
              <a:spcAft>
                <a:spcPts val="0"/>
              </a:spcAft>
            </a:pPr>
            <a:r>
              <a:rPr sz="1050" b="0">
                <a:solidFill>
                  <a:srgbClr val="8A97B8"/>
                </a:solidFill>
                <a:latin typeface="Calibri"/>
              </a:rPr>
              <a:t>Runtime runs all cognitive tasks ONCE, then sends ready results to 12 capability packs.</a:t>
            </a:r>
          </a:p>
        </p:txBody>
      </p:sp>
      <p:sp>
        <p:nvSpPr>
          <p:cNvPr id="37" name="Rounded Rectangle 36"/>
          <p:cNvSpPr/>
          <p:nvPr/>
        </p:nvSpPr>
        <p:spPr>
          <a:xfrm>
            <a:off x="7831831" y="2194560"/>
            <a:ext cx="2377440" cy="365760"/>
          </a:xfrm>
          <a:prstGeom prst="roundRect">
            <a:avLst>
              <a:gd name="adj" fmla="val 50000"/>
            </a:avLst>
          </a:prstGeom>
          <a:solidFill>
            <a:srgbClr val="1A202C"/>
          </a:solidFill>
          <a:ln w="12700">
            <a:solidFill>
              <a:srgbClr val="22D3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31831" y="2194560"/>
            <a:ext cx="2377440" cy="365760"/>
          </a:xfrm>
          <a:prstGeom prst="rect">
            <a:avLst/>
          </a:prstGeom>
          <a:noFill/>
        </p:spPr>
        <p:txBody>
          <a:bodyPr wrap="square" anchor="ctr" lIns="0" rIns="0" tIns="0" bIns="0">
            <a:spAutoFit/>
          </a:bodyPr>
          <a:lstStyle/>
          <a:p>
            <a:pPr algn="ctr">
              <a:spcBef>
                <a:spcPts val="0"/>
              </a:spcBef>
              <a:spcAft>
                <a:spcPts val="0"/>
              </a:spcAft>
            </a:pPr>
            <a:r>
              <a:rPr sz="1100" b="1">
                <a:solidFill>
                  <a:srgbClr val="22D3AA"/>
                </a:solidFill>
                <a:latin typeface="Calibri"/>
              </a:rPr>
              <a:t>🔍  UNAI · shared runtime</a:t>
            </a:r>
          </a:p>
        </p:txBody>
      </p:sp>
      <p:sp>
        <p:nvSpPr>
          <p:cNvPr id="39" name="Rounded Rectangle 38"/>
          <p:cNvSpPr/>
          <p:nvPr/>
        </p:nvSpPr>
        <p:spPr>
          <a:xfrm>
            <a:off x="6434328" y="2651760"/>
            <a:ext cx="1087371" cy="347472"/>
          </a:xfrm>
          <a:prstGeom prst="roundRect">
            <a:avLst>
              <a:gd name="adj" fmla="val 16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4328" y="2651760"/>
            <a:ext cx="1087371" cy="347472"/>
          </a:xfrm>
          <a:prstGeom prst="rect">
            <a:avLst/>
          </a:prstGeom>
          <a:noFill/>
        </p:spPr>
        <p:txBody>
          <a:bodyPr wrap="square" anchor="ctr" lIns="0" rIns="0" tIns="0" bIns="0">
            <a:spAutoFit/>
          </a:bodyPr>
          <a:lstStyle/>
          <a:p>
            <a:pPr algn="ctr">
              <a:spcBef>
                <a:spcPts val="0"/>
              </a:spcBef>
              <a:spcAft>
                <a:spcPts val="0"/>
              </a:spcAft>
            </a:pPr>
            <a:r>
              <a:rPr sz="950" b="0">
                <a:solidFill>
                  <a:srgbClr val="22D3AA"/>
                </a:solidFill>
                <a:latin typeface="Calibri"/>
              </a:rPr>
              <a:t>🛒 Source</a:t>
            </a:r>
          </a:p>
        </p:txBody>
      </p:sp>
      <p:sp>
        <p:nvSpPr>
          <p:cNvPr id="41" name="Rounded Rectangle 40"/>
          <p:cNvSpPr/>
          <p:nvPr/>
        </p:nvSpPr>
        <p:spPr>
          <a:xfrm>
            <a:off x="7796019" y="2651760"/>
            <a:ext cx="1087371" cy="347472"/>
          </a:xfrm>
          <a:prstGeom prst="roundRect">
            <a:avLst>
              <a:gd name="adj" fmla="val 16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96019" y="2651760"/>
            <a:ext cx="1087371" cy="347472"/>
          </a:xfrm>
          <a:prstGeom prst="rect">
            <a:avLst/>
          </a:prstGeom>
          <a:noFill/>
        </p:spPr>
        <p:txBody>
          <a:bodyPr wrap="square" anchor="ctr" lIns="0" rIns="0" tIns="0" bIns="0">
            <a:spAutoFit/>
          </a:bodyPr>
          <a:lstStyle/>
          <a:p>
            <a:pPr algn="ctr">
              <a:spcBef>
                <a:spcPts val="0"/>
              </a:spcBef>
              <a:spcAft>
                <a:spcPts val="0"/>
              </a:spcAft>
            </a:pPr>
            <a:r>
              <a:rPr sz="950" b="0">
                <a:solidFill>
                  <a:srgbClr val="22D3AA"/>
                </a:solidFill>
                <a:latin typeface="Calibri"/>
              </a:rPr>
              <a:t>🔪 Prep</a:t>
            </a:r>
          </a:p>
        </p:txBody>
      </p:sp>
      <p:sp>
        <p:nvSpPr>
          <p:cNvPr id="43" name="Rounded Rectangle 42"/>
          <p:cNvSpPr/>
          <p:nvPr/>
        </p:nvSpPr>
        <p:spPr>
          <a:xfrm>
            <a:off x="9157711" y="2651760"/>
            <a:ext cx="1087371" cy="347472"/>
          </a:xfrm>
          <a:prstGeom prst="roundRect">
            <a:avLst>
              <a:gd name="adj" fmla="val 16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57711" y="2651760"/>
            <a:ext cx="1087371" cy="347472"/>
          </a:xfrm>
          <a:prstGeom prst="rect">
            <a:avLst/>
          </a:prstGeom>
          <a:noFill/>
        </p:spPr>
        <p:txBody>
          <a:bodyPr wrap="square" anchor="ctr" lIns="0" rIns="0" tIns="0" bIns="0">
            <a:spAutoFit/>
          </a:bodyPr>
          <a:lstStyle/>
          <a:p>
            <a:pPr algn="ctr">
              <a:spcBef>
                <a:spcPts val="0"/>
              </a:spcBef>
              <a:spcAft>
                <a:spcPts val="0"/>
              </a:spcAft>
            </a:pPr>
            <a:r>
              <a:rPr sz="950" b="0">
                <a:solidFill>
                  <a:srgbClr val="22D3AA"/>
                </a:solidFill>
                <a:latin typeface="Calibri"/>
              </a:rPr>
              <a:t>🧂 Season</a:t>
            </a:r>
          </a:p>
        </p:txBody>
      </p:sp>
      <p:sp>
        <p:nvSpPr>
          <p:cNvPr id="45" name="Rounded Rectangle 44"/>
          <p:cNvSpPr/>
          <p:nvPr/>
        </p:nvSpPr>
        <p:spPr>
          <a:xfrm>
            <a:off x="10519402" y="2651760"/>
            <a:ext cx="1087371" cy="347472"/>
          </a:xfrm>
          <a:prstGeom prst="roundRect">
            <a:avLst>
              <a:gd name="adj" fmla="val 16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9402" y="2651760"/>
            <a:ext cx="1087371" cy="347472"/>
          </a:xfrm>
          <a:prstGeom prst="rect">
            <a:avLst/>
          </a:prstGeom>
          <a:noFill/>
        </p:spPr>
        <p:txBody>
          <a:bodyPr wrap="square" anchor="ctr" lIns="0" rIns="0" tIns="0" bIns="0">
            <a:spAutoFit/>
          </a:bodyPr>
          <a:lstStyle/>
          <a:p>
            <a:pPr algn="ctr">
              <a:spcBef>
                <a:spcPts val="0"/>
              </a:spcBef>
              <a:spcAft>
                <a:spcPts val="0"/>
              </a:spcAft>
            </a:pPr>
            <a:r>
              <a:rPr sz="950" b="0">
                <a:solidFill>
                  <a:srgbClr val="22D3AA"/>
                </a:solidFill>
                <a:latin typeface="Calibri"/>
              </a:rPr>
              <a:t>👅 Taste</a:t>
            </a:r>
          </a:p>
        </p:txBody>
      </p:sp>
      <p:sp>
        <p:nvSpPr>
          <p:cNvPr id="47" name="Rounded Rectangle 46"/>
          <p:cNvSpPr/>
          <p:nvPr/>
        </p:nvSpPr>
        <p:spPr>
          <a:xfrm>
            <a:off x="6434328" y="3145536"/>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34328" y="3182112"/>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Taco</a:t>
            </a:r>
          </a:p>
        </p:txBody>
      </p:sp>
      <p:sp>
        <p:nvSpPr>
          <p:cNvPr id="49" name="Rounded Rectangle 48"/>
          <p:cNvSpPr/>
          <p:nvPr/>
        </p:nvSpPr>
        <p:spPr>
          <a:xfrm>
            <a:off x="7752585" y="3145536"/>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52585" y="3182112"/>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Burger</a:t>
            </a:r>
          </a:p>
        </p:txBody>
      </p:sp>
      <p:sp>
        <p:nvSpPr>
          <p:cNvPr id="51" name="Rounded Rectangle 50"/>
          <p:cNvSpPr/>
          <p:nvPr/>
        </p:nvSpPr>
        <p:spPr>
          <a:xfrm>
            <a:off x="9070843" y="3145536"/>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70843" y="3182112"/>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Pizza</a:t>
            </a:r>
          </a:p>
        </p:txBody>
      </p:sp>
      <p:sp>
        <p:nvSpPr>
          <p:cNvPr id="53" name="Rounded Rectangle 52"/>
          <p:cNvSpPr/>
          <p:nvPr/>
        </p:nvSpPr>
        <p:spPr>
          <a:xfrm>
            <a:off x="10389100" y="3145536"/>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89100" y="3182112"/>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Sushi</a:t>
            </a:r>
          </a:p>
        </p:txBody>
      </p:sp>
      <p:sp>
        <p:nvSpPr>
          <p:cNvPr id="55" name="Rounded Rectangle 54"/>
          <p:cNvSpPr/>
          <p:nvPr/>
        </p:nvSpPr>
        <p:spPr>
          <a:xfrm>
            <a:off x="6434328" y="3825240"/>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34328" y="3861816"/>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BBQ</a:t>
            </a:r>
          </a:p>
        </p:txBody>
      </p:sp>
      <p:sp>
        <p:nvSpPr>
          <p:cNvPr id="57" name="Rounded Rectangle 56"/>
          <p:cNvSpPr/>
          <p:nvPr/>
        </p:nvSpPr>
        <p:spPr>
          <a:xfrm>
            <a:off x="7752585" y="3825240"/>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52585" y="3861816"/>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Crepe</a:t>
            </a:r>
          </a:p>
        </p:txBody>
      </p:sp>
      <p:sp>
        <p:nvSpPr>
          <p:cNvPr id="59" name="Rounded Rectangle 58"/>
          <p:cNvSpPr/>
          <p:nvPr/>
        </p:nvSpPr>
        <p:spPr>
          <a:xfrm>
            <a:off x="9070843" y="3825240"/>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70843" y="3861816"/>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Waffle</a:t>
            </a:r>
          </a:p>
        </p:txBody>
      </p:sp>
      <p:sp>
        <p:nvSpPr>
          <p:cNvPr id="61" name="Rounded Rectangle 60"/>
          <p:cNvSpPr/>
          <p:nvPr/>
        </p:nvSpPr>
        <p:spPr>
          <a:xfrm>
            <a:off x="10389100" y="3825240"/>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389100" y="3861816"/>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Noodle</a:t>
            </a:r>
          </a:p>
        </p:txBody>
      </p:sp>
      <p:sp>
        <p:nvSpPr>
          <p:cNvPr id="63" name="Rounded Rectangle 62"/>
          <p:cNvSpPr/>
          <p:nvPr/>
        </p:nvSpPr>
        <p:spPr>
          <a:xfrm>
            <a:off x="6434328" y="4504944"/>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34328" y="4541520"/>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Sandwich</a:t>
            </a:r>
          </a:p>
        </p:txBody>
      </p:sp>
      <p:sp>
        <p:nvSpPr>
          <p:cNvPr id="65" name="Rounded Rectangle 64"/>
          <p:cNvSpPr/>
          <p:nvPr/>
        </p:nvSpPr>
        <p:spPr>
          <a:xfrm>
            <a:off x="7752585" y="4504944"/>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52585" y="4541520"/>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Dumpling</a:t>
            </a:r>
          </a:p>
        </p:txBody>
      </p:sp>
      <p:sp>
        <p:nvSpPr>
          <p:cNvPr id="67" name="Rounded Rectangle 66"/>
          <p:cNvSpPr/>
          <p:nvPr/>
        </p:nvSpPr>
        <p:spPr>
          <a:xfrm>
            <a:off x="9070843" y="4504944"/>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70843" y="4541520"/>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Salad</a:t>
            </a:r>
          </a:p>
        </p:txBody>
      </p:sp>
      <p:sp>
        <p:nvSpPr>
          <p:cNvPr id="69" name="Rounded Rectangle 68"/>
          <p:cNvSpPr/>
          <p:nvPr/>
        </p:nvSpPr>
        <p:spPr>
          <a:xfrm>
            <a:off x="10389100" y="4504944"/>
            <a:ext cx="1217673" cy="579120"/>
          </a:xfrm>
          <a:prstGeom prst="roundRect">
            <a:avLst>
              <a:gd name="adj" fmla="val 14000"/>
            </a:avLst>
          </a:prstGeom>
          <a:solidFill>
            <a:srgbClr val="1A202C"/>
          </a:solidFill>
          <a:ln w="952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389100" y="4541520"/>
            <a:ext cx="1217673" cy="542544"/>
          </a:xfrm>
          <a:prstGeom prst="rect">
            <a:avLst/>
          </a:prstGeom>
          <a:noFill/>
        </p:spPr>
        <p:txBody>
          <a:bodyPr wrap="square" anchor="ctr" lIns="0" rIns="0" tIns="0" bIns="0">
            <a:spAutoFit/>
          </a:bodyPr>
          <a:lstStyle/>
          <a:p>
            <a:pPr algn="ctr">
              <a:lnSpc>
                <a:spcPct val="90000"/>
              </a:lnSpc>
              <a:spcBef>
                <a:spcPts val="0"/>
              </a:spcBef>
              <a:spcAft>
                <a:spcPts val="0"/>
              </a:spcAft>
            </a:pPr>
            <a:r>
              <a:rPr sz="1393" b="0">
                <a:solidFill>
                  <a:srgbClr val="FFFFFF"/>
                </a:solidFill>
                <a:latin typeface="Calibri"/>
              </a:rPr>
              <a:t>🥤</a:t>
            </a:r>
          </a:p>
          <a:p>
            <a:pPr algn="ctr">
              <a:lnSpc>
                <a:spcPct val="90000"/>
              </a:lnSpc>
              <a:spcBef>
                <a:spcPts val="0"/>
              </a:spcBef>
              <a:spcAft>
                <a:spcPts val="0"/>
              </a:spcAft>
            </a:pPr>
            <a:r>
              <a:rPr sz="696" b="0">
                <a:solidFill>
                  <a:srgbClr val="22D3AA"/>
                </a:solidFill>
                <a:latin typeface="Calibri"/>
              </a:rPr>
              <a:t>Smoothie</a:t>
            </a:r>
          </a:p>
        </p:txBody>
      </p:sp>
      <p:sp>
        <p:nvSpPr>
          <p:cNvPr id="71" name="TextBox 70"/>
          <p:cNvSpPr txBox="1"/>
          <p:nvPr/>
        </p:nvSpPr>
        <p:spPr>
          <a:xfrm>
            <a:off x="6434328" y="5175504"/>
            <a:ext cx="5172446" cy="310896"/>
          </a:xfrm>
          <a:prstGeom prst="rect">
            <a:avLst/>
          </a:prstGeom>
          <a:noFill/>
        </p:spPr>
        <p:txBody>
          <a:bodyPr wrap="square" anchor="t" lIns="0" rIns="0" tIns="0" bIns="0">
            <a:spAutoFit/>
          </a:bodyPr>
          <a:lstStyle/>
          <a:p>
            <a:pPr algn="ctr">
              <a:spcBef>
                <a:spcPts val="0"/>
              </a:spcBef>
              <a:spcAft>
                <a:spcPts val="0"/>
              </a:spcAft>
            </a:pPr>
            <a:r>
              <a:rPr sz="1300" b="1">
                <a:solidFill>
                  <a:srgbClr val="22D3AA"/>
                </a:solidFill>
                <a:latin typeface="Calibri"/>
              </a:rPr>
              <a:t>16 tasks</a:t>
            </a:r>
            <a:r>
              <a:rPr sz="1150" b="0">
                <a:solidFill>
                  <a:srgbClr val="8A97B8"/>
                </a:solidFill>
                <a:latin typeface="Calibri"/>
              </a:rPr>
              <a:t>  = 4 shared tasks + 12 pack calls</a:t>
            </a:r>
          </a:p>
        </p:txBody>
      </p:sp>
      <p:sp>
        <p:nvSpPr>
          <p:cNvPr id="72" name="Rounded Rectangle 71"/>
          <p:cNvSpPr/>
          <p:nvPr/>
        </p:nvSpPr>
        <p:spPr>
          <a:xfrm>
            <a:off x="384057" y="5742432"/>
            <a:ext cx="3625081" cy="1024128"/>
          </a:xfrm>
          <a:prstGeom prst="roundRect">
            <a:avLst>
              <a:gd name="adj" fmla="val 6000"/>
            </a:avLst>
          </a:prstGeom>
          <a:solidFill>
            <a:srgbClr val="12161F"/>
          </a:solidFill>
          <a:ln w="15875">
            <a:solidFill>
              <a:srgbClr val="4A2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1801" y="5742432"/>
            <a:ext cx="3149593" cy="1024128"/>
          </a:xfrm>
          <a:prstGeom prst="rect">
            <a:avLst/>
          </a:prstGeom>
          <a:noFill/>
        </p:spPr>
        <p:txBody>
          <a:bodyPr wrap="square" anchor="ctr" lIns="0" rIns="0" tIns="0" bIns="0">
            <a:spAutoFit/>
          </a:bodyPr>
          <a:lstStyle/>
          <a:p>
            <a:pPr algn="l">
              <a:lnSpc>
                <a:spcPct val="102000"/>
              </a:lnSpc>
              <a:spcBef>
                <a:spcPts val="0"/>
              </a:spcBef>
              <a:spcAft>
                <a:spcPts val="300"/>
              </a:spcAft>
            </a:pPr>
            <a:r>
              <a:rPr sz="1100" b="1">
                <a:solidFill>
                  <a:srgbClr val="FF6B6B"/>
                </a:solidFill>
                <a:latin typeface="Calibri"/>
              </a:rPr>
              <a:t>🚚  TRADITIONAL</a:t>
            </a:r>
          </a:p>
          <a:p>
            <a:pPr algn="l">
              <a:lnSpc>
                <a:spcPct val="102000"/>
              </a:lnSpc>
              <a:spcBef>
                <a:spcPts val="0"/>
              </a:spcBef>
              <a:spcAft>
                <a:spcPts val="300"/>
              </a:spcAft>
            </a:pPr>
            <a:r>
              <a:rPr sz="2700" b="1">
                <a:solidFill>
                  <a:srgbClr val="FF6B6B"/>
                </a:solidFill>
                <a:latin typeface="Calibri"/>
              </a:rPr>
              <a:t>48 tasks</a:t>
            </a:r>
          </a:p>
          <a:p>
            <a:pPr algn="l">
              <a:lnSpc>
                <a:spcPct val="102000"/>
              </a:lnSpc>
              <a:spcBef>
                <a:spcPts val="0"/>
              </a:spcBef>
              <a:spcAft>
                <a:spcPts val="300"/>
              </a:spcAft>
            </a:pPr>
            <a:r>
              <a:rPr sz="1050" b="0">
                <a:solidFill>
                  <a:srgbClr val="8A97B8"/>
                </a:solidFill>
                <a:latin typeface="Calibri"/>
              </a:rPr>
              <a:t>12 agents × 4 cognitive tasks each</a:t>
            </a:r>
          </a:p>
        </p:txBody>
      </p:sp>
      <p:sp>
        <p:nvSpPr>
          <p:cNvPr id="74" name="Rounded Rectangle 73"/>
          <p:cNvSpPr/>
          <p:nvPr/>
        </p:nvSpPr>
        <p:spPr>
          <a:xfrm>
            <a:off x="4283459" y="5742432"/>
            <a:ext cx="3625081" cy="1024128"/>
          </a:xfrm>
          <a:prstGeom prst="roundRect">
            <a:avLst>
              <a:gd name="adj" fmla="val 6000"/>
            </a:avLst>
          </a:prstGeom>
          <a:solidFill>
            <a:srgbClr val="12161F"/>
          </a:solidFill>
          <a:ln w="15875">
            <a:solidFill>
              <a:srgbClr val="1845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21203" y="5742432"/>
            <a:ext cx="3149593" cy="1024128"/>
          </a:xfrm>
          <a:prstGeom prst="rect">
            <a:avLst/>
          </a:prstGeom>
          <a:noFill/>
        </p:spPr>
        <p:txBody>
          <a:bodyPr wrap="square" anchor="ctr" lIns="0" rIns="0" tIns="0" bIns="0">
            <a:spAutoFit/>
          </a:bodyPr>
          <a:lstStyle/>
          <a:p>
            <a:pPr algn="l">
              <a:lnSpc>
                <a:spcPct val="102000"/>
              </a:lnSpc>
              <a:spcBef>
                <a:spcPts val="0"/>
              </a:spcBef>
              <a:spcAft>
                <a:spcPts val="300"/>
              </a:spcAft>
            </a:pPr>
            <a:r>
              <a:rPr sz="1100" b="1">
                <a:solidFill>
                  <a:srgbClr val="22D3AA"/>
                </a:solidFill>
                <a:latin typeface="Calibri"/>
              </a:rPr>
              <a:t>🍽️  UNAI</a:t>
            </a:r>
          </a:p>
          <a:p>
            <a:pPr algn="l">
              <a:lnSpc>
                <a:spcPct val="102000"/>
              </a:lnSpc>
              <a:spcBef>
                <a:spcPts val="0"/>
              </a:spcBef>
              <a:spcAft>
                <a:spcPts val="300"/>
              </a:spcAft>
            </a:pPr>
            <a:r>
              <a:rPr sz="2700" b="1">
                <a:solidFill>
                  <a:srgbClr val="22D3AA"/>
                </a:solidFill>
                <a:latin typeface="Calibri"/>
              </a:rPr>
              <a:t>16 tasks</a:t>
            </a:r>
          </a:p>
          <a:p>
            <a:pPr algn="l">
              <a:lnSpc>
                <a:spcPct val="102000"/>
              </a:lnSpc>
              <a:spcBef>
                <a:spcPts val="0"/>
              </a:spcBef>
              <a:spcAft>
                <a:spcPts val="300"/>
              </a:spcAft>
            </a:pPr>
            <a:r>
              <a:rPr sz="1050" b="0">
                <a:solidFill>
                  <a:srgbClr val="8A97B8"/>
                </a:solidFill>
                <a:latin typeface="Calibri"/>
              </a:rPr>
              <a:t>4 shared tasks + 12 pack calls</a:t>
            </a:r>
          </a:p>
        </p:txBody>
      </p:sp>
      <p:sp>
        <p:nvSpPr>
          <p:cNvPr id="76" name="Rounded Rectangle 75"/>
          <p:cNvSpPr/>
          <p:nvPr/>
        </p:nvSpPr>
        <p:spPr>
          <a:xfrm>
            <a:off x="8182860" y="5742432"/>
            <a:ext cx="3625081" cy="1024128"/>
          </a:xfrm>
          <a:prstGeom prst="roundRect">
            <a:avLst>
              <a:gd name="adj" fmla="val 6000"/>
            </a:avLst>
          </a:prstGeom>
          <a:solidFill>
            <a:srgbClr val="12161F"/>
          </a:solidFill>
          <a:ln w="15875">
            <a:solidFill>
              <a:srgbClr val="143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20604" y="5742432"/>
            <a:ext cx="3149593" cy="1024128"/>
          </a:xfrm>
          <a:prstGeom prst="rect">
            <a:avLst/>
          </a:prstGeom>
          <a:noFill/>
        </p:spPr>
        <p:txBody>
          <a:bodyPr wrap="square" anchor="ctr" lIns="0" rIns="0" tIns="0" bIns="0">
            <a:spAutoFit/>
          </a:bodyPr>
          <a:lstStyle/>
          <a:p>
            <a:pPr algn="l">
              <a:lnSpc>
                <a:spcPct val="102000"/>
              </a:lnSpc>
              <a:spcBef>
                <a:spcPts val="0"/>
              </a:spcBef>
              <a:spcAft>
                <a:spcPts val="300"/>
              </a:spcAft>
            </a:pPr>
            <a:r>
              <a:rPr sz="1100" b="1">
                <a:solidFill>
                  <a:srgbClr val="35C4E8"/>
                </a:solidFill>
                <a:latin typeface="Calibri"/>
              </a:rPr>
              <a:t>📉  REDUCTION</a:t>
            </a:r>
          </a:p>
          <a:p>
            <a:pPr algn="l">
              <a:lnSpc>
                <a:spcPct val="102000"/>
              </a:lnSpc>
              <a:spcBef>
                <a:spcPts val="0"/>
              </a:spcBef>
              <a:spcAft>
                <a:spcPts val="300"/>
              </a:spcAft>
            </a:pPr>
            <a:r>
              <a:rPr sz="2700" b="1">
                <a:solidFill>
                  <a:srgbClr val="35C4E8"/>
                </a:solidFill>
                <a:latin typeface="Calibri"/>
              </a:rPr>
              <a:t>66.7%</a:t>
            </a:r>
          </a:p>
          <a:p>
            <a:pPr algn="l">
              <a:lnSpc>
                <a:spcPct val="102000"/>
              </a:lnSpc>
              <a:spcBef>
                <a:spcPts val="0"/>
              </a:spcBef>
              <a:spcAft>
                <a:spcPts val="300"/>
              </a:spcAft>
            </a:pPr>
            <a:r>
              <a:rPr sz="1050" b="0">
                <a:solidFill>
                  <a:srgbClr val="8A97B8"/>
                </a:solidFill>
                <a:latin typeface="Calibri"/>
              </a:rPr>
              <a:t>Fewer cognitive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5021</Words>
  <Application>Microsoft Macintosh PowerPoint</Application>
  <PresentationFormat>Widescreen</PresentationFormat>
  <Paragraphs>602</Paragraphs>
  <Slides>40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UNAI — Executive Briefing</dc:title>
  <dc:subject>PptxGenJS Presentation</dc:subject>
  <dc:creator>Bristlecone</dc:creator>
  <cp:lastModifiedBy>Ravin Angara</cp:lastModifiedBy>
  <cp:revision>2</cp:revision>
  <dcterms:created xsi:type="dcterms:W3CDTF">2026-07-02T18:04:01Z</dcterms:created>
  <dcterms:modified xsi:type="dcterms:W3CDTF">2026-08-01T17:26:57Z</dcterms:modified>
</cp:coreProperties>
</file>