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39453"/>
            <a:ext cx="247650" cy="28575"/>
          </a:xfrm>
          <a:prstGeom prst="roundRect">
            <a:avLst>
              <a:gd name="adj" fmla="val 400000"/>
            </a:avLst>
          </a:prstGeom>
          <a:solidFill>
            <a:srgbClr val="00A6A6"/>
          </a:solidFill>
          <a:ln/>
        </p:spPr>
      </p:sp>
      <p:sp>
        <p:nvSpPr>
          <p:cNvPr id="6" name="Text 3"/>
          <p:cNvSpPr/>
          <p:nvPr/>
        </p:nvSpPr>
        <p:spPr>
          <a:xfrm>
            <a:off x="886197" y="1284722"/>
            <a:ext cx="19573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8BE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 CHAIN RESILIENCE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556445"/>
            <a:ext cx="4048125" cy="1047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Team Structure for Supply Chain Resilience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71500" y="2748707"/>
            <a:ext cx="37623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1125"/>
              </a:spcBef>
              <a:buNone/>
            </a:pPr>
            <a:r>
              <a:rPr lang="en-US" sz="12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multi-agent operating model for faster disruption response and clearer decisions.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56310"/>
            <a:ext cx="133350" cy="133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7060" y="3453966"/>
            <a:ext cx="11001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model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045" y="3456310"/>
            <a:ext cx="133350" cy="1333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73201" y="3453966"/>
            <a:ext cx="88106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workflow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706" y="3456310"/>
            <a:ext cx="133350" cy="1333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59262" y="3453966"/>
            <a:ext cx="7572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cycles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71500" y="4752975"/>
            <a:ext cx="47625" cy="47625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Text 10"/>
          <p:cNvSpPr/>
          <p:nvPr/>
        </p:nvSpPr>
        <p:spPr>
          <a:xfrm>
            <a:off x="695623" y="4705350"/>
            <a:ext cx="20859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dirty="0">
                <a:solidFill>
                  <a:srgbClr val="B8C7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Orchestrating impact analysis into action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514350" y="361466"/>
            <a:ext cx="81153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BRIEFING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4350" y="576225"/>
            <a:ext cx="8115300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8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4350" y="1010989"/>
            <a:ext cx="46672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operating context to an agentic execution path.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4350" y="1558230"/>
            <a:ext cx="2667000" cy="3243263"/>
          </a:xfrm>
          <a:prstGeom prst="roundRect">
            <a:avLst>
              <a:gd name="adj" fmla="val 1714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742950" y="1788654"/>
            <a:ext cx="22098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7DD3D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JOURNEY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2950" y="2046498"/>
            <a:ext cx="2209800" cy="690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spcBef>
                <a:spcPts val="105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 path from problem to adoption.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352032"/>
            <a:ext cx="142875" cy="1428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2025" y="4275832"/>
            <a:ext cx="1990725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→ orchestration → outcomes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24250" y="1682948"/>
            <a:ext cx="342900" cy="342900"/>
          </a:xfrm>
          <a:prstGeom prst="roundRect">
            <a:avLst>
              <a:gd name="adj" fmla="val 18519"/>
            </a:avLst>
          </a:prstGeom>
          <a:solidFill>
            <a:srgbClr val="EAF2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737" y="1773436"/>
            <a:ext cx="161925" cy="1619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0034" y="1683172"/>
            <a:ext cx="3119437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 &amp; context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020034" y="1916981"/>
            <a:ext cx="31194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operating conditions shaping the opportunity.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019550" y="2529260"/>
            <a:ext cx="4610100" cy="4763"/>
          </a:xfrm>
          <a:prstGeom prst="rect">
            <a:avLst/>
          </a:prstGeom>
          <a:solidFill>
            <a:srgbClr val="D7E2EC"/>
          </a:solidFill>
          <a:ln/>
        </p:spPr>
      </p:sp>
      <p:sp>
        <p:nvSpPr>
          <p:cNvPr id="17" name="Shape 13"/>
          <p:cNvSpPr/>
          <p:nvPr/>
        </p:nvSpPr>
        <p:spPr>
          <a:xfrm>
            <a:off x="3524250" y="2979390"/>
            <a:ext cx="342900" cy="342900"/>
          </a:xfrm>
          <a:prstGeom prst="roundRect">
            <a:avLst>
              <a:gd name="adj" fmla="val 18519"/>
            </a:avLst>
          </a:prstGeom>
          <a:solidFill>
            <a:srgbClr val="E6F7F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737" y="3069878"/>
            <a:ext cx="161925" cy="1619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20406" y="2979613"/>
            <a:ext cx="3405187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roles &amp; responsibilities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020406" y="3213422"/>
            <a:ext cx="34051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specialized agents divide work and accountability.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019550" y="3825701"/>
            <a:ext cx="4610100" cy="4763"/>
          </a:xfrm>
          <a:prstGeom prst="rect">
            <a:avLst/>
          </a:prstGeom>
          <a:solidFill>
            <a:srgbClr val="D7E2EC"/>
          </a:solidFill>
          <a:ln/>
        </p:spPr>
      </p:sp>
      <p:sp>
        <p:nvSpPr>
          <p:cNvPr id="22" name="Shape 17"/>
          <p:cNvSpPr/>
          <p:nvPr/>
        </p:nvSpPr>
        <p:spPr>
          <a:xfrm>
            <a:off x="3524250" y="4275832"/>
            <a:ext cx="342900" cy="342900"/>
          </a:xfrm>
          <a:prstGeom prst="roundRect">
            <a:avLst>
              <a:gd name="adj" fmla="val 18519"/>
            </a:avLst>
          </a:prstGeom>
          <a:solidFill>
            <a:srgbClr val="FFF4E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737" y="4366320"/>
            <a:ext cx="161925" cy="1619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20034" y="4276055"/>
            <a:ext cx="33337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Workflow, outcomes &amp; implementation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020034" y="4509864"/>
            <a:ext cx="33337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end-to-end flow, benefits, and path to adoption.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552450" y="390041"/>
            <a:ext cx="80391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CURRENT-STATE FRICTION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2450" y="594047"/>
            <a:ext cx="803910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Traditional Supply Chain Response Breaks Down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52450" y="1409030"/>
            <a:ext cx="62865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operating model cannot keep pace with a disruption that crosses functions in real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28750" y="2419573"/>
            <a:ext cx="6286500" cy="1838325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B1F3A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8750" y="2605311"/>
            <a:ext cx="57150" cy="3524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47825" y="2610073"/>
            <a:ext cx="342900" cy="342900"/>
          </a:xfrm>
          <a:prstGeom prst="ellipse">
            <a:avLst/>
          </a:prstGeom>
          <a:solidFill>
            <a:srgbClr val="FFF4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2705323"/>
            <a:ext cx="1524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22959" y="2712467"/>
            <a:ext cx="28717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4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Disruptions move faster than manual coordination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1990725" y="3057748"/>
            <a:ext cx="5467350" cy="4763"/>
          </a:xfrm>
          <a:prstGeom prst="rect">
            <a:avLst/>
          </a:prstGeom>
          <a:solidFill>
            <a:srgbClr val="EAF2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8750" y="3162523"/>
            <a:ext cx="57150" cy="3524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647825" y="3167286"/>
            <a:ext cx="342900" cy="3429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3075" y="326253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124521" y="3269679"/>
            <a:ext cx="2800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4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Siloed teams miss cross-functional dependencies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1990725" y="3614961"/>
            <a:ext cx="5467350" cy="4763"/>
          </a:xfrm>
          <a:prstGeom prst="rect">
            <a:avLst/>
          </a:prstGeom>
          <a:solidFill>
            <a:srgbClr val="EAF2F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28750" y="3719736"/>
            <a:ext cx="57150" cy="35242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647825" y="3724498"/>
            <a:ext cx="342900" cy="342900"/>
          </a:xfrm>
          <a:prstGeom prst="ellipse">
            <a:avLst/>
          </a:prstGeom>
          <a:solidFill>
            <a:srgbClr val="EAF2F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3075" y="3819748"/>
            <a:ext cx="152400" cy="152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23256" y="3826892"/>
            <a:ext cx="19240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4"/>
              </a:lnSpc>
              <a:buNone/>
            </a:pPr>
            <a:r>
              <a:rPr lang="en-US" sz="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decisions arrive too late</a:t>
            </a:r>
            <a:endParaRPr lang="en-US" sz="800" dirty="0"/>
          </a:p>
        </p:txBody>
      </p:sp>
      <p:sp>
        <p:nvSpPr>
          <p:cNvPr id="22" name="Shape 14"/>
          <p:cNvSpPr/>
          <p:nvPr/>
        </p:nvSpPr>
        <p:spPr>
          <a:xfrm>
            <a:off x="1428750" y="4467448"/>
            <a:ext cx="6286500" cy="628650"/>
          </a:xfrm>
          <a:prstGeom prst="roundRect">
            <a:avLst>
              <a:gd name="adj" fmla="val 26446"/>
            </a:avLst>
          </a:prstGeom>
          <a:solidFill>
            <a:srgbClr val="0B1F3A"/>
          </a:solidFill>
          <a:ln/>
        </p:spPr>
      </p:sp>
      <p:sp>
        <p:nvSpPr>
          <p:cNvPr id="23" name="Text 15"/>
          <p:cNvSpPr/>
          <p:nvPr/>
        </p:nvSpPr>
        <p:spPr>
          <a:xfrm>
            <a:off x="1656643" y="4652665"/>
            <a:ext cx="3800475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4"/>
              </a:lnSpc>
              <a:buNone/>
            </a:pPr>
            <a:r>
              <a:rPr lang="en-US" sz="600" b="1" dirty="0">
                <a:solidFill>
                  <a:srgbClr val="7DE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</a:t>
            </a:r>
            <a:endParaRPr lang="en-US" sz="600" dirty="0"/>
          </a:p>
        </p:txBody>
      </p:sp>
      <p:sp>
        <p:nvSpPr>
          <p:cNvPr id="24" name="Text 16"/>
          <p:cNvSpPr/>
          <p:nvPr/>
        </p:nvSpPr>
        <p:spPr>
          <a:xfrm>
            <a:off x="1656643" y="4780694"/>
            <a:ext cx="380047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the time the organization aligns, the disruption has already evolved.</a:t>
            </a:r>
            <a:endParaRPr lang="en-US" sz="8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5675" y="4691286"/>
            <a:ext cx="1809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61466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OPERATING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66812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as orchestrator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982638"/>
            <a:ext cx="82677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control point turns disruption into coordinated action and an executive-ready decision.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150" y="1729792"/>
            <a:ext cx="5800725" cy="3071813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50318"/>
            <a:ext cx="530542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response chain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260327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EAF2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38" y="2331765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6585" y="2260774"/>
            <a:ext cx="39052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Receives disruption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6585" y="2470175"/>
            <a:ext cx="390525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Triggers the response chain and establishes the operating tempo.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5800" y="2774379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EAF2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2845817"/>
            <a:ext cx="133350" cy="1333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77181" y="2774826"/>
            <a:ext cx="330041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Assigns specialists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77181" y="2984227"/>
            <a:ext cx="3300413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 the event type to the right analytical expertise.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5800" y="3288432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FFF4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8" y="3359869"/>
            <a:ext cx="133350" cy="133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5990" y="3288878"/>
            <a:ext cx="46196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Consolidates and approves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75990" y="3498279"/>
            <a:ext cx="4619625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findings into one executive view, then approves recommendations.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467475" y="1729792"/>
            <a:ext cx="2238375" cy="3071813"/>
          </a:xfrm>
          <a:prstGeom prst="roundRect">
            <a:avLst>
              <a:gd name="adj" fmla="val 2086"/>
            </a:avLst>
          </a:prstGeom>
          <a:solidFill>
            <a:srgbClr val="0B1F3A"/>
          </a:solidFill>
          <a:ln/>
        </p:spPr>
      </p:sp>
      <p:sp>
        <p:nvSpPr>
          <p:cNvPr id="22" name="Text 17"/>
          <p:cNvSpPr/>
          <p:nvPr/>
        </p:nvSpPr>
        <p:spPr>
          <a:xfrm>
            <a:off x="6657975" y="1948904"/>
            <a:ext cx="185737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00" b="1" dirty="0">
                <a:solidFill>
                  <a:srgbClr val="7DE3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AGENT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657975" y="2166417"/>
            <a:ext cx="1857375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6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central orchestrator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657975" y="2746846"/>
            <a:ext cx="361950" cy="19050"/>
          </a:xfrm>
          <a:prstGeom prst="roundRect">
            <a:avLst>
              <a:gd name="adj" fmla="val 600000"/>
            </a:avLst>
          </a:prstGeom>
          <a:solidFill>
            <a:srgbClr val="00A6A6"/>
          </a:solidFill>
          <a:ln/>
        </p:spPr>
      </p:sp>
      <p:sp>
        <p:nvSpPr>
          <p:cNvPr id="25" name="Text 20"/>
          <p:cNvSpPr/>
          <p:nvPr/>
        </p:nvSpPr>
        <p:spPr>
          <a:xfrm>
            <a:off x="6657975" y="2999296"/>
            <a:ext cx="1857375" cy="933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Specialists generate insight. The manager agent creates alignment, accountability, and a decision-ready outcome.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657975" y="4056757"/>
            <a:ext cx="1857375" cy="523875"/>
          </a:xfrm>
          <a:prstGeom prst="roundRect">
            <a:avLst>
              <a:gd name="adj" fmla="val 25388"/>
            </a:avLst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4179689"/>
            <a:ext cx="133350" cy="1333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1350" y="4171057"/>
            <a:ext cx="1400175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accountable view of the event.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1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INTELLIGENCE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85862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scattered signals to decisive action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1011659"/>
            <a:ext cx="59055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continuously watches the operating environment, interprets risk, and hands downstream agents a clean event signal.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31" y="1994557"/>
            <a:ext cx="2614613" cy="2805112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7150" dir="5400000">
              <a:srgbClr val="0B1F3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8175" y="2203177"/>
            <a:ext cx="323850" cy="323850"/>
          </a:xfrm>
          <a:prstGeom prst="roundRect">
            <a:avLst>
              <a:gd name="adj" fmla="val 18685"/>
            </a:avLst>
          </a:prstGeom>
          <a:solidFill>
            <a:srgbClr val="EAF2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38" y="2284140"/>
            <a:ext cx="161925" cy="1619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8956" y="2689882"/>
            <a:ext cx="221456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675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the world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8956" y="2972209"/>
            <a:ext cx="2214563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75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Unifies external and operational sources into one always-on view of emerging conditions.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8956" y="4218124"/>
            <a:ext cx="22145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News, weather, and alerts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8956" y="4461979"/>
            <a:ext cx="22145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Shipment delay signals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64657" y="1994557"/>
            <a:ext cx="2614613" cy="2805112"/>
          </a:xfrm>
          <a:prstGeom prst="roundRect">
            <a:avLst>
              <a:gd name="adj" fmla="val 1529"/>
            </a:avLst>
          </a:prstGeom>
          <a:solidFill>
            <a:srgbClr val="0B1F3A"/>
          </a:solidFill>
          <a:ln w="9525">
            <a:solidFill>
              <a:srgbClr val="00A6A6"/>
            </a:solidFill>
            <a:prstDash val="solid"/>
          </a:ln>
          <a:effectLst>
            <a:outerShdw sx="100000" sy="100000" kx="0" ky="0" algn="bl" rotWithShape="0" blurRad="161925" dist="85725" dir="5400000">
              <a:srgbClr val="0B1F3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3425" y="2212702"/>
            <a:ext cx="323850" cy="323850"/>
          </a:xfrm>
          <a:prstGeom prst="roundRect">
            <a:avLst>
              <a:gd name="adj" fmla="val 18685"/>
            </a:avLst>
          </a:prstGeom>
          <a:solidFill>
            <a:srgbClr val="12365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388" y="2293665"/>
            <a:ext cx="161925" cy="1619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207" y="2699407"/>
            <a:ext cx="219551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675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what matters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74207" y="2981734"/>
            <a:ext cx="2195513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75"/>
              </a:spcAft>
              <a:buNone/>
            </a:pPr>
            <a:r>
              <a:rPr lang="en-US" sz="900" dirty="0">
                <a:solidFill>
                  <a:srgbClr val="D8E4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Separates meaningful risk from noise by recognizing patterns, changes, and supplier weakness.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74207" y="4208599"/>
            <a:ext cx="21955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Supplier downgrades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207" y="4452454"/>
            <a:ext cx="21955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risk signals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90382" y="1994557"/>
            <a:ext cx="2614613" cy="2805112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7150" dir="5400000">
              <a:srgbClr val="0B1F3A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89625" y="2203177"/>
            <a:ext cx="323850" cy="323850"/>
          </a:xfrm>
          <a:prstGeom prst="roundRect">
            <a:avLst>
              <a:gd name="adj" fmla="val 18685"/>
            </a:avLst>
          </a:prstGeom>
          <a:solidFill>
            <a:srgbClr val="FFF4E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88" y="2284140"/>
            <a:ext cx="161925" cy="1619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90407" y="2689882"/>
            <a:ext cx="2214563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spcAft>
                <a:spcPts val="675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the response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90407" y="2970758"/>
            <a:ext cx="2214563" cy="695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75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Turns detected events into consistent, severity-aware outputs that downstream agents can act on.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90407" y="4218124"/>
            <a:ext cx="22145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Normalized event format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90407" y="4461979"/>
            <a:ext cx="22145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Severity flagged for escalation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1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EXPOSURE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76337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the Blast Radius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990749"/>
            <a:ext cx="53340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one disruption signal into a traceable view of network exposure.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150" y="1724211"/>
            <a:ext cx="4019550" cy="2486025"/>
          </a:xfrm>
          <a:prstGeom prst="roundRect">
            <a:avLst>
              <a:gd name="adj" fmla="val 19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3825" dist="47625" dir="5400000">
              <a:srgbClr val="0B1F3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275" y="1942281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EAF2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008956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7518" y="1975619"/>
            <a:ext cx="1133475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signal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399481"/>
            <a:ext cx="123825" cy="1238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4932" y="2379687"/>
            <a:ext cx="30861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impacted suppliers and Tier 1 nodes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721843"/>
            <a:ext cx="123825" cy="1238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6755" y="2702049"/>
            <a:ext cx="326231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the disruption signal, not a static list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76275" y="3688110"/>
            <a:ext cx="3543300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6351"/>
              </a:spcBef>
              <a:buNone/>
            </a:pPr>
            <a:r>
              <a:rPr lang="en-US" sz="8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in → trace begins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686300" y="1724211"/>
            <a:ext cx="4019550" cy="2486025"/>
          </a:xfrm>
          <a:prstGeom prst="roundRect">
            <a:avLst>
              <a:gd name="adj" fmla="val 197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52400" dist="66675" dir="5400000">
              <a:srgbClr val="0B1F3A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924425" y="1942281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00A6A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2008956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6598" y="1975619"/>
            <a:ext cx="1743075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exposure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25" y="2399481"/>
            <a:ext cx="128588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38961" y="2379687"/>
            <a:ext cx="27241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Traverse Tier 2 and BOM dependencies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425" y="2707556"/>
            <a:ext cx="128588" cy="1285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38663" y="2687762"/>
            <a:ext cx="285273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plants, parts, and network exposure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425" y="3015630"/>
            <a:ext cx="128588" cy="1285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37993" y="2995836"/>
            <a:ext cx="223361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Quantify affected assets quickly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4924425" y="3716685"/>
            <a:ext cx="35433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4263"/>
              </a:spcBef>
              <a:buNone/>
            </a:pPr>
            <a:r>
              <a:rPr lang="en-US" sz="800" b="1" dirty="0">
                <a:solidFill>
                  <a:srgbClr val="9DDD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complete → decisions accelerate</a:t>
            </a:r>
            <a:endParaRPr lang="en-US" sz="800" dirty="0"/>
          </a:p>
        </p:txBody>
      </p:sp>
      <p:sp>
        <p:nvSpPr>
          <p:cNvPr id="27" name="Shape 18"/>
          <p:cNvSpPr/>
          <p:nvPr/>
        </p:nvSpPr>
        <p:spPr>
          <a:xfrm>
            <a:off x="438150" y="4401145"/>
            <a:ext cx="8267700" cy="400050"/>
          </a:xfrm>
          <a:prstGeom prst="roundRect">
            <a:avLst>
              <a:gd name="adj" fmla="val 13605"/>
            </a:avLst>
          </a:prstGeom>
          <a:solidFill>
            <a:srgbClr val="FFF4E5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534495"/>
            <a:ext cx="133350" cy="1333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28005" y="4520208"/>
            <a:ext cx="4810125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converts a supplier signal into a quantified blast-radius view.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61962"/>
            <a:ext cx="200025" cy="28575"/>
          </a:xfrm>
          <a:prstGeom prst="roundRect">
            <a:avLst>
              <a:gd name="adj" fmla="val 400000"/>
            </a:avLst>
          </a:prstGeom>
          <a:solidFill>
            <a:srgbClr val="00A6A6"/>
          </a:solidFill>
          <a:ln/>
        </p:spPr>
      </p:sp>
      <p:sp>
        <p:nvSpPr>
          <p:cNvPr id="5" name="Text 3"/>
          <p:cNvSpPr/>
          <p:nvPr/>
        </p:nvSpPr>
        <p:spPr>
          <a:xfrm>
            <a:off x="723900" y="404813"/>
            <a:ext cx="172409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mini-team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29692"/>
            <a:ext cx="8229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Lead Agent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045964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Turns supply signals into a quantified view of availability, capacity, and production risk.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65288"/>
            <a:ext cx="4010025" cy="2085975"/>
          </a:xfrm>
          <a:prstGeom prst="roundRect">
            <a:avLst>
              <a:gd name="adj" fmla="val 2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B1F3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850" y="2294632"/>
            <a:ext cx="361950" cy="361950"/>
          </a:xfrm>
          <a:prstGeom prst="roundRect">
            <a:avLst>
              <a:gd name="adj" fmla="val 16620"/>
            </a:avLst>
          </a:prstGeom>
          <a:solidFill>
            <a:srgbClr val="EAF2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38" y="2385120"/>
            <a:ext cx="180975" cy="1809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42271" y="2397026"/>
            <a:ext cx="57626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04850" y="2856607"/>
            <a:ext cx="35147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Analyst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850" y="3160254"/>
            <a:ext cx="3095625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4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Checks availability across the network and tests whether safety stock can absorb disruption.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4850" y="3957265"/>
            <a:ext cx="57150" cy="5715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7670" y="3912059"/>
            <a:ext cx="14716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Availability + safety stock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76775" y="2065288"/>
            <a:ext cx="4010025" cy="2085975"/>
          </a:xfrm>
          <a:prstGeom prst="roundRect">
            <a:avLst>
              <a:gd name="adj" fmla="val 240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61925" dist="66675" dir="5400000">
              <a:srgbClr val="0B1F3A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24425" y="2294632"/>
            <a:ext cx="361950" cy="361950"/>
          </a:xfrm>
          <a:prstGeom prst="roundRect">
            <a:avLst>
              <a:gd name="adj" fmla="val 16620"/>
            </a:avLst>
          </a:prstGeom>
          <a:solidFill>
            <a:srgbClr val="15345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13" y="2385120"/>
            <a:ext cx="180975" cy="1809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39559" y="2397026"/>
            <a:ext cx="6000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02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924425" y="2856607"/>
            <a:ext cx="35147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Capacity Analyst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924425" y="3160254"/>
            <a:ext cx="3095625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4"/>
              </a:lnSpc>
              <a:buNone/>
            </a:pPr>
            <a:r>
              <a:rPr lang="en-US" sz="1000" dirty="0">
                <a:solidFill>
                  <a:srgbClr val="D9E5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Assesses plant impact and recovery options, linking constrained capacity to production exposure.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24425" y="3957265"/>
            <a:ext cx="57150" cy="5715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3" name="Text 19"/>
          <p:cNvSpPr/>
          <p:nvPr/>
        </p:nvSpPr>
        <p:spPr>
          <a:xfrm>
            <a:off x="5048548" y="3912059"/>
            <a:ext cx="17002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 impact + recovery path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57200" y="4377928"/>
            <a:ext cx="8229600" cy="423862"/>
          </a:xfrm>
          <a:prstGeom prst="roundRect">
            <a:avLst>
              <a:gd name="adj" fmla="val 7272"/>
            </a:avLst>
          </a:prstGeom>
          <a:solidFill>
            <a:srgbClr val="FFF4E5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3" y="4518422"/>
            <a:ext cx="142875" cy="14287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1835" y="4492228"/>
            <a:ext cx="10620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output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52281" y="4492228"/>
            <a:ext cx="3090862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Quantifies stockout timing and production risk.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4377928"/>
            <a:ext cx="8229600" cy="423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61466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LEAD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65472"/>
            <a:ext cx="826770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Translate operational disruption into business impact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1332384"/>
            <a:ext cx="82677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coordinated view connects OTIF exposure, revenue risk, and contractual consequence.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150" y="2127572"/>
            <a:ext cx="4029075" cy="2071688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57225" y="2373660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EAF2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2440335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18319" y="2328416"/>
            <a:ext cx="1966912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exposure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18319" y="2552477"/>
            <a:ext cx="19669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happening to customers?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876327"/>
            <a:ext cx="133350" cy="133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5230" y="2857277"/>
            <a:ext cx="29813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Impact Analyst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85230" y="3056706"/>
            <a:ext cx="2981325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263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Measures OTIF exposure across affected accounts.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379961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5267" y="3360911"/>
            <a:ext cx="2452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 Analyst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85267" y="3560341"/>
            <a:ext cx="245268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263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Quantifies SLA exposure and penalty risk.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76775" y="2127572"/>
            <a:ext cx="4029075" cy="2071688"/>
          </a:xfrm>
          <a:prstGeom prst="roundRect">
            <a:avLst>
              <a:gd name="adj" fmla="val 2435"/>
            </a:avLst>
          </a:prstGeom>
          <a:solidFill>
            <a:srgbClr val="0B1F3A"/>
          </a:solidFill>
          <a:ln/>
        </p:spPr>
      </p:sp>
      <p:sp>
        <p:nvSpPr>
          <p:cNvPr id="19" name="Shape 14"/>
          <p:cNvSpPr/>
          <p:nvPr/>
        </p:nvSpPr>
        <p:spPr>
          <a:xfrm>
            <a:off x="4895850" y="2373660"/>
            <a:ext cx="276225" cy="276225"/>
          </a:xfrm>
          <a:prstGeom prst="roundRect">
            <a:avLst>
              <a:gd name="adj" fmla="val 22830"/>
            </a:avLst>
          </a:prstGeom>
          <a:solidFill>
            <a:srgbClr val="00A6A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525" y="2440335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651" y="2328416"/>
            <a:ext cx="2205037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consequence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257651" y="2552477"/>
            <a:ext cx="220503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B8C7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it mean for the business?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2876327"/>
            <a:ext cx="133350" cy="1333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5343" y="2857277"/>
            <a:ext cx="23002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Risk Analyst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125343" y="3056706"/>
            <a:ext cx="230028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263"/>
              </a:spcBef>
              <a:buNone/>
            </a:pPr>
            <a:r>
              <a:rPr lang="en-US" sz="900" dirty="0">
                <a:solidFill>
                  <a:srgbClr val="D7E1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Estimates lost sales and margin at risk.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850" y="3379961"/>
            <a:ext cx="133350" cy="1333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25269" y="3360911"/>
            <a:ext cx="30480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Customer-facing business impact summary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125269" y="3560341"/>
            <a:ext cx="30480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spcBef>
                <a:spcPts val="263"/>
              </a:spcBef>
              <a:buNone/>
            </a:pPr>
            <a:r>
              <a:rPr lang="en-US" sz="900" dirty="0">
                <a:solidFill>
                  <a:srgbClr val="D7E1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Turns analysis into a clear commercial narrative.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38150" y="4409145"/>
            <a:ext cx="8267700" cy="409575"/>
          </a:xfrm>
          <a:prstGeom prst="roundRect">
            <a:avLst>
              <a:gd name="adj" fmla="val 10384"/>
            </a:avLst>
          </a:prstGeom>
          <a:solidFill>
            <a:srgbClr val="EAF2F8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4542458"/>
            <a:ext cx="142875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66998" y="4528207"/>
            <a:ext cx="707231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output: a single customer-ready view of exposure, value at risk, and contractual consequence.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150" y="4409145"/>
            <a:ext cx="826770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1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76337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Bef>
                <a:spcPts val="525"/>
              </a:spcBef>
              <a:spcAft>
                <a:spcPts val="675"/>
              </a:spcAft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Lead Agent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1011213"/>
            <a:ext cx="56197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specialists turn disruption signals into viable mitigation options.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331" y="1558342"/>
            <a:ext cx="2624138" cy="2652713"/>
          </a:xfrm>
          <a:prstGeom prst="roundRect">
            <a:avLst>
              <a:gd name="adj" fmla="val 1518"/>
            </a:avLst>
          </a:prstGeom>
          <a:solidFill>
            <a:srgbClr val="F5F8FC"/>
          </a:solidFill>
          <a:ln/>
        </p:spPr>
      </p:sp>
      <p:sp>
        <p:nvSpPr>
          <p:cNvPr id="8" name="Shape 6"/>
          <p:cNvSpPr/>
          <p:nvPr/>
        </p:nvSpPr>
        <p:spPr>
          <a:xfrm>
            <a:off x="638175" y="1759372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845097"/>
            <a:ext cx="171450" cy="171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7356" y="2245370"/>
            <a:ext cx="222408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Sourcing Specialist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7356" y="2507493"/>
            <a:ext cx="2224088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spcAft>
                <a:spcPts val="1125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Evaluates alternate suppliers to protect continuity when the preferred source is constrained.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7356" y="3508995"/>
            <a:ext cx="2224088" cy="519112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637356" y="3646624"/>
            <a:ext cx="22240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supplier availability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7356" y="3880954"/>
            <a:ext cx="22240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Surfaces feasible substitutions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59894" y="1558342"/>
            <a:ext cx="2624138" cy="2652713"/>
          </a:xfrm>
          <a:prstGeom prst="roundRect">
            <a:avLst>
              <a:gd name="adj" fmla="val 1518"/>
            </a:avLst>
          </a:prstGeom>
          <a:solidFill>
            <a:srgbClr val="0B1F3A"/>
          </a:solidFill>
          <a:ln/>
        </p:spPr>
      </p:sp>
      <p:sp>
        <p:nvSpPr>
          <p:cNvPr id="16" name="Shape 13"/>
          <p:cNvSpPr/>
          <p:nvPr/>
        </p:nvSpPr>
        <p:spPr>
          <a:xfrm>
            <a:off x="3460700" y="1759372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425" y="1845097"/>
            <a:ext cx="171450" cy="1714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9919" y="2245370"/>
            <a:ext cx="222408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Logistics Specialist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59919" y="2507493"/>
            <a:ext cx="2224088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spcAft>
                <a:spcPts val="1125"/>
              </a:spcAft>
              <a:buNone/>
            </a:pPr>
            <a:r>
              <a:rPr lang="en-US" sz="10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expedited shipment options to restore flow and reduce the impact of delay.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59919" y="3508995"/>
            <a:ext cx="2224088" cy="519112"/>
          </a:xfrm>
          <a:prstGeom prst="rect">
            <a:avLst/>
          </a:prstGeom>
          <a:ln/>
        </p:spPr>
      </p:sp>
      <p:sp>
        <p:nvSpPr>
          <p:cNvPr id="21" name="Text 17"/>
          <p:cNvSpPr/>
          <p:nvPr/>
        </p:nvSpPr>
        <p:spPr>
          <a:xfrm>
            <a:off x="3459919" y="3646624"/>
            <a:ext cx="22240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Checks faster routing paths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59919" y="3880954"/>
            <a:ext cx="22240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Balances speed against feasibility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082494" y="1558342"/>
            <a:ext cx="2624138" cy="2652713"/>
          </a:xfrm>
          <a:prstGeom prst="roundRect">
            <a:avLst>
              <a:gd name="adj" fmla="val 1518"/>
            </a:avLst>
          </a:prstGeom>
          <a:solidFill>
            <a:srgbClr val="FFF4E5"/>
          </a:solidFill>
          <a:ln/>
        </p:spPr>
      </p:sp>
      <p:sp>
        <p:nvSpPr>
          <p:cNvPr id="24" name="Shape 20"/>
          <p:cNvSpPr/>
          <p:nvPr/>
        </p:nvSpPr>
        <p:spPr>
          <a:xfrm>
            <a:off x="6283300" y="1759372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DE7C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025" y="1845097"/>
            <a:ext cx="171450" cy="1714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82519" y="2245370"/>
            <a:ext cx="2224088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6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Planner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82519" y="2507493"/>
            <a:ext cx="2224088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spcAft>
                <a:spcPts val="1125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Compares response combinations so leaders can choose a practical path forward.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282519" y="3508995"/>
            <a:ext cx="2224088" cy="519112"/>
          </a:xfrm>
          <a:prstGeom prst="rect">
            <a:avLst/>
          </a:prstGeom>
          <a:ln/>
        </p:spPr>
      </p:sp>
      <p:sp>
        <p:nvSpPr>
          <p:cNvPr id="29" name="Text 24"/>
          <p:cNvSpPr/>
          <p:nvPr/>
        </p:nvSpPr>
        <p:spPr>
          <a:xfrm>
            <a:off x="6282519" y="3646624"/>
            <a:ext cx="22240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sourcing and logistics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282519" y="3880954"/>
            <a:ext cx="22240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Makes trade-offs visible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38150" y="4410075"/>
            <a:ext cx="8267700" cy="390525"/>
          </a:xfrm>
          <a:prstGeom prst="roundRect">
            <a:avLst>
              <a:gd name="adj" fmla="val 12849"/>
            </a:avLst>
          </a:prstGeom>
          <a:solidFill>
            <a:srgbClr val="EAF2F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4533900"/>
            <a:ext cx="142875" cy="14287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28377" y="4526756"/>
            <a:ext cx="482441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Together, the team converts specialist inputs into viable mitigation options.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356" y="3508995"/>
            <a:ext cx="2224088" cy="519112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9919" y="3508995"/>
            <a:ext cx="2224088" cy="519112"/>
          </a:xfrm>
          <a:prstGeom prst="rect">
            <a:avLst/>
          </a:prstGeom>
        </p:spPr>
      </p:pic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2519" y="3508995"/>
            <a:ext cx="2224088" cy="519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91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SUPPORT · FINAL RECOMMENDATION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76337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Agent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992163"/>
            <a:ext cx="52387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Turns scenario analysis into the next best mitigation plan.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183" y="1767892"/>
            <a:ext cx="3619500" cy="3033712"/>
          </a:xfrm>
          <a:prstGeom prst="roundRect">
            <a:avLst>
              <a:gd name="adj" fmla="val 1325"/>
            </a:avLst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2057028"/>
            <a:ext cx="142875" cy="1428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3115" y="2035597"/>
            <a:ext cx="1023937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output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408" y="2375520"/>
            <a:ext cx="3067050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33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</a:t>
            </a:r>
            <a:endParaRPr lang="en-US" sz="4300" dirty="0"/>
          </a:p>
        </p:txBody>
      </p:sp>
      <p:sp>
        <p:nvSpPr>
          <p:cNvPr id="11" name="Text 8"/>
          <p:cNvSpPr/>
          <p:nvPr/>
        </p:nvSpPr>
        <p:spPr>
          <a:xfrm>
            <a:off x="714375" y="3014588"/>
            <a:ext cx="2667000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 the best mitigation plan.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4375" y="3562722"/>
            <a:ext cx="457200" cy="28575"/>
          </a:xfrm>
          <a:prstGeom prst="roundRect">
            <a:avLst>
              <a:gd name="adj" fmla="val 400000"/>
            </a:avLst>
          </a:prstGeom>
          <a:solidFill>
            <a:srgbClr val="00A6A6"/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3705746"/>
            <a:ext cx="2714625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00" dirty="0">
                <a:solidFill>
                  <a:srgbClr val="D9E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compares cost, service, and speed before committing to a clear path forward.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408661"/>
            <a:ext cx="114300" cy="114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5090" y="4396755"/>
            <a:ext cx="22669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B9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scenario insight to executable action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285283" y="1769343"/>
            <a:ext cx="4419600" cy="933450"/>
          </a:xfrm>
          <a:prstGeom prst="roundRect">
            <a:avLst>
              <a:gd name="adj" fmla="val 11995"/>
            </a:avLst>
          </a:prstGeom>
          <a:solidFill>
            <a:srgbClr val="EAF2F8"/>
          </a:solidFill>
          <a:ln/>
        </p:spPr>
      </p:sp>
      <p:sp>
        <p:nvSpPr>
          <p:cNvPr id="17" name="Shape 13"/>
          <p:cNvSpPr/>
          <p:nvPr/>
        </p:nvSpPr>
        <p:spPr>
          <a:xfrm>
            <a:off x="4484340" y="2074143"/>
            <a:ext cx="323850" cy="323850"/>
          </a:xfrm>
          <a:prstGeom prst="roundRect">
            <a:avLst>
              <a:gd name="adj" fmla="val 18685"/>
            </a:avLst>
          </a:prstGeom>
          <a:solidFill>
            <a:srgbClr val="00A6A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303" y="2155106"/>
            <a:ext cx="161925" cy="1619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40387" y="2042964"/>
            <a:ext cx="329088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comparison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40387" y="2262262"/>
            <a:ext cx="32908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· service · speed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63210" y="2136056"/>
            <a:ext cx="14287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285283" y="2818023"/>
            <a:ext cx="4419600" cy="933450"/>
          </a:xfrm>
          <a:prstGeom prst="roundRect">
            <a:avLst>
              <a:gd name="adj" fmla="val 11995"/>
            </a:avLst>
          </a:prstGeom>
          <a:solidFill>
            <a:srgbClr val="F5F8FC"/>
          </a:solidFill>
          <a:ln/>
        </p:spPr>
      </p:sp>
      <p:sp>
        <p:nvSpPr>
          <p:cNvPr id="23" name="Shape 18"/>
          <p:cNvSpPr/>
          <p:nvPr/>
        </p:nvSpPr>
        <p:spPr>
          <a:xfrm>
            <a:off x="4484340" y="3122786"/>
            <a:ext cx="323850" cy="323850"/>
          </a:xfrm>
          <a:prstGeom prst="roundRect">
            <a:avLst>
              <a:gd name="adj" fmla="val 18685"/>
            </a:avLst>
          </a:prstGeom>
          <a:solidFill>
            <a:srgbClr val="1D4ED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303" y="3203749"/>
            <a:ext cx="161925" cy="1619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41503" y="3091607"/>
            <a:ext cx="326231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941503" y="3310905"/>
            <a:ext cx="326231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mitigation plan, ready to execute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338133" y="3184699"/>
            <a:ext cx="166688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85283" y="3866704"/>
            <a:ext cx="4419600" cy="933450"/>
          </a:xfrm>
          <a:prstGeom prst="roundRect">
            <a:avLst>
              <a:gd name="adj" fmla="val 11995"/>
            </a:avLst>
          </a:prstGeom>
          <a:solidFill>
            <a:srgbClr val="FFF4E5"/>
          </a:solidFill>
          <a:ln/>
        </p:spPr>
      </p:sp>
      <p:sp>
        <p:nvSpPr>
          <p:cNvPr id="29" name="Shape 23"/>
          <p:cNvSpPr/>
          <p:nvPr/>
        </p:nvSpPr>
        <p:spPr>
          <a:xfrm>
            <a:off x="4484340" y="4171504"/>
            <a:ext cx="323850" cy="323850"/>
          </a:xfrm>
          <a:prstGeom prst="roundRect">
            <a:avLst>
              <a:gd name="adj" fmla="val 18685"/>
            </a:avLst>
          </a:prstGeom>
          <a:solidFill>
            <a:srgbClr val="F59E0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303" y="4252466"/>
            <a:ext cx="161925" cy="1619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41763" y="4140324"/>
            <a:ext cx="326231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Recovery outlook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941763" y="4359622"/>
            <a:ext cx="326231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 · expected OTIF · recovery time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8338393" y="4233416"/>
            <a:ext cx="166688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51941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CENTER ORCHESTRATION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66812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Agentic Workflow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1002134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disruption signal to executive recommendation — coordinated, scored, and decision-ready.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150" y="1688827"/>
            <a:ext cx="8267700" cy="1295400"/>
          </a:xfrm>
          <a:prstGeom prst="roundRect">
            <a:avLst>
              <a:gd name="adj" fmla="val 6228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38733" y="1850268"/>
            <a:ext cx="14573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RESPONSE LOOP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14295" y="1857412"/>
            <a:ext cx="12906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A9C6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coordinated stages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6984" y="2116968"/>
            <a:ext cx="1704975" cy="723900"/>
          </a:xfrm>
          <a:prstGeom prst="roundRect">
            <a:avLst>
              <a:gd name="adj" fmla="val 13296"/>
            </a:avLst>
          </a:prstGeom>
          <a:solidFill>
            <a:srgbClr val="173657"/>
          </a:solidFill>
          <a:ln/>
        </p:spPr>
      </p:sp>
      <p:sp>
        <p:nvSpPr>
          <p:cNvPr id="11" name="Text 9"/>
          <p:cNvSpPr/>
          <p:nvPr/>
        </p:nvSpPr>
        <p:spPr>
          <a:xfrm>
            <a:off x="751284" y="2221260"/>
            <a:ext cx="14763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51284" y="2417006"/>
            <a:ext cx="14763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detected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1284" y="2617515"/>
            <a:ext cx="1476375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00" dirty="0">
                <a:solidFill>
                  <a:srgbClr val="B8CB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occurs</a:t>
            </a:r>
            <a:endParaRPr lang="en-US" sz="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306" y="2412206"/>
            <a:ext cx="133350" cy="1333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692003" y="2116968"/>
            <a:ext cx="1704975" cy="723900"/>
          </a:xfrm>
          <a:prstGeom prst="roundRect">
            <a:avLst>
              <a:gd name="adj" fmla="val 13296"/>
            </a:avLst>
          </a:prstGeom>
          <a:solidFill>
            <a:srgbClr val="173657"/>
          </a:solidFill>
          <a:ln/>
        </p:spPr>
      </p:sp>
      <p:sp>
        <p:nvSpPr>
          <p:cNvPr id="16" name="Text 13"/>
          <p:cNvSpPr/>
          <p:nvPr/>
        </p:nvSpPr>
        <p:spPr>
          <a:xfrm>
            <a:off x="2806303" y="2221260"/>
            <a:ext cx="14763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806303" y="2417006"/>
            <a:ext cx="14763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activated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06303" y="2617515"/>
            <a:ext cx="1476375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00" dirty="0">
                <a:solidFill>
                  <a:srgbClr val="B8CB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initiates response</a:t>
            </a:r>
            <a:endParaRPr lang="en-US" sz="7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2412206"/>
            <a:ext cx="133350" cy="13335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747022" y="2116968"/>
            <a:ext cx="1704975" cy="723900"/>
          </a:xfrm>
          <a:prstGeom prst="roundRect">
            <a:avLst>
              <a:gd name="adj" fmla="val 13296"/>
            </a:avLst>
          </a:prstGeom>
          <a:solidFill>
            <a:srgbClr val="173657"/>
          </a:solidFill>
          <a:ln/>
        </p:spPr>
      </p:sp>
      <p:sp>
        <p:nvSpPr>
          <p:cNvPr id="21" name="Text 17"/>
          <p:cNvSpPr/>
          <p:nvPr/>
        </p:nvSpPr>
        <p:spPr>
          <a:xfrm>
            <a:off x="4861322" y="2221260"/>
            <a:ext cx="14763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861322" y="2364246"/>
            <a:ext cx="14763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 analyze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861322" y="2511996"/>
            <a:ext cx="147637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00" dirty="0">
                <a:solidFill>
                  <a:srgbClr val="B8CB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Intelligence, exposure, operations, commercial</a:t>
            </a:r>
            <a:endParaRPr lang="en-US" sz="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44" y="2412206"/>
            <a:ext cx="133350" cy="13335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802041" y="2116968"/>
            <a:ext cx="1704975" cy="723900"/>
          </a:xfrm>
          <a:prstGeom prst="roundRect">
            <a:avLst>
              <a:gd name="adj" fmla="val 13296"/>
            </a:avLst>
          </a:prstGeom>
          <a:solidFill>
            <a:srgbClr val="00A6A6"/>
          </a:solidFill>
          <a:ln/>
        </p:spPr>
      </p:sp>
      <p:sp>
        <p:nvSpPr>
          <p:cNvPr id="26" name="Text 21"/>
          <p:cNvSpPr/>
          <p:nvPr/>
        </p:nvSpPr>
        <p:spPr>
          <a:xfrm>
            <a:off x="6916341" y="2221260"/>
            <a:ext cx="14763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6916341" y="2417006"/>
            <a:ext cx="14763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returned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916341" y="2617515"/>
            <a:ext cx="1476375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scored for executives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438150" y="3213757"/>
            <a:ext cx="2628900" cy="1604963"/>
          </a:xfrm>
          <a:prstGeom prst="roundRect">
            <a:avLst>
              <a:gd name="adj" fmla="val 3719"/>
            </a:avLst>
          </a:prstGeom>
          <a:solidFill>
            <a:srgbClr val="F5F8FC"/>
          </a:solidFill>
          <a:ln/>
        </p:spPr>
      </p:sp>
      <p:sp>
        <p:nvSpPr>
          <p:cNvPr id="30" name="Shape 25"/>
          <p:cNvSpPr/>
          <p:nvPr/>
        </p:nvSpPr>
        <p:spPr>
          <a:xfrm>
            <a:off x="619125" y="3384277"/>
            <a:ext cx="257175" cy="257175"/>
          </a:xfrm>
          <a:prstGeom prst="roundRect">
            <a:avLst>
              <a:gd name="adj" fmla="val 23045"/>
            </a:avLst>
          </a:prstGeom>
          <a:solidFill>
            <a:srgbClr val="EAF2F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8" y="3446190"/>
            <a:ext cx="133350" cy="1333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19125" y="3775063"/>
            <a:ext cx="22669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the right team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19125" y="4028182"/>
            <a:ext cx="22669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manager turns the event into a coordinated response.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19125" y="4491038"/>
            <a:ext cx="22669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ORCHESTRATE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257550" y="3213757"/>
            <a:ext cx="2628900" cy="1604963"/>
          </a:xfrm>
          <a:prstGeom prst="roundRect">
            <a:avLst>
              <a:gd name="adj" fmla="val 3719"/>
            </a:avLst>
          </a:prstGeom>
          <a:solidFill>
            <a:srgbClr val="FFF4E5"/>
          </a:solidFill>
          <a:ln/>
        </p:spPr>
      </p:sp>
      <p:sp>
        <p:nvSpPr>
          <p:cNvPr id="36" name="Shape 30"/>
          <p:cNvSpPr/>
          <p:nvPr/>
        </p:nvSpPr>
        <p:spPr>
          <a:xfrm>
            <a:off x="3438525" y="3384277"/>
            <a:ext cx="257175" cy="257175"/>
          </a:xfrm>
          <a:prstGeom prst="roundRect">
            <a:avLst>
              <a:gd name="adj" fmla="val 23045"/>
            </a:avLst>
          </a:prstGeom>
          <a:solidFill>
            <a:srgbClr val="FFE2B8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8" y="3446190"/>
            <a:ext cx="133350" cy="1333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438525" y="3775063"/>
            <a:ext cx="22669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the exposure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438525" y="4028405"/>
            <a:ext cx="2266950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Specialist analyses create a shared view of impact and operating choices.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438525" y="4529138"/>
            <a:ext cx="22669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6076950" y="3213757"/>
            <a:ext cx="2628900" cy="1604963"/>
          </a:xfrm>
          <a:prstGeom prst="roundRect">
            <a:avLst>
              <a:gd name="adj" fmla="val 3719"/>
            </a:avLst>
          </a:prstGeom>
          <a:solidFill>
            <a:srgbClr val="EAF2F8"/>
          </a:solidFill>
          <a:ln/>
        </p:spPr>
      </p:sp>
      <p:sp>
        <p:nvSpPr>
          <p:cNvPr id="42" name="Shape 35"/>
          <p:cNvSpPr/>
          <p:nvPr/>
        </p:nvSpPr>
        <p:spPr>
          <a:xfrm>
            <a:off x="6257925" y="3384277"/>
            <a:ext cx="257175" cy="257175"/>
          </a:xfrm>
          <a:prstGeom prst="roundRect">
            <a:avLst>
              <a:gd name="adj" fmla="val 23045"/>
            </a:avLst>
          </a:prstGeom>
          <a:solidFill>
            <a:srgbClr val="CDECEF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838" y="3446190"/>
            <a:ext cx="133350" cy="13335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257925" y="3775063"/>
            <a:ext cx="22669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the response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257925" y="4028405"/>
            <a:ext cx="2266950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are compared, then the recommendation reaches executives.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6257925" y="4529138"/>
            <a:ext cx="22669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4" name="Shape 2"/>
          <p:cNvSpPr/>
          <p:nvPr/>
        </p:nvSpPr>
        <p:spPr>
          <a:xfrm>
            <a:off x="3679701" y="447675"/>
            <a:ext cx="219075" cy="19050"/>
          </a:xfrm>
          <a:prstGeom prst="roundRect">
            <a:avLst>
              <a:gd name="adj" fmla="val 600000"/>
            </a:avLst>
          </a:prstGeom>
          <a:solidFill>
            <a:srgbClr val="00A6A6"/>
          </a:solidFill>
          <a:ln/>
        </p:spPr>
      </p:sp>
      <p:sp>
        <p:nvSpPr>
          <p:cNvPr id="5" name="Text 3"/>
          <p:cNvSpPr/>
          <p:nvPr/>
        </p:nvSpPr>
        <p:spPr>
          <a:xfrm>
            <a:off x="3964744" y="371475"/>
            <a:ext cx="12144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A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45150" y="447675"/>
            <a:ext cx="219075" cy="19050"/>
          </a:xfrm>
          <a:prstGeom prst="roundRect">
            <a:avLst>
              <a:gd name="adj" fmla="val 600000"/>
            </a:avLst>
          </a:prstGeom>
          <a:solidFill>
            <a:srgbClr val="00A6A6"/>
          </a:solidFill>
          <a:ln/>
        </p:spPr>
      </p:sp>
      <p:sp>
        <p:nvSpPr>
          <p:cNvPr id="7" name="Text 5"/>
          <p:cNvSpPr/>
          <p:nvPr/>
        </p:nvSpPr>
        <p:spPr>
          <a:xfrm>
            <a:off x="1747838" y="629692"/>
            <a:ext cx="5648325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4"/>
              </a:lnSpc>
              <a:spcBef>
                <a:spcPts val="675"/>
              </a:spcBef>
              <a:buNone/>
            </a:pPr>
            <a:r>
              <a:rPr lang="en-US" sz="25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from signal to resilient action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31019" y="1083618"/>
            <a:ext cx="74818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Bef>
                <a:spcPts val="825"/>
              </a:spcBef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operating model that helps teams see earlier, decide faster, and recover with confidence.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181" y="1880295"/>
            <a:ext cx="2557463" cy="291941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B1F3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3900" y="2079427"/>
            <a:ext cx="314325" cy="314325"/>
          </a:xfrm>
          <a:prstGeom prst="roundRect">
            <a:avLst>
              <a:gd name="adj" fmla="val 19835"/>
            </a:avLst>
          </a:prstGeom>
          <a:solidFill>
            <a:srgbClr val="E0F7F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62" y="2160389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4681" y="2537557"/>
            <a:ext cx="217646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teams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4681" y="2806117"/>
            <a:ext cx="21764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675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speed and consistency across complex response workflows.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4681" y="4595813"/>
            <a:ext cx="2176462" cy="23812"/>
          </a:xfrm>
          <a:prstGeom prst="roundRect">
            <a:avLst>
              <a:gd name="adj" fmla="val 480010"/>
            </a:avLst>
          </a:prstGeom>
          <a:solidFill>
            <a:srgbClr val="00A6A6"/>
          </a:solidFill>
          <a:ln/>
        </p:spPr>
      </p:sp>
      <p:sp>
        <p:nvSpPr>
          <p:cNvPr id="15" name="Shape 12"/>
          <p:cNvSpPr/>
          <p:nvPr/>
        </p:nvSpPr>
        <p:spPr>
          <a:xfrm>
            <a:off x="3293232" y="1880295"/>
            <a:ext cx="2557463" cy="2919412"/>
          </a:xfrm>
          <a:prstGeom prst="roundRect">
            <a:avLst>
              <a:gd name="adj" fmla="val 159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61925" dist="66675" dir="5400000">
              <a:srgbClr val="0B1F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82950" y="2079427"/>
            <a:ext cx="314325" cy="314325"/>
          </a:xfrm>
          <a:prstGeom prst="roundRect">
            <a:avLst>
              <a:gd name="adj" fmla="val 19835"/>
            </a:avLst>
          </a:prstGeom>
          <a:solidFill>
            <a:srgbClr val="17345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913" y="2160389"/>
            <a:ext cx="152400" cy="152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83732" y="2537557"/>
            <a:ext cx="217646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 exposure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83732" y="2806117"/>
            <a:ext cx="21764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675"/>
              </a:spcBef>
              <a:buNone/>
            </a:pPr>
            <a:r>
              <a:rPr lang="en-US" sz="1000" dirty="0">
                <a:solidFill>
                  <a:srgbClr val="D8E4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 visibility enables sharper recovery decisions when conditions change.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83732" y="4595813"/>
            <a:ext cx="2176462" cy="23812"/>
          </a:xfrm>
          <a:prstGeom prst="roundRect">
            <a:avLst>
              <a:gd name="adj" fmla="val 480010"/>
            </a:avLst>
          </a:prstGeom>
          <a:solidFill>
            <a:srgbClr val="7DD3FC"/>
          </a:solidFill>
          <a:ln/>
        </p:spPr>
      </p:sp>
      <p:sp>
        <p:nvSpPr>
          <p:cNvPr id="21" name="Shape 17"/>
          <p:cNvSpPr/>
          <p:nvPr/>
        </p:nvSpPr>
        <p:spPr>
          <a:xfrm>
            <a:off x="6052282" y="1880295"/>
            <a:ext cx="2557463" cy="291941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 w="9525">
            <a:solidFill>
              <a:srgbClr val="BFE8E8"/>
            </a:solidFill>
            <a:prstDash val="solid"/>
          </a:ln>
          <a:effectLst>
            <a:outerShdw sx="100000" sy="100000" kx="0" ky="0" algn="bl" rotWithShape="0" blurRad="161925" dist="66675" dir="5400000">
              <a:srgbClr val="0B1F3A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51525" y="2088952"/>
            <a:ext cx="314325" cy="314325"/>
          </a:xfrm>
          <a:prstGeom prst="roundRect">
            <a:avLst>
              <a:gd name="adj" fmla="val 19835"/>
            </a:avLst>
          </a:prstGeom>
          <a:solidFill>
            <a:srgbClr val="FFF4E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88" y="2169914"/>
            <a:ext cx="152400" cy="152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52307" y="2547082"/>
            <a:ext cx="215741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where signal begins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252307" y="2815642"/>
            <a:ext cx="2157413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675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 with event detection and exposure mapping—the foundation for orchestration.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52307" y="4586288"/>
            <a:ext cx="2157413" cy="23812"/>
          </a:xfrm>
          <a:prstGeom prst="roundRect">
            <a:avLst>
              <a:gd name="adj" fmla="val 480010"/>
            </a:avLst>
          </a:prstGeom>
          <a:solidFill>
            <a:srgbClr val="F59E0B"/>
          </a:solidFill>
          <a:ln/>
        </p:spPr>
      </p:sp>
      <p:sp>
        <p:nvSpPr>
          <p:cNvPr id="27" name="Shape 22"/>
          <p:cNvSpPr/>
          <p:nvPr/>
        </p:nvSpPr>
        <p:spPr>
          <a:xfrm>
            <a:off x="3376464" y="4919663"/>
            <a:ext cx="38100" cy="3810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8" name="Text 23"/>
          <p:cNvSpPr/>
          <p:nvPr/>
        </p:nvSpPr>
        <p:spPr>
          <a:xfrm>
            <a:off x="3482280" y="4867275"/>
            <a:ext cx="4143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3964335" y="4867275"/>
            <a:ext cx="1000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4130092" y="4867275"/>
            <a:ext cx="2476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4443487" y="4867275"/>
            <a:ext cx="1000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4609207" y="4867275"/>
            <a:ext cx="4143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5089252" y="4867275"/>
            <a:ext cx="1000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5256907" y="4867275"/>
            <a:ext cx="50958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RECOVER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2026-09-10T03:24:35Z</dcterms:created>
  <dcterms:modified xsi:type="dcterms:W3CDTF">2026-09-10T03:24:35Z</dcterms:modified>
</cp:coreProperties>
</file>